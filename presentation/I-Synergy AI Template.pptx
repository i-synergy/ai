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embeddedFontLst>
    <p:embeddedFont>
      <p:font typeface="IBM Plex Sans" panose="020B0503050203000203" pitchFamily="34" charset="0"/>
      <p:regular r:id="rId19"/>
      <p:bold r:id="rId20"/>
    </p:embeddedFont>
    <p:embeddedFont>
      <p:font typeface="JetBrains Mono" panose="020B0604020202020204" charset="0"/>
      <p:regular r:id="rId21"/>
      <p:bold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4579" autoAdjust="0"/>
  </p:normalViewPr>
  <p:slideViewPr>
    <p:cSldViewPr snapToGrid="0" snapToObjects="1">
      <p:cViewPr varScale="1">
        <p:scale>
          <a:sx n="80" d="100"/>
          <a:sy n="80" d="100"/>
        </p:scale>
        <p:origin x="175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37108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 sz="1200" b="0" kern="1200" dirty="0">
                <a:solidFill>
                  <a:schemeClr val="tx1"/>
                </a:solidFill>
                <a:effectLst/>
                <a:latin typeface="+mn-lt"/>
                <a:ea typeface="+mn-ea"/>
                <a:cs typeface="+mn-cs"/>
              </a:rPr>
              <a:t>Welcome, everyone.</a:t>
            </a:r>
          </a:p>
          <a:p>
            <a:r>
              <a:rPr lang="" sz="1200" b="0" kern="1200" dirty="0">
                <a:solidFill>
                  <a:schemeClr val="tx1"/>
                </a:solidFill>
                <a:effectLst/>
                <a:latin typeface="+mn-lt"/>
                <a:ea typeface="+mn-ea"/>
                <a:cs typeface="+mn-cs"/>
              </a:rPr>
              <a:t>Today I'll show you two projects that I built and released as open source.</a:t>
            </a:r>
          </a:p>
          <a:p>
            <a:r>
              <a:rPr lang="" sz="1200" b="0" kern="1200" dirty="0">
                <a:solidFill>
                  <a:schemeClr val="tx1"/>
                </a:solidFill>
                <a:effectLst/>
                <a:latin typeface="+mn-lt"/>
                <a:ea typeface="+mn-ea"/>
                <a:cs typeface="+mn-cs"/>
              </a:rPr>
              <a:t>The first is AI, a .NET project template that teaches AI coding tools how to work in your codebase.</a:t>
            </a:r>
          </a:p>
          <a:p>
            <a:r>
              <a:rPr lang="" sz="1200" b="0" kern="1200" dirty="0">
                <a:solidFill>
                  <a:schemeClr val="tx1"/>
                </a:solidFill>
                <a:effectLst/>
                <a:latin typeface="+mn-lt"/>
                <a:ea typeface="+mn-ea"/>
                <a:cs typeface="+mn-cs"/>
              </a:rPr>
              <a:t>The second is the AI Workspace Manager, a new VS Code extension.</a:t>
            </a:r>
          </a:p>
          <a:p>
            <a:r>
              <a:rPr lang="" sz="1200" b="0" kern="1200" dirty="0">
                <a:solidFill>
                  <a:schemeClr val="tx1"/>
                </a:solidFill>
                <a:effectLst/>
                <a:latin typeface="+mn-lt"/>
                <a:ea typeface="+mn-ea"/>
                <a:cs typeface="+mn-cs"/>
              </a:rPr>
              <a:t>It lets each of your projects choose and update only the parts of the template that it needs.</a:t>
            </a:r>
          </a:p>
          <a:p>
            <a:endParaRPr lang="" sz="1200" b="0" kern="1200" dirty="0">
              <a:solidFill>
                <a:schemeClr val="tx1"/>
              </a:solidFill>
              <a:effectLst/>
              <a:latin typeface="+mn-lt"/>
              <a:ea typeface="+mn-ea"/>
              <a:cs typeface="+mn-cs"/>
            </a:endParaRPr>
          </a:p>
          <a:p>
            <a:r>
              <a:rPr lang="" sz="1200" b="0" kern="1200" dirty="0">
                <a:solidFill>
                  <a:schemeClr val="tx1"/>
                </a:solidFill>
                <a:effectLst/>
                <a:latin typeface="+mn-lt"/>
                <a:ea typeface="+mn-ea"/>
                <a:cs typeface="+mn-cs"/>
              </a:rPr>
              <a:t>Here is the plan.</a:t>
            </a:r>
          </a:p>
          <a:p>
            <a:r>
              <a:rPr lang="" sz="1200" b="0" kern="1200" dirty="0">
                <a:solidFill>
                  <a:schemeClr val="tx1"/>
                </a:solidFill>
                <a:effectLst/>
                <a:latin typeface="+mn-lt"/>
                <a:ea typeface="+mn-ea"/>
                <a:cs typeface="+mn-cs"/>
              </a:rPr>
              <a:t>First, I'll show you the AGENTS file, and how work is organized, tracked, and handed over between sessions.</a:t>
            </a:r>
          </a:p>
          <a:p>
            <a:r>
              <a:rPr lang="" sz="1200" b="0" kern="1200" dirty="0">
                <a:solidFill>
                  <a:schemeClr val="tx1"/>
                </a:solidFill>
                <a:effectLst/>
                <a:latin typeface="+mn-lt"/>
                <a:ea typeface="+mn-ea"/>
                <a:cs typeface="+mn-cs"/>
              </a:rPr>
              <a:t>Then we'll cover the coding rules, the design pipeline, and the council.</a:t>
            </a:r>
          </a:p>
          <a:p>
            <a:r>
              <a:rPr lang="" sz="1200" b="0" kern="1200" dirty="0">
                <a:solidFill>
                  <a:schemeClr val="tx1"/>
                </a:solidFill>
                <a:effectLst/>
                <a:latin typeface="+mn-lt"/>
                <a:ea typeface="+mn-ea"/>
                <a:cs typeface="+mn-cs"/>
              </a:rPr>
              <a:t>After that, we'll look at the extension, and finally at how you can start using all of this yourself.</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 sz="1200" b="0" kern="1200" dirty="0">
                <a:solidFill>
                  <a:schemeClr val="tx1"/>
                </a:solidFill>
                <a:effectLst/>
                <a:latin typeface="+mn-lt"/>
                <a:ea typeface="+mn-ea"/>
                <a:cs typeface="+mn-cs"/>
              </a:rPr>
              <a:t>Let's start with the core idea.</a:t>
            </a:r>
          </a:p>
          <a:p>
            <a:r>
              <a:rPr lang="" sz="1200" b="0" kern="1200" dirty="0">
                <a:solidFill>
                  <a:schemeClr val="tx1"/>
                </a:solidFill>
                <a:effectLst/>
                <a:latin typeface="+mn-lt"/>
                <a:ea typeface="+mn-ea"/>
                <a:cs typeface="+mn-cs"/>
              </a:rPr>
              <a:t>Most teams end up with a separate instruction file for each AI tool, and those files slowly drift apart.</a:t>
            </a:r>
          </a:p>
          <a:p>
            <a:r>
              <a:rPr lang="" sz="1200" b="0" kern="1200" dirty="0">
                <a:solidFill>
                  <a:schemeClr val="tx1"/>
                </a:solidFill>
                <a:effectLst/>
                <a:latin typeface="+mn-lt"/>
                <a:ea typeface="+mn-ea"/>
                <a:cs typeface="+mn-cs"/>
              </a:rPr>
              <a:t>I wanted to avoid that, so all the context lives in one place: a single folder called dot A I.</a:t>
            </a:r>
          </a:p>
          <a:p>
            <a:r>
              <a:rPr lang="" sz="1200" b="0" kern="1200" dirty="0">
                <a:solidFill>
                  <a:schemeClr val="tx1"/>
                </a:solidFill>
                <a:effectLst/>
                <a:latin typeface="+mn-lt"/>
                <a:ea typeface="+mn-ea"/>
                <a:cs typeface="+mn-cs"/>
              </a:rPr>
              <a:t>Every tool reads exactly the same files.</a:t>
            </a:r>
          </a:p>
          <a:p>
            <a:r>
              <a:rPr lang="" sz="1200" b="0" kern="1200" dirty="0">
                <a:solidFill>
                  <a:schemeClr val="tx1"/>
                </a:solidFill>
                <a:effectLst/>
                <a:latin typeface="+mn-lt"/>
                <a:ea typeface="+mn-ea"/>
                <a:cs typeface="+mn-cs"/>
              </a:rPr>
              <a:t>Each tool finds that folder through a link.</a:t>
            </a:r>
          </a:p>
          <a:p>
            <a:r>
              <a:rPr lang="" sz="1200" b="0" kern="1200" dirty="0">
                <a:solidFill>
                  <a:schemeClr val="tx1"/>
                </a:solidFill>
                <a:effectLst/>
                <a:latin typeface="+mn-lt"/>
                <a:ea typeface="+mn-ea"/>
                <a:cs typeface="+mn-cs"/>
              </a:rPr>
              <a:t>The skills folders of Claude, GitHub Copilot, and Reasonix all point to the same place, and the same goes for the agents.</a:t>
            </a:r>
          </a:p>
          <a:p>
            <a:r>
              <a:rPr lang="" sz="1200" b="0" kern="1200" dirty="0">
                <a:solidFill>
                  <a:schemeClr val="tx1"/>
                </a:solidFill>
                <a:effectLst/>
                <a:latin typeface="+mn-lt"/>
                <a:ea typeface="+mn-ea"/>
                <a:cs typeface="+mn-cs"/>
              </a:rPr>
              <a:t>Git cannot track these links, so they are left out of the repository.</a:t>
            </a:r>
          </a:p>
          <a:p>
            <a:r>
              <a:rPr lang="" sz="1200" b="0" kern="1200" dirty="0">
                <a:solidFill>
                  <a:schemeClr val="tx1"/>
                </a:solidFill>
                <a:effectLst/>
                <a:latin typeface="+mn-lt"/>
                <a:ea typeface="+mn-ea"/>
                <a:cs typeface="+mn-cs"/>
              </a:rPr>
              <a:t>Instead, a small startup hook, or a single script, creates them for you.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 sz="1200" b="0" kern="1200" dirty="0">
                <a:solidFill>
                  <a:schemeClr val="tx1"/>
                </a:solidFill>
                <a:effectLst/>
                <a:latin typeface="+mn-lt"/>
                <a:ea typeface="+mn-ea"/>
                <a:cs typeface="+mn-cs"/>
              </a:rPr>
              <a:t>Let me walk you through what's inside.</a:t>
            </a:r>
          </a:p>
          <a:p>
            <a:endParaRPr lang="" sz="1200" b="0" kern="1200" dirty="0">
              <a:solidFill>
                <a:schemeClr val="tx1"/>
              </a:solidFill>
              <a:effectLst/>
              <a:latin typeface="+mn-lt"/>
              <a:ea typeface="+mn-ea"/>
              <a:cs typeface="+mn-cs"/>
            </a:endParaRPr>
          </a:p>
          <a:p>
            <a:r>
              <a:rPr lang="" sz="1200" b="0" kern="1200" dirty="0">
                <a:solidFill>
                  <a:schemeClr val="tx1"/>
                </a:solidFill>
                <a:effectLst/>
                <a:latin typeface="+mn-lt"/>
                <a:ea typeface="+mn-ea"/>
                <a:cs typeface="+mn-cs"/>
              </a:rPr>
              <a:t>Skills are small instruction files that tell the model how to do one specific job well.</a:t>
            </a:r>
          </a:p>
          <a:p>
            <a:r>
              <a:rPr lang="" sz="1200" b="0" kern="1200" dirty="0">
                <a:solidFill>
                  <a:schemeClr val="tx1"/>
                </a:solidFill>
                <a:effectLst/>
                <a:latin typeface="+mn-lt"/>
                <a:ea typeface="+mn-ea"/>
                <a:cs typeface="+mn-cs"/>
              </a:rPr>
              <a:t>You can call a skill yourself with a slash command, or the model can pick it up on its own.</a:t>
            </a:r>
          </a:p>
          <a:p>
            <a:endParaRPr lang="" sz="1200" b="0" kern="1200" dirty="0">
              <a:solidFill>
                <a:schemeClr val="tx1"/>
              </a:solidFill>
              <a:effectLst/>
              <a:latin typeface="+mn-lt"/>
              <a:ea typeface="+mn-ea"/>
              <a:cs typeface="+mn-cs"/>
            </a:endParaRPr>
          </a:p>
          <a:p>
            <a:r>
              <a:rPr lang="" sz="1200" b="0" kern="1200" dirty="0">
                <a:solidFill>
                  <a:schemeClr val="tx1"/>
                </a:solidFill>
                <a:effectLst/>
                <a:latin typeface="+mn-lt"/>
                <a:ea typeface="+mn-ea"/>
                <a:cs typeface="+mn-cs"/>
              </a:rPr>
              <a:t>Agents are specialists, each with their own role, such as architect, tester, or reviewer.</a:t>
            </a:r>
          </a:p>
          <a:p>
            <a:endParaRPr lang="" sz="1200" b="0" kern="1200" dirty="0">
              <a:solidFill>
                <a:schemeClr val="tx1"/>
              </a:solidFill>
              <a:effectLst/>
              <a:latin typeface="+mn-lt"/>
              <a:ea typeface="+mn-ea"/>
              <a:cs typeface="+mn-cs"/>
            </a:endParaRPr>
          </a:p>
          <a:p>
            <a:r>
              <a:rPr lang="" sz="1200" b="0" kern="1200" dirty="0">
                <a:solidFill>
                  <a:schemeClr val="tx1"/>
                </a:solidFill>
                <a:effectLst/>
                <a:latin typeface="+mn-lt"/>
                <a:ea typeface="+mn-ea"/>
                <a:cs typeface="+mn-cs"/>
              </a:rPr>
              <a:t>Patterns are guides for how to build things, for example for CQRS and for testing.</a:t>
            </a:r>
          </a:p>
          <a:p>
            <a:endParaRPr lang="" sz="1200" b="0" kern="1200" dirty="0">
              <a:solidFill>
                <a:schemeClr val="tx1"/>
              </a:solidFill>
              <a:effectLst/>
              <a:latin typeface="+mn-lt"/>
              <a:ea typeface="+mn-ea"/>
              <a:cs typeface="+mn-cs"/>
            </a:endParaRPr>
          </a:p>
          <a:p>
            <a:r>
              <a:rPr lang="" sz="1200" b="0" kern="1200" dirty="0">
                <a:solidFill>
                  <a:schemeClr val="tx1"/>
                </a:solidFill>
                <a:effectLst/>
                <a:latin typeface="+mn-lt"/>
                <a:ea typeface="+mn-ea"/>
                <a:cs typeface="+mn-cs"/>
              </a:rPr>
              <a:t>In total, there are 80 skills, 9 agents, and 8 pattern guides.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 sz="1200" b="0" kern="1200" dirty="0">
                <a:solidFill>
                  <a:schemeClr val="tx1"/>
                </a:solidFill>
                <a:effectLst/>
                <a:latin typeface="+mn-lt"/>
                <a:ea typeface="+mn-ea"/>
                <a:cs typeface="+mn-cs"/>
              </a:rPr>
              <a:t>This is the most important file in the whole setup.</a:t>
            </a:r>
          </a:p>
          <a:p>
            <a:r>
              <a:rPr lang="" sz="1200" b="0" kern="1200" dirty="0">
                <a:solidFill>
                  <a:schemeClr val="tx1"/>
                </a:solidFill>
                <a:effectLst/>
                <a:latin typeface="+mn-lt"/>
                <a:ea typeface="+mn-ea"/>
                <a:cs typeface="+mn-cs"/>
              </a:rPr>
              <a:t>It sits in the root of your project, and Claude Code, GitHub Copilot, and Reasonix all load it automatically.</a:t>
            </a:r>
          </a:p>
          <a:p>
            <a:r>
              <a:rPr lang="" sz="1200" b="0" kern="1200" dirty="0">
                <a:solidFill>
                  <a:schemeClr val="tx1"/>
                </a:solidFill>
                <a:effectLst/>
                <a:latin typeface="+mn-lt"/>
                <a:ea typeface="+mn-ea"/>
                <a:cs typeface="+mn-cs"/>
              </a:rPr>
              <a:t>That means you never have to mention it in a prompt.</a:t>
            </a:r>
          </a:p>
          <a:p>
            <a:r>
              <a:rPr lang="" sz="1200" b="0" kern="1200" dirty="0">
                <a:solidFill>
                  <a:schemeClr val="tx1"/>
                </a:solidFill>
                <a:effectLst/>
                <a:latin typeface="+mn-lt"/>
                <a:ea typeface="+mn-ea"/>
                <a:cs typeface="+mn-cs"/>
              </a:rPr>
              <a:t>I kept it short on purpose, just 196 lines.</a:t>
            </a:r>
          </a:p>
          <a:p>
            <a:endParaRPr lang="" sz="1200" b="0" kern="1200" dirty="0">
              <a:solidFill>
                <a:schemeClr val="tx1"/>
              </a:solidFill>
              <a:effectLst/>
              <a:latin typeface="+mn-lt"/>
              <a:ea typeface="+mn-ea"/>
              <a:cs typeface="+mn-cs"/>
            </a:endParaRPr>
          </a:p>
          <a:p>
            <a:r>
              <a:rPr lang="" sz="1200" b="0" kern="1200" dirty="0">
                <a:solidFill>
                  <a:schemeClr val="tx1"/>
                </a:solidFill>
                <a:effectLst/>
                <a:latin typeface="+mn-lt"/>
                <a:ea typeface="+mn-ea"/>
                <a:cs typeface="+mn-cs"/>
              </a:rPr>
              <a:t>It starts by defining the agent's role.</a:t>
            </a:r>
          </a:p>
          <a:p>
            <a:r>
              <a:rPr lang="" sz="1200" b="0" kern="1200" dirty="0">
                <a:solidFill>
                  <a:schemeClr val="tx1"/>
                </a:solidFill>
                <a:effectLst/>
                <a:latin typeface="+mn-lt"/>
                <a:ea typeface="+mn-ea"/>
                <a:cs typeface="+mn-cs"/>
              </a:rPr>
              <a:t>The main conversation plans, delegates, reviews, and coordinates, but it does not write code itself.</a:t>
            </a:r>
          </a:p>
          <a:p>
            <a:endParaRPr lang="" sz="1200" b="0" kern="1200" dirty="0">
              <a:solidFill>
                <a:schemeClr val="tx1"/>
              </a:solidFill>
              <a:effectLst/>
              <a:latin typeface="+mn-lt"/>
              <a:ea typeface="+mn-ea"/>
              <a:cs typeface="+mn-cs"/>
            </a:endParaRPr>
          </a:p>
          <a:p>
            <a:r>
              <a:rPr lang="" sz="1200" b="0" kern="1200" dirty="0">
                <a:solidFill>
                  <a:schemeClr val="tx1"/>
                </a:solidFill>
                <a:effectLst/>
                <a:latin typeface="+mn-lt"/>
                <a:ea typeface="+mn-ea"/>
                <a:cs typeface="+mn-cs"/>
              </a:rPr>
              <a:t>Next comes the memory rule: read the handoff at the start of a session, and write it at the end.</a:t>
            </a:r>
          </a:p>
          <a:p>
            <a:endParaRPr lang="" sz="1200" b="0" kern="1200" dirty="0">
              <a:solidFill>
                <a:schemeClr val="tx1"/>
              </a:solidFill>
              <a:effectLst/>
              <a:latin typeface="+mn-lt"/>
              <a:ea typeface="+mn-ea"/>
              <a:cs typeface="+mn-cs"/>
            </a:endParaRPr>
          </a:p>
          <a:p>
            <a:r>
              <a:rPr lang="" sz="1200" b="0" kern="1200" dirty="0">
                <a:solidFill>
                  <a:schemeClr val="tx1"/>
                </a:solidFill>
                <a:effectLst/>
                <a:latin typeface="+mn-lt"/>
                <a:ea typeface="+mn-ea"/>
                <a:cs typeface="+mn-cs"/>
              </a:rPr>
              <a:t>Then there is the protocol for executing tasks.</a:t>
            </a:r>
          </a:p>
          <a:p>
            <a:r>
              <a:rPr lang="" sz="1200" b="0" kern="1200" dirty="0">
                <a:solidFill>
                  <a:schemeClr val="tx1"/>
                </a:solidFill>
                <a:effectLst/>
                <a:latin typeface="+mn-lt"/>
                <a:ea typeface="+mn-ea"/>
                <a:cs typeface="+mn-cs"/>
              </a:rPr>
              <a:t>It explains when to make a plan, how the agent checks the result after every single edit, and when to stop and ask you for help.</a:t>
            </a:r>
          </a:p>
          <a:p>
            <a:r>
              <a:rPr lang="" sz="1200" b="0" kern="1200" dirty="0">
                <a:solidFill>
                  <a:schemeClr val="tx1"/>
                </a:solidFill>
                <a:effectLst/>
                <a:latin typeface="+mn-lt"/>
                <a:ea typeface="+mn-ea"/>
                <a:cs typeface="+mn-cs"/>
              </a:rPr>
              <a:t>It also explains how progress is tracked, and when to call in the council for decisions that are hard to undo.</a:t>
            </a:r>
          </a:p>
          <a:p>
            <a:endParaRPr lang="" sz="1200" b="0" kern="1200" dirty="0">
              <a:solidFill>
                <a:schemeClr val="tx1"/>
              </a:solidFill>
              <a:effectLst/>
              <a:latin typeface="+mn-lt"/>
              <a:ea typeface="+mn-ea"/>
              <a:cs typeface="+mn-cs"/>
            </a:endParaRPr>
          </a:p>
          <a:p>
            <a:r>
              <a:rPr lang="" sz="1200" b="0" kern="1200" dirty="0">
                <a:solidFill>
                  <a:schemeClr val="tx1"/>
                </a:solidFill>
                <a:effectLst/>
                <a:latin typeface="+mn-lt"/>
                <a:ea typeface="+mn-ea"/>
                <a:cs typeface="+mn-cs"/>
              </a:rPr>
              <a:t>After that, you'll find the nine specialist agents, and thirteen critical coding rules.</a:t>
            </a:r>
          </a:p>
          <a:p>
            <a:endParaRPr lang="" sz="1200" b="0" kern="1200" dirty="0">
              <a:solidFill>
                <a:schemeClr val="tx1"/>
              </a:solidFill>
              <a:effectLst/>
              <a:latin typeface="+mn-lt"/>
              <a:ea typeface="+mn-ea"/>
              <a:cs typeface="+mn-cs"/>
            </a:endParaRPr>
          </a:p>
          <a:p>
            <a:r>
              <a:rPr lang="" sz="1200" b="0" kern="1200" dirty="0">
                <a:solidFill>
                  <a:schemeClr val="tx1"/>
                </a:solidFill>
                <a:effectLst/>
                <a:latin typeface="+mn-lt"/>
                <a:ea typeface="+mn-ea"/>
                <a:cs typeface="+mn-cs"/>
              </a:rPr>
              <a:t>At the end, a hook builds the solution once when a task is finished, and a short section covers configuration.</a:t>
            </a:r>
          </a:p>
          <a:p>
            <a:endParaRPr lang="" sz="1200" b="0" kern="1200" dirty="0">
              <a:solidFill>
                <a:schemeClr val="tx1"/>
              </a:solidFill>
              <a:effectLst/>
              <a:latin typeface="+mn-lt"/>
              <a:ea typeface="+mn-ea"/>
              <a:cs typeface="+mn-cs"/>
            </a:endParaRPr>
          </a:p>
          <a:p>
            <a:r>
              <a:rPr lang="" sz="1200" b="0" kern="1200" dirty="0">
                <a:solidFill>
                  <a:schemeClr val="tx1"/>
                </a:solidFill>
                <a:effectLst/>
                <a:latin typeface="+mn-lt"/>
                <a:ea typeface="+mn-ea"/>
                <a:cs typeface="+mn-cs"/>
              </a:rPr>
              <a:t>Project-specific facts do not belong in this file.</a:t>
            </a:r>
          </a:p>
          <a:p>
            <a:r>
              <a:rPr lang="" sz="1200" b="0" kern="1200" dirty="0">
                <a:solidFill>
                  <a:schemeClr val="tx1"/>
                </a:solidFill>
                <a:effectLst/>
                <a:latin typeface="+mn-lt"/>
                <a:ea typeface="+mn-ea"/>
                <a:cs typeface="+mn-cs"/>
              </a:rPr>
              <a:t>They live in a separate project folder, so I can upgrade the template without destroying your own context.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 sz="1200" b="0" kern="1200" dirty="0">
                <a:solidFill>
                  <a:schemeClr val="tx1"/>
                </a:solidFill>
                <a:effectLst/>
                <a:latin typeface="+mn-lt"/>
                <a:ea typeface="+mn-ea"/>
                <a:cs typeface="+mn-cs"/>
              </a:rPr>
              <a:t>The key rule is this: the main conversation plans, reads, reviews, and manages git.</a:t>
            </a:r>
          </a:p>
          <a:p>
            <a:r>
              <a:rPr lang="" sz="1200" b="0" kern="1200" dirty="0">
                <a:solidFill>
                  <a:schemeClr val="tx1"/>
                </a:solidFill>
                <a:effectLst/>
                <a:latin typeface="+mn-lt"/>
                <a:ea typeface="+mn-ea"/>
                <a:cs typeface="+mn-cs"/>
              </a:rPr>
              <a:t>It does not write or edit code itself.</a:t>
            </a:r>
          </a:p>
          <a:p>
            <a:r>
              <a:rPr lang="" sz="1200" b="0" kern="1200" dirty="0">
                <a:solidFill>
                  <a:schemeClr val="tx1"/>
                </a:solidFill>
                <a:effectLst/>
                <a:latin typeface="+mn-lt"/>
                <a:ea typeface="+mn-ea"/>
                <a:cs typeface="+mn-cs"/>
              </a:rPr>
              <a:t>All the real work goes to one of nine specialist agents.</a:t>
            </a:r>
          </a:p>
          <a:p>
            <a:r>
              <a:rPr lang="" sz="1200" b="0" kern="1200" dirty="0">
                <a:solidFill>
                  <a:schemeClr val="tx1"/>
                </a:solidFill>
                <a:effectLst/>
                <a:latin typeface="+mn-lt"/>
                <a:ea typeface="+mn-ea"/>
                <a:cs typeface="+mn-cs"/>
              </a:rPr>
              <a:t>Each agent has its own definition file, and runs on either a faster or a more powerful model, depending on the job.</a:t>
            </a:r>
          </a:p>
          <a:p>
            <a:r>
              <a:rPr lang="" sz="1200" b="0" kern="1200" dirty="0">
                <a:solidFill>
                  <a:schemeClr val="tx1"/>
                </a:solidFill>
                <a:effectLst/>
                <a:latin typeface="+mn-lt"/>
                <a:ea typeface="+mn-ea"/>
                <a:cs typeface="+mn-cs"/>
              </a:rPr>
              <a:t>The designers and UI developers also test their own work in a browser before they hand it over.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 sz="1200" b="0" kern="1200" dirty="0">
                <a:solidFill>
                  <a:schemeClr val="tx1"/>
                </a:solidFill>
                <a:effectLst/>
                <a:latin typeface="+mn-lt"/>
                <a:ea typeface="+mn-ea"/>
                <a:cs typeface="+mn-cs"/>
              </a:rPr>
              <a:t>Any task with three or more steps, or one that touches several files, gets a written plan and a checklist.</a:t>
            </a:r>
          </a:p>
          <a:p>
            <a:r>
              <a:rPr lang="" sz="1200" b="0" kern="1200" dirty="0">
                <a:solidFill>
                  <a:schemeClr val="tx1"/>
                </a:solidFill>
                <a:effectLst/>
                <a:latin typeface="+mn-lt"/>
                <a:ea typeface="+mn-ea"/>
                <a:cs typeface="+mn-cs"/>
              </a:rPr>
              <a:t>Agents tick off the checklist with small, precise edits, and never by rewriting the whole file.</a:t>
            </a:r>
          </a:p>
          <a:p>
            <a:r>
              <a:rPr lang="" sz="1200" b="0" kern="1200" dirty="0">
                <a:solidFill>
                  <a:schemeClr val="tx1"/>
                </a:solidFill>
                <a:effectLst/>
                <a:latin typeface="+mn-lt"/>
                <a:ea typeface="+mn-ea"/>
                <a:cs typeface="+mn-cs"/>
              </a:rPr>
              <a:t>After every edit, the agent looks at the result before it moves on.</a:t>
            </a:r>
          </a:p>
          <a:p>
            <a:r>
              <a:rPr lang="" sz="1200" b="0" kern="1200" dirty="0">
                <a:solidFill>
                  <a:schemeClr val="tx1"/>
                </a:solidFill>
                <a:effectLst/>
                <a:latin typeface="+mn-lt"/>
                <a:ea typeface="+mn-ea"/>
                <a:cs typeface="+mn-cs"/>
              </a:rPr>
              <a:t>If the same error keeps coming back after three attempts, the agent stops and reports what it has tried.</a:t>
            </a:r>
          </a:p>
          <a:p>
            <a:r>
              <a:rPr lang="" sz="1200" b="0" kern="1200" dirty="0">
                <a:solidFill>
                  <a:schemeClr val="tx1"/>
                </a:solidFill>
                <a:effectLst/>
                <a:latin typeface="+mn-lt"/>
                <a:ea typeface="+mn-ea"/>
                <a:cs typeface="+mn-cs"/>
              </a:rPr>
              <a:t>Finished work is archived, which gives you a history of decisions.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 sz="1200" b="0" kern="1200" dirty="0">
                <a:solidFill>
                  <a:schemeClr val="tx1"/>
                </a:solidFill>
                <a:effectLst/>
                <a:latin typeface="+mn-lt"/>
                <a:ea typeface="+mn-ea"/>
                <a:cs typeface="+mn-cs"/>
              </a:rPr>
              <a:t>Progress files let a long task survive interruptions, context limits, and handoffs between agents.</a:t>
            </a:r>
          </a:p>
          <a:p>
            <a:r>
              <a:rPr lang="" sz="1200" b="0" kern="1200" dirty="0">
                <a:solidFill>
                  <a:schemeClr val="tx1"/>
                </a:solidFill>
                <a:effectLst/>
                <a:latin typeface="+mn-lt"/>
                <a:ea typeface="+mn-ea"/>
                <a:cs typeface="+mn-cs"/>
              </a:rPr>
              <a:t>For any bigger task, the agent first writes a plan and waits for your approval.</a:t>
            </a:r>
          </a:p>
          <a:p>
            <a:r>
              <a:rPr lang="" sz="1200" b="0" kern="1200" dirty="0">
                <a:solidFill>
                  <a:schemeClr val="tx1"/>
                </a:solidFill>
                <a:effectLst/>
                <a:latin typeface="+mn-lt"/>
                <a:ea typeface="+mn-ea"/>
                <a:cs typeface="+mn-cs"/>
              </a:rPr>
              <a:t>Then it creates a progress file, with a status line and a checklist, like the example you see here.</a:t>
            </a:r>
          </a:p>
          <a:p>
            <a:r>
              <a:rPr lang="" sz="1200" b="0" kern="1200" dirty="0">
                <a:solidFill>
                  <a:schemeClr val="tx1"/>
                </a:solidFill>
                <a:effectLst/>
                <a:latin typeface="+mn-lt"/>
                <a:ea typeface="+mn-ea"/>
                <a:cs typeface="+mn-cs"/>
              </a:rPr>
              <a:t>Each agent ticks off its own steps as it completes them.</a:t>
            </a:r>
          </a:p>
          <a:p>
            <a:r>
              <a:rPr lang="" sz="1200" b="0" kern="1200" dirty="0">
                <a:solidFill>
                  <a:schemeClr val="tx1"/>
                </a:solidFill>
                <a:effectLst/>
                <a:latin typeface="+mn-lt"/>
                <a:ea typeface="+mn-ea"/>
                <a:cs typeface="+mn-cs"/>
              </a:rPr>
              <a:t>It only changes the one line it is working on, so earlier steps and parallel work are never lost.</a:t>
            </a:r>
          </a:p>
          <a:p>
            <a:r>
              <a:rPr lang="" sz="1200" b="0" kern="1200" dirty="0">
                <a:solidFill>
                  <a:schemeClr val="tx1"/>
                </a:solidFill>
                <a:effectLst/>
                <a:latin typeface="+mn-lt"/>
                <a:ea typeface="+mn-ea"/>
                <a:cs typeface="+mn-cs"/>
              </a:rPr>
              <a:t>That rule is part of every instruction that is sent to a subagent.</a:t>
            </a:r>
          </a:p>
          <a:p>
            <a:r>
              <a:rPr lang="" sz="1200" b="0" kern="1200" dirty="0">
                <a:solidFill>
                  <a:schemeClr val="tx1"/>
                </a:solidFill>
                <a:effectLst/>
                <a:latin typeface="+mn-lt"/>
                <a:ea typeface="+mn-ea"/>
                <a:cs typeface="+mn-cs"/>
              </a:rPr>
              <a:t>When the work is done, the file is marked as done and moved to the archive, where it becomes a searchable history of decisions.</a:t>
            </a:r>
          </a:p>
          <a:p>
            <a:endParaRPr lang="" sz="1200" b="0" kern="1200" dirty="0">
              <a:solidFill>
                <a:schemeClr val="tx1"/>
              </a:solidFill>
              <a:effectLst/>
              <a:latin typeface="+mn-lt"/>
              <a:ea typeface="+mn-ea"/>
              <a:cs typeface="+mn-cs"/>
            </a:endParaRPr>
          </a:p>
          <a:p>
            <a:r>
              <a:rPr lang="" sz="1200" b="0" kern="1200" dirty="0">
                <a:solidFill>
                  <a:schemeClr val="tx1"/>
                </a:solidFill>
                <a:effectLst/>
                <a:latin typeface="+mn-lt"/>
                <a:ea typeface="+mn-ea"/>
                <a:cs typeface="+mn-cs"/>
              </a:rPr>
              <a:t>I deliberately chose plain text files in your repository.</a:t>
            </a:r>
          </a:p>
          <a:p>
            <a:r>
              <a:rPr lang="" sz="1200" b="0" kern="1200" dirty="0">
                <a:solidFill>
                  <a:schemeClr val="tx1"/>
                </a:solidFill>
                <a:effectLst/>
                <a:latin typeface="+mn-lt"/>
                <a:ea typeface="+mn-ea"/>
                <a:cs typeface="+mn-cs"/>
              </a:rPr>
              <a:t>The built-in task lists of AI tools disappear after the session, so the next session, the next tool, and your teammates cannot see them.</a:t>
            </a:r>
          </a:p>
          <a:p>
            <a:r>
              <a:rPr lang="" sz="1200" b="0" kern="1200" dirty="0">
                <a:solidFill>
                  <a:schemeClr val="tx1"/>
                </a:solidFill>
                <a:effectLst/>
                <a:latin typeface="+mn-lt"/>
                <a:ea typeface="+mn-ea"/>
                <a:cs typeface="+mn-cs"/>
              </a:rPr>
              <a:t>A small check script also warns you about progress files that have gone stale.</a:t>
            </a:r>
          </a:p>
          <a:p>
            <a:endParaRPr lang="" sz="1200" b="0" kern="1200" dirty="0">
              <a:solidFill>
                <a:schemeClr val="tx1"/>
              </a:solidFill>
              <a:effectLst/>
              <a:latin typeface="+mn-lt"/>
              <a:ea typeface="+mn-ea"/>
              <a:cs typeface="+mn-cs"/>
            </a:endParaRPr>
          </a:p>
          <a:p>
            <a:r>
              <a:rPr lang="" sz="1200" b="0" kern="1200" dirty="0">
                <a:solidFill>
                  <a:schemeClr val="tx1"/>
                </a:solidFill>
                <a:effectLst/>
                <a:latin typeface="+mn-lt"/>
                <a:ea typeface="+mn-ea"/>
                <a:cs typeface="+mn-cs"/>
              </a:rPr>
              <a:t>Trivial tasks, such as an obvious one-line fix, skip all of this.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 sz="1200" b="0" kern="1200" dirty="0">
                <a:solidFill>
                  <a:schemeClr val="tx1"/>
                </a:solidFill>
                <a:effectLst/>
                <a:latin typeface="+mn-lt"/>
                <a:ea typeface="+mn-ea"/>
                <a:cs typeface="+mn-cs"/>
              </a:rPr>
              <a:t>The handoff is what makes all of this work across sessions and across tools.</a:t>
            </a:r>
          </a:p>
          <a:p>
            <a:r>
              <a:rPr lang="" sz="1200" b="0" kern="1200" dirty="0">
                <a:solidFill>
                  <a:schemeClr val="tx1"/>
                </a:solidFill>
                <a:effectLst/>
                <a:latin typeface="+mn-lt"/>
                <a:ea typeface="+mn-ea"/>
                <a:cs typeface="+mn-cs"/>
              </a:rPr>
              <a:t>It lives in one shared file, which is the project's memory.</a:t>
            </a:r>
          </a:p>
          <a:p>
            <a:r>
              <a:rPr lang="" sz="1200" b="0" kern="1200" dirty="0">
                <a:solidFill>
                  <a:schemeClr val="tx1"/>
                </a:solidFill>
                <a:effectLst/>
                <a:latin typeface="+mn-lt"/>
                <a:ea typeface="+mn-ea"/>
                <a:cs typeface="+mn-cs"/>
              </a:rPr>
              <a:t>At the start of a session, the agent reads that file, and looks in the archive for related earlier work.</a:t>
            </a:r>
          </a:p>
          <a:p>
            <a:r>
              <a:rPr lang="" sz="1200" b="0" kern="1200" dirty="0">
                <a:solidFill>
                  <a:schemeClr val="tx1"/>
                </a:solidFill>
                <a:effectLst/>
                <a:latin typeface="+mn-lt"/>
                <a:ea typeface="+mn-ea"/>
                <a:cs typeface="+mn-cs"/>
              </a:rPr>
              <a:t>At the end of any session that changed something, it writes a handoff before it gives its final answer.</a:t>
            </a:r>
          </a:p>
          <a:p>
            <a:r>
              <a:rPr lang="" sz="1200" b="0" kern="1200" dirty="0">
                <a:solidFill>
                  <a:schemeClr val="tx1"/>
                </a:solidFill>
                <a:effectLst/>
                <a:latin typeface="+mn-lt"/>
                <a:ea typeface="+mn-ea"/>
                <a:cs typeface="+mn-cs"/>
              </a:rPr>
              <a:t>It signs the handoff with its own name, updates the existing sections instead of replacing them, and never overwrites what another tool has written.</a:t>
            </a:r>
          </a:p>
          <a:p>
            <a:r>
              <a:rPr lang="" sz="1200" b="0" kern="1200" dirty="0">
                <a:solidFill>
                  <a:schemeClr val="tx1"/>
                </a:solidFill>
                <a:effectLst/>
                <a:latin typeface="+mn-lt"/>
                <a:ea typeface="+mn-ea"/>
                <a:cs typeface="+mn-cs"/>
              </a:rPr>
              <a:t>That is what lets you start in Claude Code, continue in Copilot, and finish in Reasonix without losing context.</a:t>
            </a:r>
          </a:p>
          <a:p>
            <a:endParaRPr lang="" sz="1200" b="0" kern="1200" dirty="0">
              <a:solidFill>
                <a:schemeClr val="tx1"/>
              </a:solidFill>
              <a:effectLst/>
              <a:latin typeface="+mn-lt"/>
              <a:ea typeface="+mn-ea"/>
              <a:cs typeface="+mn-cs"/>
            </a:endParaRPr>
          </a:p>
          <a:p>
            <a:r>
              <a:rPr lang="" sz="1200" b="0" kern="1200" dirty="0">
                <a:solidFill>
                  <a:schemeClr val="tx1"/>
                </a:solidFill>
                <a:effectLst/>
                <a:latin typeface="+mn-lt"/>
                <a:ea typeface="+mn-ea"/>
                <a:cs typeface="+mn-cs"/>
              </a:rPr>
              <a:t>How this works differs per tool.</a:t>
            </a:r>
          </a:p>
          <a:p>
            <a:r>
              <a:rPr lang="" sz="1200" b="0" kern="1200" dirty="0">
                <a:solidFill>
                  <a:schemeClr val="tx1"/>
                </a:solidFill>
                <a:effectLst/>
                <a:latin typeface="+mn-lt"/>
                <a:ea typeface="+mn-ea"/>
                <a:cs typeface="+mn-cs"/>
              </a:rPr>
              <a:t>- Claude Code has a startup hook that shows the file automatically.</a:t>
            </a:r>
          </a:p>
          <a:p>
            <a:r>
              <a:rPr lang="" sz="1200" b="0" kern="1200" dirty="0">
                <a:solidFill>
                  <a:schemeClr val="tx1"/>
                </a:solidFill>
                <a:effectLst/>
                <a:latin typeface="+mn-lt"/>
                <a:ea typeface="+mn-ea"/>
                <a:cs typeface="+mn-cs"/>
              </a:rPr>
              <a:t>It skips the file as long as it is still an empty placeholder.</a:t>
            </a:r>
          </a:p>
          <a:p>
            <a:r>
              <a:rPr lang="" sz="1200" b="0" kern="1200" dirty="0">
                <a:solidFill>
                  <a:schemeClr val="tx1"/>
                </a:solidFill>
                <a:effectLst/>
                <a:latin typeface="+mn-lt"/>
                <a:ea typeface="+mn-ea"/>
                <a:cs typeface="+mn-cs"/>
              </a:rPr>
              <a:t>- Copilot and Reasonix have no such hook, so a written instruction tells the agent to read the file itself.</a:t>
            </a:r>
          </a:p>
          <a:p>
            <a:endParaRPr lang="" sz="1200" b="0" kern="1200" dirty="0">
              <a:solidFill>
                <a:schemeClr val="tx1"/>
              </a:solidFill>
              <a:effectLst/>
              <a:latin typeface="+mn-lt"/>
              <a:ea typeface="+mn-ea"/>
              <a:cs typeface="+mn-cs"/>
            </a:endParaRPr>
          </a:p>
          <a:p>
            <a:r>
              <a:rPr lang="" sz="1200" b="0" kern="1200" dirty="0">
                <a:solidFill>
                  <a:schemeClr val="tx1"/>
                </a:solidFill>
                <a:effectLst/>
                <a:latin typeface="+mn-lt"/>
                <a:ea typeface="+mn-ea"/>
                <a:cs typeface="+mn-cs"/>
              </a:rPr>
              <a:t>Writing the handoff is always an instruction, either in the AGENTS file or in the Copilot instructions.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 sz="1200" b="0" kern="1200" dirty="0">
                <a:solidFill>
                  <a:schemeClr val="tx1"/>
                </a:solidFill>
                <a:effectLst/>
                <a:latin typeface="+mn-lt"/>
                <a:ea typeface="+mn-ea"/>
                <a:cs typeface="+mn-cs"/>
              </a:rPr>
              <a:t>Let me show you what the shared memory file contains.</a:t>
            </a:r>
          </a:p>
          <a:p>
            <a:r>
              <a:rPr lang="" sz="1200" b="0" kern="1200" dirty="0">
                <a:solidFill>
                  <a:schemeClr val="tx1"/>
                </a:solidFill>
                <a:effectLst/>
                <a:latin typeface="+mn-lt"/>
                <a:ea typeface="+mn-ea"/>
                <a:cs typeface="+mn-cs"/>
              </a:rPr>
              <a:t>It starts with a project overview and the architecture patterns in use.</a:t>
            </a:r>
          </a:p>
          <a:p>
            <a:r>
              <a:rPr lang="" sz="1200" b="0" kern="1200" dirty="0">
                <a:solidFill>
                  <a:schemeClr val="tx1"/>
                </a:solidFill>
                <a:effectLst/>
                <a:latin typeface="+mn-lt"/>
                <a:ea typeface="+mn-ea"/>
                <a:cs typeface="+mn-cs"/>
              </a:rPr>
              <a:t>After that come your preferences for workflow, communication, and code style.</a:t>
            </a:r>
          </a:p>
          <a:p>
            <a:r>
              <a:rPr lang="" sz="1200" b="0" kern="1200" dirty="0">
                <a:solidFill>
                  <a:schemeClr val="tx1"/>
                </a:solidFill>
                <a:effectLst/>
                <a:latin typeface="+mn-lt"/>
                <a:ea typeface="+mn-ea"/>
                <a:cs typeface="+mn-cs"/>
              </a:rPr>
              <a:t>There are also sections for domain knowledge, and for known issues with their workarounds.</a:t>
            </a:r>
          </a:p>
          <a:p>
            <a:endParaRPr lang="" sz="1200" b="0" kern="1200" dirty="0">
              <a:solidFill>
                <a:schemeClr val="tx1"/>
              </a:solidFill>
              <a:effectLst/>
              <a:latin typeface="+mn-lt"/>
              <a:ea typeface="+mn-ea"/>
              <a:cs typeface="+mn-cs"/>
            </a:endParaRPr>
          </a:p>
          <a:p>
            <a:r>
              <a:rPr lang="" sz="1200" b="0" kern="1200" dirty="0">
                <a:solidFill>
                  <a:schemeClr val="tx1"/>
                </a:solidFill>
                <a:effectLst/>
                <a:latin typeface="+mn-lt"/>
                <a:ea typeface="+mn-ea"/>
                <a:cs typeface="+mn-cs"/>
              </a:rPr>
              <a:t>Two sections deserve special attention: blocked paths, and decisions.</a:t>
            </a:r>
          </a:p>
          <a:p>
            <a:endParaRPr lang="" sz="1200" b="0" kern="1200" dirty="0">
              <a:solidFill>
                <a:schemeClr val="tx1"/>
              </a:solidFill>
              <a:effectLst/>
              <a:latin typeface="+mn-lt"/>
              <a:ea typeface="+mn-ea"/>
              <a:cs typeface="+mn-cs"/>
            </a:endParaRPr>
          </a:p>
          <a:p>
            <a:r>
              <a:rPr lang="" sz="1200" b="0" kern="1200" dirty="0">
                <a:solidFill>
                  <a:schemeClr val="tx1"/>
                </a:solidFill>
                <a:effectLst/>
                <a:latin typeface="+mn-lt"/>
                <a:ea typeface="+mn-ea"/>
                <a:cs typeface="+mn-cs"/>
              </a:rPr>
              <a:t>Blocked paths are approaches that were tried and failed.</a:t>
            </a:r>
          </a:p>
          <a:p>
            <a:r>
              <a:rPr lang="" sz="1200" b="0" kern="1200" dirty="0">
                <a:solidFill>
                  <a:schemeClr val="tx1"/>
                </a:solidFill>
                <a:effectLst/>
                <a:latin typeface="+mn-lt"/>
                <a:ea typeface="+mn-ea"/>
                <a:cs typeface="+mn-cs"/>
              </a:rPr>
              <a:t>Each one is marked "do not retry", and comes with the correct alternative and a date, so the next agent does not repeat the mistake.</a:t>
            </a:r>
          </a:p>
          <a:p>
            <a:endParaRPr lang="" sz="1200" b="0" kern="1200" dirty="0">
              <a:solidFill>
                <a:schemeClr val="tx1"/>
              </a:solidFill>
              <a:effectLst/>
              <a:latin typeface="+mn-lt"/>
              <a:ea typeface="+mn-ea"/>
              <a:cs typeface="+mn-cs"/>
            </a:endParaRPr>
          </a:p>
          <a:p>
            <a:r>
              <a:rPr lang="" sz="1200" b="0" kern="1200" dirty="0">
                <a:solidFill>
                  <a:schemeClr val="tx1"/>
                </a:solidFill>
                <a:effectLst/>
                <a:latin typeface="+mn-lt"/>
                <a:ea typeface="+mn-ea"/>
                <a:cs typeface="+mn-cs"/>
              </a:rPr>
              <a:t>Decisions are dated, and they record the options that were considered and the reasoning behind the choice.</a:t>
            </a:r>
          </a:p>
          <a:p>
            <a:endParaRPr lang="" sz="1200" b="0" kern="1200" dirty="0">
              <a:solidFill>
                <a:schemeClr val="tx1"/>
              </a:solidFill>
              <a:effectLst/>
              <a:latin typeface="+mn-lt"/>
              <a:ea typeface="+mn-ea"/>
              <a:cs typeface="+mn-cs"/>
            </a:endParaRPr>
          </a:p>
          <a:p>
            <a:r>
              <a:rPr lang="" sz="1200" b="0" kern="1200" dirty="0">
                <a:solidFill>
                  <a:schemeClr val="tx1"/>
                </a:solidFill>
                <a:effectLst/>
                <a:latin typeface="+mn-lt"/>
                <a:ea typeface="+mn-ea"/>
                <a:cs typeface="+mn-cs"/>
              </a:rPr>
              <a:t>The file ends with a summary of the current sprint, recent changes, integration points, and a checklist for the next session.</a:t>
            </a:r>
          </a:p>
          <a:p>
            <a:endParaRPr lang="" sz="1200" b="0" kern="1200" dirty="0">
              <a:solidFill>
                <a:schemeClr val="tx1"/>
              </a:solidFill>
              <a:effectLst/>
              <a:latin typeface="+mn-lt"/>
              <a:ea typeface="+mn-ea"/>
              <a:cs typeface="+mn-cs"/>
            </a:endParaRPr>
          </a:p>
          <a:p>
            <a:r>
              <a:rPr lang="" sz="1200" b="0" kern="1200" dirty="0">
                <a:solidFill>
                  <a:schemeClr val="tx1"/>
                </a:solidFill>
                <a:effectLst/>
                <a:latin typeface="+mn-lt"/>
                <a:ea typeface="+mn-ea"/>
                <a:cs typeface="+mn-cs"/>
              </a:rPr>
              <a:t>Let me be honest about the limits.</a:t>
            </a:r>
          </a:p>
          <a:p>
            <a:r>
              <a:rPr lang="" sz="1200" b="0" kern="1200" dirty="0">
                <a:solidFill>
                  <a:schemeClr val="tx1"/>
                </a:solidFill>
                <a:effectLst/>
                <a:latin typeface="+mn-lt"/>
                <a:ea typeface="+mn-ea"/>
                <a:cs typeface="+mn-cs"/>
              </a:rPr>
              <a:t>This is not model training, and it does not follow you from project to project.</a:t>
            </a:r>
          </a:p>
          <a:p>
            <a:endParaRPr lang="" sz="1200" b="0" kern="1200" dirty="0">
              <a:solidFill>
                <a:schemeClr val="tx1"/>
              </a:solidFill>
              <a:effectLst/>
              <a:latin typeface="+mn-lt"/>
              <a:ea typeface="+mn-ea"/>
              <a:cs typeface="+mn-cs"/>
            </a:endParaRPr>
          </a:p>
          <a:p>
            <a:r>
              <a:rPr lang="" sz="1200" b="0" kern="1200" dirty="0">
                <a:solidFill>
                  <a:schemeClr val="tx1"/>
                </a:solidFill>
                <a:effectLst/>
                <a:latin typeface="+mn-lt"/>
                <a:ea typeface="+mn-ea"/>
                <a:cs typeface="+mn-cs"/>
              </a:rPr>
              <a:t>It is simply written knowledge that the next session reads.</a:t>
            </a:r>
          </a:p>
          <a:p>
            <a:r>
              <a:rPr lang="" sz="1200" b="0" kern="1200" dirty="0">
                <a:solidFill>
                  <a:schemeClr val="tx1"/>
                </a:solidFill>
                <a:effectLst/>
                <a:latin typeface="+mn-lt"/>
                <a:ea typeface="+mn-ea"/>
                <a:cs typeface="+mn-cs"/>
              </a:rPr>
              <a:t>In the template itself, I leave the file empty on purpose, and your project fills it in.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 sz="1200" b="0" kern="1200" dirty="0">
                <a:solidFill>
                  <a:schemeClr val="tx1"/>
                </a:solidFill>
                <a:effectLst/>
                <a:latin typeface="+mn-lt"/>
                <a:ea typeface="+mn-ea"/>
                <a:cs typeface="+mn-cs"/>
              </a:rPr>
              <a:t>I defined thirteen critical coding rules.</a:t>
            </a:r>
          </a:p>
          <a:p>
            <a:endParaRPr lang="" sz="1200" b="0" kern="1200" dirty="0">
              <a:solidFill>
                <a:schemeClr val="tx1"/>
              </a:solidFill>
              <a:effectLst/>
              <a:latin typeface="+mn-lt"/>
              <a:ea typeface="+mn-ea"/>
              <a:cs typeface="+mn-cs"/>
            </a:endParaRPr>
          </a:p>
          <a:p>
            <a:r>
              <a:rPr lang="" sz="1200" b="0" kern="1200" dirty="0">
                <a:solidFill>
                  <a:schemeClr val="tx1"/>
                </a:solidFill>
                <a:effectLst/>
                <a:latin typeface="+mn-lt"/>
                <a:ea typeface="+mn-ea"/>
                <a:cs typeface="+mn-cs"/>
              </a:rPr>
              <a:t>The one on the slide makes a good example: commands take individual parameters, and never a whole model object.</a:t>
            </a:r>
          </a:p>
          <a:p>
            <a:endParaRPr lang="" sz="1200" b="0" kern="1200" dirty="0">
              <a:solidFill>
                <a:schemeClr val="tx1"/>
              </a:solidFill>
              <a:effectLst/>
              <a:latin typeface="+mn-lt"/>
              <a:ea typeface="+mn-ea"/>
              <a:cs typeface="+mn-cs"/>
            </a:endParaRPr>
          </a:p>
          <a:p>
            <a:r>
              <a:rPr lang="" sz="1200" b="0" kern="1200" dirty="0">
                <a:solidFill>
                  <a:schemeClr val="tx1"/>
                </a:solidFill>
                <a:effectLst/>
                <a:latin typeface="+mn-lt"/>
                <a:ea typeface="+mn-ea"/>
                <a:cs typeface="+mn-cs"/>
              </a:rPr>
              <a:t>Let me mention three more examples:</a:t>
            </a:r>
          </a:p>
          <a:p>
            <a:r>
              <a:rPr lang="" sz="1200" b="0" kern="1200" dirty="0">
                <a:solidFill>
                  <a:schemeClr val="tx1"/>
                </a:solidFill>
                <a:effectLst/>
                <a:latin typeface="+mn-lt"/>
                <a:ea typeface="+mn-ea"/>
                <a:cs typeface="+mn-cs"/>
              </a:rPr>
              <a:t>- There is no repository layer, because you use the database context directly.</a:t>
            </a:r>
          </a:p>
          <a:p>
            <a:r>
              <a:rPr lang="" sz="1200" b="0" kern="1200" dirty="0">
                <a:solidFill>
                  <a:schemeClr val="tx1"/>
                </a:solidFill>
                <a:effectLst/>
                <a:latin typeface="+mn-lt"/>
                <a:ea typeface="+mn-ea"/>
                <a:cs typeface="+mn-cs"/>
              </a:rPr>
              <a:t>- Every asynchronous handler accepts a cancellation token.</a:t>
            </a:r>
          </a:p>
          <a:p>
            <a:r>
              <a:rPr lang="" sz="1200" b="0" kern="1200" dirty="0">
                <a:solidFill>
                  <a:schemeClr val="tx1"/>
                </a:solidFill>
                <a:effectLst/>
                <a:latin typeface="+mn-lt"/>
                <a:ea typeface="+mn-ea"/>
                <a:cs typeface="+mn-cs"/>
              </a:rPr>
              <a:t>- Handlers return models, and never the entities themselves.</a:t>
            </a:r>
          </a:p>
          <a:p>
            <a:endParaRPr lang="" sz="1200" b="0" kern="1200" dirty="0">
              <a:solidFill>
                <a:schemeClr val="tx1"/>
              </a:solidFill>
              <a:effectLst/>
              <a:latin typeface="+mn-lt"/>
              <a:ea typeface="+mn-ea"/>
              <a:cs typeface="+mn-cs"/>
            </a:endParaRPr>
          </a:p>
          <a:p>
            <a:r>
              <a:rPr lang="" sz="1200" b="0" kern="1200" dirty="0">
                <a:solidFill>
                  <a:schemeClr val="tx1"/>
                </a:solidFill>
                <a:effectLst/>
                <a:latin typeface="+mn-lt"/>
                <a:ea typeface="+mn-ea"/>
                <a:cs typeface="+mn-cs"/>
              </a:rPr>
              <a:t>The remaining rules cover naming, explicit response metadata on every endpoint, and searching the solution before you create a new type.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 sz="1200" b="0" kern="1200" dirty="0">
                <a:solidFill>
                  <a:schemeClr val="tx1"/>
                </a:solidFill>
                <a:effectLst/>
                <a:latin typeface="+mn-lt"/>
                <a:ea typeface="+mn-ea"/>
                <a:cs typeface="+mn-cs"/>
              </a:rPr>
              <a:t>This is the largest workflow in the template.</a:t>
            </a:r>
          </a:p>
          <a:p>
            <a:r>
              <a:rPr lang="" sz="1200" b="0" kern="1200" dirty="0">
                <a:solidFill>
                  <a:schemeClr val="tx1"/>
                </a:solidFill>
                <a:effectLst/>
                <a:latin typeface="+mn-lt"/>
                <a:ea typeface="+mn-ea"/>
                <a:cs typeface="+mn-cs"/>
              </a:rPr>
              <a:t>It starts with a design interview, a structured conversation that stress-tests your plan.</a:t>
            </a:r>
          </a:p>
          <a:p>
            <a:r>
              <a:rPr lang="" sz="1200" b="0" kern="1200" dirty="0">
                <a:solidFill>
                  <a:schemeClr val="tx1"/>
                </a:solidFill>
                <a:effectLst/>
                <a:latin typeface="+mn-lt"/>
                <a:ea typeface="+mn-ea"/>
                <a:cs typeface="+mn-cs"/>
              </a:rPr>
              <a:t>The interview produces the domain vocabulary, the use cases, and the user stories.</a:t>
            </a:r>
          </a:p>
          <a:p>
            <a:r>
              <a:rPr lang="" sz="1200" b="0" kern="1200" dirty="0">
                <a:solidFill>
                  <a:schemeClr val="tx1"/>
                </a:solidFill>
                <a:effectLst/>
                <a:latin typeface="+mn-lt"/>
                <a:ea typeface="+mn-ea"/>
                <a:cs typeface="+mn-cs"/>
              </a:rPr>
              <a:t>From those, the pipeline generates a solution scaffold, a blueprint for each vertical slice, and a review that looks for gaps against your original decisions.</a:t>
            </a:r>
          </a:p>
          <a:p>
            <a:r>
              <a:rPr lang="" sz="1200" b="0" kern="1200" dirty="0">
                <a:solidFill>
                  <a:schemeClr val="tx1"/>
                </a:solidFill>
                <a:effectLst/>
                <a:latin typeface="+mn-lt"/>
                <a:ea typeface="+mn-ea"/>
                <a:cs typeface="+mn-cs"/>
              </a:rPr>
              <a:t>Finally, a validator checks that everything stays traceable, from the story all the way down to the test.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 sz="1200" b="0" kern="1200" dirty="0">
                <a:solidFill>
                  <a:schemeClr val="tx1"/>
                </a:solidFill>
                <a:effectLst/>
                <a:latin typeface="+mn-lt"/>
                <a:ea typeface="+mn-ea"/>
                <a:cs typeface="+mn-cs"/>
              </a:rPr>
              <a:t>Some decisions are expensive to undo, for example changing the boundaries of your domain, or migrating data in a way that destroys the old data.</a:t>
            </a:r>
          </a:p>
          <a:p>
            <a:r>
              <a:rPr lang="" sz="1200" b="0" kern="1200" dirty="0">
                <a:solidFill>
                  <a:schemeClr val="tx1"/>
                </a:solidFill>
                <a:effectLst/>
                <a:latin typeface="+mn-lt"/>
                <a:ea typeface="+mn-ea"/>
                <a:cs typeface="+mn-cs"/>
              </a:rPr>
              <a:t>For those, a single agent does not get to decide.</a:t>
            </a:r>
          </a:p>
          <a:p>
            <a:endParaRPr lang="" sz="1200" b="0" kern="1200" dirty="0">
              <a:solidFill>
                <a:schemeClr val="tx1"/>
              </a:solidFill>
              <a:effectLst/>
              <a:latin typeface="+mn-lt"/>
              <a:ea typeface="+mn-ea"/>
              <a:cs typeface="+mn-cs"/>
            </a:endParaRPr>
          </a:p>
          <a:p>
            <a:r>
              <a:rPr lang="" sz="1200" b="0" kern="1200" dirty="0">
                <a:solidFill>
                  <a:schemeClr val="tx1"/>
                </a:solidFill>
                <a:effectLst/>
                <a:latin typeface="+mn-lt"/>
                <a:ea typeface="+mn-ea"/>
                <a:cs typeface="+mn-cs"/>
              </a:rPr>
              <a:t>Instead, a small council is convened, and each member is given a different, even conflicting, point of view: design, rules, security, testability, and feasibility.</a:t>
            </a:r>
          </a:p>
          <a:p>
            <a:r>
              <a:rPr lang="" sz="1200" b="0" kern="1200" dirty="0">
                <a:solidFill>
                  <a:schemeClr val="tx1"/>
                </a:solidFill>
                <a:effectLst/>
                <a:latin typeface="+mn-lt"/>
                <a:ea typeface="+mn-ea"/>
                <a:cs typeface="+mn-cs"/>
              </a:rPr>
              <a:t>A chair leads the discussion, but does not take a seat of its own.</a:t>
            </a:r>
          </a:p>
          <a:p>
            <a:r>
              <a:rPr lang="" sz="1200" b="0" kern="1200" dirty="0">
                <a:solidFill>
                  <a:schemeClr val="tx1"/>
                </a:solidFill>
                <a:effectLst/>
                <a:latin typeface="+mn-lt"/>
                <a:ea typeface="+mn-ea"/>
                <a:cs typeface="+mn-cs"/>
              </a:rPr>
              <a:t>The verdict is advisory, so the final call stays with you.</a:t>
            </a:r>
          </a:p>
          <a:p>
            <a:endParaRPr lang="" sz="1200" b="0" kern="1200" dirty="0">
              <a:solidFill>
                <a:schemeClr val="tx1"/>
              </a:solidFill>
              <a:effectLst/>
              <a:latin typeface="+mn-lt"/>
              <a:ea typeface="+mn-ea"/>
              <a:cs typeface="+mn-cs"/>
            </a:endParaRPr>
          </a:p>
          <a:p>
            <a:r>
              <a:rPr lang="" sz="1200" b="0" kern="1200" dirty="0">
                <a:solidFill>
                  <a:schemeClr val="tx1"/>
                </a:solidFill>
                <a:effectLst/>
                <a:latin typeface="+mn-lt"/>
                <a:ea typeface="+mn-ea"/>
                <a:cs typeface="+mn-cs"/>
              </a:rPr>
              <a:t>Bug fixes, and applying a pattern that is already documented, do not need a council.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 sz="1200" b="0" kern="1200" dirty="0">
                <a:solidFill>
                  <a:schemeClr val="tx1"/>
                </a:solidFill>
                <a:effectLst/>
                <a:latin typeface="+mn-lt"/>
                <a:ea typeface="+mn-ea"/>
                <a:cs typeface="+mn-cs"/>
              </a:rPr>
              <a:t>So far, I've shown you the template itself, with its 80 skills, 9 agents, and 8 pattern guides.</a:t>
            </a:r>
          </a:p>
          <a:p>
            <a:r>
              <a:rPr lang="" sz="1200" b="0" kern="1200" dirty="0">
                <a:solidFill>
                  <a:schemeClr val="tx1"/>
                </a:solidFill>
                <a:effectLst/>
                <a:latin typeface="+mn-lt"/>
                <a:ea typeface="+mn-ea"/>
                <a:cs typeface="+mn-cs"/>
              </a:rPr>
              <a:t>That is powerful, but a single project rarely needs all of it.</a:t>
            </a:r>
          </a:p>
          <a:p>
            <a:endParaRPr lang="" sz="1200" b="0" kern="1200" dirty="0">
              <a:solidFill>
                <a:schemeClr val="tx1"/>
              </a:solidFill>
              <a:effectLst/>
              <a:latin typeface="+mn-lt"/>
              <a:ea typeface="+mn-ea"/>
              <a:cs typeface="+mn-cs"/>
            </a:endParaRPr>
          </a:p>
          <a:p>
            <a:r>
              <a:rPr lang="" sz="1200" b="0" kern="1200" dirty="0">
                <a:solidFill>
                  <a:schemeClr val="tx1"/>
                </a:solidFill>
                <a:effectLst/>
                <a:latin typeface="+mn-lt"/>
                <a:ea typeface="+mn-ea"/>
                <a:cs typeface="+mn-cs"/>
              </a:rPr>
              <a:t>And copying a template by hand causes six problems:</a:t>
            </a:r>
          </a:p>
          <a:p>
            <a:r>
              <a:rPr lang="" sz="1200" b="0" kern="1200" dirty="0">
                <a:solidFill>
                  <a:schemeClr val="tx1"/>
                </a:solidFill>
                <a:effectLst/>
                <a:latin typeface="+mn-lt"/>
                <a:ea typeface="+mn-ea"/>
                <a:cs typeface="+mn-cs"/>
              </a:rPr>
              <a:t>- You get everything or nothing.</a:t>
            </a:r>
          </a:p>
          <a:p>
            <a:r>
              <a:rPr lang="" sz="1200" b="0" kern="1200" dirty="0">
                <a:solidFill>
                  <a:schemeClr val="tx1"/>
                </a:solidFill>
                <a:effectLst/>
                <a:latin typeface="+mn-lt"/>
                <a:ea typeface="+mn-ea"/>
                <a:cs typeface="+mn-cs"/>
              </a:rPr>
              <a:t>- Local edits can be silently overwritten, and nobody is sure which files belong to the template.</a:t>
            </a:r>
          </a:p>
          <a:p>
            <a:r>
              <a:rPr lang="" sz="1200" b="0" kern="1200" dirty="0">
                <a:solidFill>
                  <a:schemeClr val="tx1"/>
                </a:solidFill>
                <a:effectLst/>
                <a:latin typeface="+mn-lt"/>
                <a:ea typeface="+mn-ea"/>
                <a:cs typeface="+mn-cs"/>
              </a:rPr>
              <a:t>- You cannot tell where an item came from, or under which license.</a:t>
            </a:r>
          </a:p>
          <a:p>
            <a:r>
              <a:rPr lang="" sz="1200" b="0" kern="1200" dirty="0">
                <a:solidFill>
                  <a:schemeClr val="tx1"/>
                </a:solidFill>
                <a:effectLst/>
                <a:latin typeface="+mn-lt"/>
                <a:ea typeface="+mn-ea"/>
                <a:cs typeface="+mn-cs"/>
              </a:rPr>
              <a:t>- Duplicates only show up after you have installed them.</a:t>
            </a:r>
          </a:p>
          <a:p>
            <a:r>
              <a:rPr lang="" sz="1200" b="0" kern="1200" dirty="0">
                <a:solidFill>
                  <a:schemeClr val="tx1"/>
                </a:solidFill>
                <a:effectLst/>
                <a:latin typeface="+mn-lt"/>
                <a:ea typeface="+mn-ea"/>
                <a:cs typeface="+mn-cs"/>
              </a:rPr>
              <a:t>- The setup is manual.</a:t>
            </a:r>
          </a:p>
          <a:p>
            <a:r>
              <a:rPr lang="" sz="1200" b="0" kern="1200" dirty="0">
                <a:solidFill>
                  <a:schemeClr val="tx1"/>
                </a:solidFill>
                <a:effectLst/>
                <a:latin typeface="+mn-lt"/>
                <a:ea typeface="+mn-ea"/>
                <a:cs typeface="+mn-cs"/>
              </a:rPr>
              <a:t>- Updating usually means copying the template again, which can wipe out your local changes.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 sz="1200" b="0" kern="1200" dirty="0">
                <a:solidFill>
                  <a:schemeClr val="tx1"/>
                </a:solidFill>
                <a:effectLst/>
                <a:latin typeface="+mn-lt"/>
                <a:ea typeface="+mn-ea"/>
                <a:cs typeface="+mn-cs"/>
              </a:rPr>
              <a:t>This is the part I'm most proud of.</a:t>
            </a:r>
          </a:p>
          <a:p>
            <a:endParaRPr lang="" sz="1200" b="0" kern="1200" dirty="0">
              <a:solidFill>
                <a:schemeClr val="tx1"/>
              </a:solidFill>
              <a:effectLst/>
              <a:latin typeface="+mn-lt"/>
              <a:ea typeface="+mn-ea"/>
              <a:cs typeface="+mn-cs"/>
            </a:endParaRPr>
          </a:p>
          <a:p>
            <a:r>
              <a:rPr lang="" sz="1200" b="0" kern="1200" dirty="0">
                <a:solidFill>
                  <a:schemeClr val="tx1"/>
                </a:solidFill>
                <a:effectLst/>
                <a:latin typeface="+mn-lt"/>
                <a:ea typeface="+mn-ea"/>
                <a:cs typeface="+mn-cs"/>
              </a:rPr>
              <a:t>I built the extension to solve those problems, and it has three main advantages:</a:t>
            </a:r>
          </a:p>
          <a:p>
            <a:r>
              <a:rPr lang="" sz="1200" b="0" kern="1200" dirty="0">
                <a:solidFill>
                  <a:schemeClr val="tx1"/>
                </a:solidFill>
                <a:effectLst/>
                <a:latin typeface="+mn-lt"/>
                <a:ea typeface="+mn-ea"/>
                <a:cs typeface="+mn-cs"/>
              </a:rPr>
              <a:t>- Selective install: you choose a preset, or individual skills and agents, so each project carries only what it needs.</a:t>
            </a:r>
          </a:p>
          <a:p>
            <a:r>
              <a:rPr lang="" sz="1200" b="0" kern="1200" dirty="0">
                <a:solidFill>
                  <a:schemeClr val="tx1"/>
                </a:solidFill>
                <a:effectLst/>
                <a:latin typeface="+mn-lt"/>
                <a:ea typeface="+mn-ea"/>
                <a:cs typeface="+mn-cs"/>
              </a:rPr>
              <a:t>- Safe updates: the extension remembers what was installed, and tells you what changed upstream, what you changed locally, and where both changed, so an update never silently overwrites your work.</a:t>
            </a:r>
          </a:p>
          <a:p>
            <a:r>
              <a:rPr lang="" sz="1200" b="0" kern="1200" dirty="0">
                <a:solidFill>
                  <a:schemeClr val="tx1"/>
                </a:solidFill>
                <a:effectLst/>
                <a:latin typeface="+mn-lt"/>
                <a:ea typeface="+mn-ea"/>
                <a:cs typeface="+mn-cs"/>
              </a:rPr>
              <a:t>- One setup for every tool: Claude Code, Copilot, and Reasonix all get the same skills and agents from a single source.</a:t>
            </a:r>
          </a:p>
          <a:p>
            <a:endParaRPr lang="" sz="1200" b="0" kern="1200" dirty="0">
              <a:solidFill>
                <a:schemeClr val="tx1"/>
              </a:solidFill>
              <a:effectLst/>
              <a:latin typeface="+mn-lt"/>
              <a:ea typeface="+mn-ea"/>
              <a:cs typeface="+mn-cs"/>
            </a:endParaRPr>
          </a:p>
          <a:p>
            <a:r>
              <a:rPr lang="" sz="1200" b="0" kern="1200" dirty="0">
                <a:solidFill>
                  <a:schemeClr val="tx1"/>
                </a:solidFill>
                <a:effectLst/>
                <a:latin typeface="+mn-lt"/>
                <a:ea typeface="+mn-ea"/>
                <a:cs typeface="+mn-cs"/>
              </a:rPr>
              <a:t>The extension is free, open source, and available in the VS Code Marketplace.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 sz="1200" b="0" kern="1200" dirty="0">
                <a:solidFill>
                  <a:schemeClr val="tx1"/>
                </a:solidFill>
                <a:effectLst/>
                <a:latin typeface="+mn-lt"/>
                <a:ea typeface="+mn-ea"/>
                <a:cs typeface="+mn-cs"/>
              </a:rPr>
              <a:t>There are two ways to get started.</a:t>
            </a:r>
          </a:p>
          <a:p>
            <a:endParaRPr lang="" sz="1200" b="0" kern="1200" dirty="0">
              <a:solidFill>
                <a:schemeClr val="tx1"/>
              </a:solidFill>
              <a:effectLst/>
              <a:latin typeface="+mn-lt"/>
              <a:ea typeface="+mn-ea"/>
              <a:cs typeface="+mn-cs"/>
            </a:endParaRPr>
          </a:p>
          <a:p>
            <a:r>
              <a:rPr lang="" sz="1200" b="0" kern="1200" dirty="0">
                <a:solidFill>
                  <a:schemeClr val="tx1"/>
                </a:solidFill>
                <a:effectLst/>
                <a:latin typeface="+mn-lt"/>
                <a:ea typeface="+mn-ea"/>
                <a:cs typeface="+mn-cs"/>
              </a:rPr>
              <a:t>For most projects, I recommend the extension.</a:t>
            </a:r>
          </a:p>
          <a:p>
            <a:endParaRPr lang="" sz="1200" b="0" kern="1200" dirty="0">
              <a:solidFill>
                <a:schemeClr val="tx1"/>
              </a:solidFill>
              <a:effectLst/>
              <a:latin typeface="+mn-lt"/>
              <a:ea typeface="+mn-ea"/>
              <a:cs typeface="+mn-cs"/>
            </a:endParaRPr>
          </a:p>
          <a:p>
            <a:r>
              <a:rPr lang="" sz="1200" b="0" kern="1200" dirty="0">
                <a:solidFill>
                  <a:schemeClr val="tx1"/>
                </a:solidFill>
                <a:effectLst/>
                <a:latin typeface="+mn-lt"/>
                <a:ea typeface="+mn-ea"/>
                <a:cs typeface="+mn-cs"/>
              </a:rPr>
              <a:t>Install it, and open your folder.</a:t>
            </a:r>
          </a:p>
          <a:p>
            <a:r>
              <a:rPr lang="" sz="1200" b="0" kern="1200" dirty="0">
                <a:solidFill>
                  <a:schemeClr val="tx1"/>
                </a:solidFill>
                <a:effectLst/>
                <a:latin typeface="+mn-lt"/>
                <a:ea typeface="+mn-ea"/>
                <a:cs typeface="+mn-cs"/>
              </a:rPr>
              <a:t>The first time it starts, it sets up everything for you: the shared folder, the settings, and the configuration for each AI tool.</a:t>
            </a:r>
          </a:p>
          <a:p>
            <a:r>
              <a:rPr lang="" sz="1200" b="0" kern="1200" dirty="0">
                <a:solidFill>
                  <a:schemeClr val="tx1"/>
                </a:solidFill>
                <a:effectLst/>
                <a:latin typeface="+mn-lt"/>
                <a:ea typeface="+mn-ea"/>
                <a:cs typeface="+mn-cs"/>
              </a:rPr>
              <a:t>It never overwrites files that belong to your project.</a:t>
            </a:r>
          </a:p>
          <a:p>
            <a:r>
              <a:rPr lang="" sz="1200" b="0" kern="1200" dirty="0">
                <a:solidFill>
                  <a:schemeClr val="tx1"/>
                </a:solidFill>
                <a:effectLst/>
                <a:latin typeface="+mn-lt"/>
                <a:ea typeface="+mn-ea"/>
                <a:cs typeface="+mn-cs"/>
              </a:rPr>
              <a:t>Then you choose a preset or individual skills, enter your project name and purpose, so the placeholders in the project documents are filled in for you, and press Sync.</a:t>
            </a:r>
          </a:p>
          <a:p>
            <a:endParaRPr lang="" sz="1200" b="0" kern="1200" dirty="0">
              <a:solidFill>
                <a:schemeClr val="tx1"/>
              </a:solidFill>
              <a:effectLst/>
              <a:latin typeface="+mn-lt"/>
              <a:ea typeface="+mn-ea"/>
              <a:cs typeface="+mn-cs"/>
            </a:endParaRPr>
          </a:p>
          <a:p>
            <a:r>
              <a:rPr lang="" sz="1200" b="0" kern="1200" dirty="0">
                <a:solidFill>
                  <a:schemeClr val="tx1"/>
                </a:solidFill>
                <a:effectLst/>
                <a:latin typeface="+mn-lt"/>
                <a:ea typeface="+mn-ea"/>
                <a:cs typeface="+mn-cs"/>
              </a:rPr>
              <a:t>The manual route still works, and it gives you the whole template.</a:t>
            </a:r>
          </a:p>
          <a:p>
            <a:r>
              <a:rPr lang="" sz="1200" b="0" kern="1200" dirty="0">
                <a:solidFill>
                  <a:schemeClr val="tx1"/>
                </a:solidFill>
                <a:effectLst/>
                <a:latin typeface="+mn-lt"/>
                <a:ea typeface="+mn-ea"/>
                <a:cs typeface="+mn-cs"/>
              </a:rPr>
              <a:t>Copy the everything from the repo to your own repo, run the sync script to create the links, and run the validation tests.</a:t>
            </a:r>
          </a:p>
          <a:p>
            <a:endParaRPr lang="" sz="1200" b="0" kern="1200" dirty="0">
              <a:solidFill>
                <a:schemeClr val="tx1"/>
              </a:solidFill>
              <a:effectLst/>
              <a:latin typeface="+mn-lt"/>
              <a:ea typeface="+mn-ea"/>
              <a:cs typeface="+mn-cs"/>
            </a:endParaRPr>
          </a:p>
          <a:p>
            <a:r>
              <a:rPr lang="" sz="1200" b="0" kern="1200" dirty="0">
                <a:solidFill>
                  <a:schemeClr val="tx1"/>
                </a:solidFill>
                <a:effectLst/>
                <a:latin typeface="+mn-lt"/>
                <a:ea typeface="+mn-ea"/>
                <a:cs typeface="+mn-cs"/>
              </a:rPr>
              <a:t>After that, you simply describe what you want in plain language, or call a skill with a slash command.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 sz="1200" b="0" kern="1200" dirty="0">
                <a:solidFill>
                  <a:schemeClr val="tx1"/>
                </a:solidFill>
                <a:effectLst/>
                <a:latin typeface="+mn-lt"/>
                <a:ea typeface="+mn-ea"/>
                <a:cs typeface="+mn-cs"/>
              </a:rPr>
              <a:t>To summarize, the template gives every AI coding tool the same skills, agents, and rules.</a:t>
            </a:r>
          </a:p>
          <a:p>
            <a:r>
              <a:rPr lang="" sz="1200" b="0" kern="1200" dirty="0">
                <a:solidFill>
                  <a:schemeClr val="tx1"/>
                </a:solidFill>
                <a:effectLst/>
                <a:latin typeface="+mn-lt"/>
                <a:ea typeface="+mn-ea"/>
                <a:cs typeface="+mn-cs"/>
              </a:rPr>
              <a:t>The extension lets each project pick only what it needs, and update it safely.</a:t>
            </a:r>
          </a:p>
          <a:p>
            <a:r>
              <a:rPr lang="" sz="1200" b="0" kern="1200" dirty="0">
                <a:solidFill>
                  <a:schemeClr val="tx1"/>
                </a:solidFill>
                <a:effectLst/>
                <a:latin typeface="+mn-lt"/>
                <a:ea typeface="+mn-ea"/>
                <a:cs typeface="+mn-cs"/>
              </a:rPr>
              <a:t>Both are open source, under the MIT license.</a:t>
            </a:r>
          </a:p>
          <a:p>
            <a:endParaRPr lang="" sz="1200" b="0" kern="1200" dirty="0">
              <a:solidFill>
                <a:schemeClr val="tx1"/>
              </a:solidFill>
              <a:effectLst/>
              <a:latin typeface="+mn-lt"/>
              <a:ea typeface="+mn-ea"/>
              <a:cs typeface="+mn-cs"/>
            </a:endParaRPr>
          </a:p>
          <a:p>
            <a:r>
              <a:rPr lang="" sz="1200" b="0" kern="1200" dirty="0">
                <a:solidFill>
                  <a:schemeClr val="tx1"/>
                </a:solidFill>
                <a:effectLst/>
                <a:latin typeface="+mn-lt"/>
                <a:ea typeface="+mn-ea"/>
                <a:cs typeface="+mn-cs"/>
              </a:rPr>
              <a:t>Now a word on staying up to date.</a:t>
            </a:r>
          </a:p>
          <a:p>
            <a:r>
              <a:rPr lang="" sz="1200" b="0" kern="1200" dirty="0">
                <a:solidFill>
                  <a:schemeClr val="tx1"/>
                </a:solidFill>
                <a:effectLst/>
                <a:latin typeface="+mn-lt"/>
                <a:ea typeface="+mn-ea"/>
                <a:cs typeface="+mn-cs"/>
              </a:rPr>
              <a:t>In the extension, you can see when newer releases are available.</a:t>
            </a:r>
          </a:p>
          <a:p>
            <a:r>
              <a:rPr lang="" sz="1200" b="0" kern="1200" dirty="0">
                <a:solidFill>
                  <a:schemeClr val="tx1"/>
                </a:solidFill>
                <a:effectLst/>
                <a:latin typeface="+mn-lt"/>
                <a:ea typeface="+mn-ea"/>
                <a:cs typeface="+mn-cs"/>
              </a:rPr>
              <a:t>If you copied the template by hand, an upgrade script refreshes the files that belong to the template, and leaves your own files alone.</a:t>
            </a:r>
          </a:p>
          <a:p>
            <a:endParaRPr lang="" sz="1200" b="0" kern="1200" dirty="0">
              <a:solidFill>
                <a:schemeClr val="tx1"/>
              </a:solidFill>
              <a:effectLst/>
              <a:latin typeface="+mn-lt"/>
              <a:ea typeface="+mn-ea"/>
              <a:cs typeface="+mn-cs"/>
            </a:endParaRPr>
          </a:p>
          <a:p>
            <a:r>
              <a:rPr lang="" sz="1200" b="0" kern="1200" dirty="0">
                <a:solidFill>
                  <a:schemeClr val="tx1"/>
                </a:solidFill>
                <a:effectLst/>
                <a:latin typeface="+mn-lt"/>
                <a:ea typeface="+mn-ea"/>
                <a:cs typeface="+mn-cs"/>
              </a:rPr>
              <a:t>The extension is brand new, released yesterday, so your feedback and issues on the repository are especially welcome.</a:t>
            </a:r>
          </a:p>
          <a:p>
            <a:endParaRPr lang="" sz="1200" b="0" kern="1200" dirty="0">
              <a:solidFill>
                <a:schemeClr val="tx1"/>
              </a:solidFill>
              <a:effectLst/>
              <a:latin typeface="+mn-lt"/>
              <a:ea typeface="+mn-ea"/>
              <a:cs typeface="+mn-cs"/>
            </a:endParaRPr>
          </a:p>
          <a:p>
            <a:r>
              <a:rPr lang="" sz="1200" b="0" kern="1200" dirty="0">
                <a:solidFill>
                  <a:schemeClr val="tx1"/>
                </a:solidFill>
                <a:effectLst/>
                <a:latin typeface="+mn-lt"/>
                <a:ea typeface="+mn-ea"/>
                <a:cs typeface="+mn-cs"/>
              </a:rPr>
              <a:t>Thank you for listening, and I'm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2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82" y="1137767"/>
            <a:ext cx="10566436" cy="447026"/>
          </a:xfrm>
          <a:prstGeom prst="rect">
            <a:avLst/>
          </a:prstGeom>
          <a:noFill/>
          <a:ln/>
        </p:spPr>
        <p:txBody>
          <a:bodyPr wrap="square" lIns="0" tIns="0" rIns="0" bIns="0" rtlCol="0" anchor="t"/>
          <a:lstStyle>
            <a:lvl1pPr marL="0" indent="0" algn="l">
              <a:lnSpc>
                <a:spcPct val="115000"/>
              </a:lnSpc>
              <a:buNone/>
              <a:defRPr lang="en-US" sz="3200" dirty="0">
                <a:solidFill>
                  <a:srgbClr val="14171C"/>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82" y="1889593"/>
            <a:ext cx="10566418" cy="4155607"/>
          </a:xfrm>
          <a:prstGeom prst="rect">
            <a:avLst/>
          </a:prstGeom>
          <a:noFill/>
          <a:ln/>
        </p:spPr>
        <p:txBody>
          <a:bodyPr wrap="square" lIns="0" tIns="0" rIns="0" bIns="0" rtlCol="0" anchor="t"/>
          <a:lstStyle>
            <a:lvl1pPr marL="0" indent="0" algn="l">
              <a:lnSpc>
                <a:spcPct val="140000"/>
              </a:lnSpc>
              <a:buNone/>
              <a:defRPr lang="en-US" sz="1600" dirty="0">
                <a:solidFill>
                  <a:srgbClr val="14171C"/>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2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82" y="1137767"/>
            <a:ext cx="10566436" cy="447026"/>
          </a:xfrm>
          <a:prstGeom prst="rect">
            <a:avLst/>
          </a:prstGeom>
          <a:noFill/>
          <a:ln/>
        </p:spPr>
        <p:txBody>
          <a:bodyPr wrap="square" lIns="0" tIns="0" rIns="0" bIns="0" rtlCol="0" anchor="t"/>
          <a:lstStyle>
            <a:lvl1pPr marL="0" indent="0" algn="l">
              <a:lnSpc>
                <a:spcPct val="115000"/>
              </a:lnSpc>
              <a:buNone/>
              <a:defRPr lang="en-US" sz="3200" dirty="0">
                <a:solidFill>
                  <a:srgbClr val="14171C"/>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82" y="1889593"/>
            <a:ext cx="10566418" cy="4155607"/>
          </a:xfrm>
          <a:prstGeom prst="rect">
            <a:avLst/>
          </a:prstGeom>
          <a:noFill/>
          <a:ln/>
        </p:spPr>
        <p:txBody>
          <a:bodyPr wrap="square" lIns="0" tIns="0" rIns="0" bIns="0" rtlCol="0" anchor="t"/>
          <a:lstStyle>
            <a:lvl1pPr marL="0" indent="0" algn="l">
              <a:lnSpc>
                <a:spcPct val="140000"/>
              </a:lnSpc>
              <a:buNone/>
              <a:defRPr lang="en-US" sz="1600" dirty="0">
                <a:solidFill>
                  <a:srgbClr val="14171C"/>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71C"/>
        </a:solidFill>
        <a:effectLst/>
      </p:bgPr>
    </p:bg>
    <p:spTree>
      <p:nvGrpSpPr>
        <p:cNvPr id="1" name=""/>
        <p:cNvGrpSpPr/>
        <p:nvPr/>
      </p:nvGrpSpPr>
      <p:grpSpPr>
        <a:xfrm>
          <a:off x="0" y="0"/>
          <a:ext cx="0" cy="0"/>
          <a:chOff x="0" y="0"/>
          <a:chExt cx="0" cy="0"/>
        </a:xfrm>
      </p:grpSpPr>
      <p:sp>
        <p:nvSpPr>
          <p:cNvPr id="2" name="Shape 0"/>
          <p:cNvSpPr/>
          <p:nvPr/>
        </p:nvSpPr>
        <p:spPr>
          <a:xfrm>
            <a:off x="812782" y="812782"/>
            <a:ext cx="762000" cy="50782"/>
          </a:xfrm>
          <a:prstGeom prst="rect">
            <a:avLst/>
          </a:prstGeom>
          <a:solidFill>
            <a:srgbClr val="3DD6B0"/>
          </a:solidFill>
          <a:ln/>
        </p:spPr>
        <p:txBody>
          <a:bodyPr/>
          <a:lstStyle/>
          <a:p>
            <a:endParaRPr lang="LID4096"/>
          </a:p>
        </p:txBody>
      </p:sp>
      <p:sp>
        <p:nvSpPr>
          <p:cNvPr id="3" name="Text 1"/>
          <p:cNvSpPr/>
          <p:nvPr/>
        </p:nvSpPr>
        <p:spPr>
          <a:xfrm>
            <a:off x="812782" y="1912667"/>
            <a:ext cx="10883429" cy="274259"/>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3DD6B0"/>
                </a:solidFill>
                <a:latin typeface="IBM Plex Sans" pitchFamily="34" charset="0"/>
                <a:ea typeface="IBM Plex Sans" pitchFamily="34" charset="-122"/>
                <a:cs typeface="IBM Plex Sans" pitchFamily="34" charset="-120"/>
              </a:rPr>
              <a:t>I-SYNERGY / AI · AI WORKSPACE MANAGER</a:t>
            </a:r>
            <a:endParaRPr lang="en-US" sz="1400" dirty="0"/>
          </a:p>
        </p:txBody>
      </p:sp>
      <p:sp>
        <p:nvSpPr>
          <p:cNvPr id="4" name="Text 2"/>
          <p:cNvSpPr>
            <a:spLocks noGrp="1"/>
          </p:cNvSpPr>
          <p:nvPr>
            <p:ph type="title"/>
          </p:nvPr>
        </p:nvSpPr>
        <p:spPr>
          <a:xfrm>
            <a:off x="812782" y="2415525"/>
            <a:ext cx="9156700" cy="1412298"/>
          </a:xfrm>
          <a:prstGeom prst="rect">
            <a:avLst/>
          </a:prstGeom>
          <a:noFill/>
          <a:ln/>
        </p:spPr>
        <p:txBody>
          <a:bodyPr wrap="square" lIns="0" tIns="0" rIns="0" bIns="0" rtlCol="0" anchor="t">
            <a:normAutofit/>
          </a:bodyPr>
          <a:lstStyle/>
          <a:p>
            <a:pPr marL="0" indent="0" algn="l">
              <a:lnSpc>
                <a:spcPts val="5460"/>
              </a:lnSpc>
              <a:buNone/>
            </a:pPr>
            <a:r>
              <a:rPr lang="en-US" sz="5200" b="1" i="0" dirty="0">
                <a:solidFill>
                  <a:srgbClr val="F4F2EC"/>
                </a:solidFill>
                <a:latin typeface="IBM Plex Sans" pitchFamily="34" charset="0"/>
                <a:ea typeface="IBM Plex Sans" pitchFamily="34" charset="-122"/>
                <a:cs typeface="IBM Plex Sans" pitchFamily="34" charset="-120"/>
              </a:rPr>
              <a:t>A .NET development template for AI agents</a:t>
            </a:r>
            <a:endParaRPr lang="en-US" sz="5200" dirty="0"/>
          </a:p>
        </p:txBody>
      </p:sp>
      <p:sp>
        <p:nvSpPr>
          <p:cNvPr id="5" name="Text 3"/>
          <p:cNvSpPr/>
          <p:nvPr/>
        </p:nvSpPr>
        <p:spPr>
          <a:xfrm>
            <a:off x="812782" y="4056423"/>
            <a:ext cx="8502650" cy="711092"/>
          </a:xfrm>
          <a:prstGeom prst="rect">
            <a:avLst/>
          </a:prstGeom>
          <a:noFill/>
          <a:ln/>
        </p:spPr>
        <p:txBody>
          <a:bodyPr wrap="square" lIns="0" tIns="0" rIns="0" bIns="0" rtlCol="0" anchor="t">
            <a:normAutofit/>
          </a:bodyPr>
          <a:lstStyle/>
          <a:p>
            <a:pPr marL="0" indent="0" algn="l">
              <a:lnSpc>
                <a:spcPts val="2700"/>
              </a:lnSpc>
              <a:buNone/>
            </a:pPr>
            <a:r>
              <a:rPr lang="en-US" sz="2000" dirty="0">
                <a:solidFill>
                  <a:srgbClr val="B9C0CA"/>
                </a:solidFill>
                <a:latin typeface="IBM Plex Sans" pitchFamily="34" charset="0"/>
                <a:ea typeface="IBM Plex Sans" pitchFamily="34" charset="-122"/>
                <a:cs typeface="IBM Plex Sans" pitchFamily="34" charset="-120"/>
              </a:rPr>
              <a:t>Clean Architecture, CQRS and DDD, driven by one shared set of skills, agents and rules, plus a VS Code extension to choose and update them.</a:t>
            </a:r>
            <a:endParaRPr lang="en-US" sz="2000" dirty="0"/>
          </a:p>
        </p:txBody>
      </p:sp>
      <p:sp>
        <p:nvSpPr>
          <p:cNvPr id="6" name="Text 4"/>
          <p:cNvSpPr/>
          <p:nvPr/>
        </p:nvSpPr>
        <p:spPr>
          <a:xfrm>
            <a:off x="812782" y="6238243"/>
            <a:ext cx="10464800"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B94A1"/>
                </a:solidFill>
                <a:latin typeface="JetBrains Mono" pitchFamily="49" charset="0"/>
                <a:ea typeface="JetBrains Mono" pitchFamily="49" charset="-122"/>
                <a:cs typeface="JetBrains Mono" pitchFamily="49" charset="-120"/>
              </a:rPr>
              <a:t>github.com/I-Synergy/AI · github.com/I-Synergy/AIWorkspaceManager · MIT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782" y="812781"/>
            <a:ext cx="10883429" cy="274259"/>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0B7A62"/>
                </a:solidFill>
                <a:latin typeface="IBM Plex Sans" pitchFamily="34" charset="0"/>
                <a:ea typeface="IBM Plex Sans" pitchFamily="34" charset="-122"/>
                <a:cs typeface="IBM Plex Sans" pitchFamily="34" charset="-120"/>
              </a:rPr>
              <a:t>THE IDEA</a:t>
            </a:r>
            <a:endParaRPr lang="en-US" sz="1400" dirty="0"/>
          </a:p>
        </p:txBody>
      </p:sp>
      <p:sp>
        <p:nvSpPr>
          <p:cNvPr id="3" name="Text 1"/>
          <p:cNvSpPr>
            <a:spLocks noGrp="1"/>
          </p:cNvSpPr>
          <p:nvPr>
            <p:ph type="title"/>
          </p:nvPr>
        </p:nvSpPr>
        <p:spPr>
          <a:xfrm>
            <a:off x="812782" y="1137769"/>
            <a:ext cx="10883429" cy="472426"/>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71C"/>
                </a:solidFill>
                <a:latin typeface="IBM Plex Sans" pitchFamily="34" charset="0"/>
                <a:ea typeface="IBM Plex Sans" pitchFamily="34" charset="-122"/>
                <a:cs typeface="IBM Plex Sans" pitchFamily="34" charset="-120"/>
              </a:rPr>
              <a:t>One folder of AI context, read by every tool</a:t>
            </a:r>
            <a:endParaRPr lang="en-US" sz="3200" dirty="0"/>
          </a:p>
        </p:txBody>
      </p:sp>
      <p:sp>
        <p:nvSpPr>
          <p:cNvPr id="4" name="Shape 2"/>
          <p:cNvSpPr/>
          <p:nvPr/>
        </p:nvSpPr>
        <p:spPr>
          <a:xfrm>
            <a:off x="815957" y="1943533"/>
            <a:ext cx="3380347" cy="1417259"/>
          </a:xfrm>
          <a:prstGeom prst="roundRect">
            <a:avLst>
              <a:gd name="adj" fmla="val 6945"/>
            </a:avLst>
          </a:prstGeom>
          <a:solidFill>
            <a:srgbClr val="FBFAF6"/>
          </a:solidFill>
          <a:ln w="6350">
            <a:solidFill>
              <a:srgbClr val="DAD6CB"/>
            </a:solidFill>
            <a:prstDash val="solid"/>
          </a:ln>
        </p:spPr>
        <p:txBody>
          <a:bodyPr/>
          <a:lstStyle/>
          <a:p>
            <a:endParaRPr lang="LID4096"/>
          </a:p>
        </p:txBody>
      </p:sp>
      <p:sp>
        <p:nvSpPr>
          <p:cNvPr id="5" name="Text 3"/>
          <p:cNvSpPr/>
          <p:nvPr/>
        </p:nvSpPr>
        <p:spPr>
          <a:xfrm>
            <a:off x="1072555" y="2200130"/>
            <a:ext cx="2953166" cy="330182"/>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171C"/>
                </a:solidFill>
                <a:latin typeface="IBM Plex Sans" pitchFamily="34" charset="0"/>
                <a:ea typeface="IBM Plex Sans" pitchFamily="34" charset="-122"/>
                <a:cs typeface="IBM Plex Sans" pitchFamily="34" charset="-120"/>
              </a:rPr>
              <a:t>Claude Code</a:t>
            </a:r>
            <a:endParaRPr lang="en-US" sz="2000" dirty="0"/>
          </a:p>
        </p:txBody>
      </p:sp>
      <p:sp>
        <p:nvSpPr>
          <p:cNvPr id="6" name="Text 4"/>
          <p:cNvSpPr/>
          <p:nvPr/>
        </p:nvSpPr>
        <p:spPr>
          <a:xfrm>
            <a:off x="1072555" y="2606477"/>
            <a:ext cx="2953166" cy="52311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Reads AGENTS.md and the skills and agents behind it.</a:t>
            </a:r>
            <a:endParaRPr lang="en-US" sz="1400" dirty="0"/>
          </a:p>
        </p:txBody>
      </p:sp>
      <p:sp>
        <p:nvSpPr>
          <p:cNvPr id="7" name="Shape 5"/>
          <p:cNvSpPr/>
          <p:nvPr/>
        </p:nvSpPr>
        <p:spPr>
          <a:xfrm>
            <a:off x="4405781" y="1943533"/>
            <a:ext cx="3380437" cy="1417259"/>
          </a:xfrm>
          <a:prstGeom prst="roundRect">
            <a:avLst>
              <a:gd name="adj" fmla="val 6945"/>
            </a:avLst>
          </a:prstGeom>
          <a:solidFill>
            <a:srgbClr val="FBFAF6"/>
          </a:solidFill>
          <a:ln w="6350">
            <a:solidFill>
              <a:srgbClr val="DAD6CB"/>
            </a:solidFill>
            <a:prstDash val="solid"/>
          </a:ln>
        </p:spPr>
        <p:txBody>
          <a:bodyPr/>
          <a:lstStyle/>
          <a:p>
            <a:endParaRPr lang="LID4096"/>
          </a:p>
        </p:txBody>
      </p:sp>
      <p:sp>
        <p:nvSpPr>
          <p:cNvPr id="8" name="Text 6"/>
          <p:cNvSpPr/>
          <p:nvPr/>
        </p:nvSpPr>
        <p:spPr>
          <a:xfrm>
            <a:off x="4662379" y="2200130"/>
            <a:ext cx="2953259" cy="330182"/>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171C"/>
                </a:solidFill>
                <a:latin typeface="IBM Plex Sans" pitchFamily="34" charset="0"/>
                <a:ea typeface="IBM Plex Sans" pitchFamily="34" charset="-122"/>
                <a:cs typeface="IBM Plex Sans" pitchFamily="34" charset="-120"/>
              </a:rPr>
              <a:t>GitHub Copilot</a:t>
            </a:r>
            <a:endParaRPr lang="en-US" sz="2000" dirty="0"/>
          </a:p>
        </p:txBody>
      </p:sp>
      <p:sp>
        <p:nvSpPr>
          <p:cNvPr id="9" name="Text 7"/>
          <p:cNvSpPr/>
          <p:nvPr/>
        </p:nvSpPr>
        <p:spPr>
          <a:xfrm>
            <a:off x="4662379" y="2606477"/>
            <a:ext cx="2953259" cy="52311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Same files, plus its own copilot-instructions.md.</a:t>
            </a:r>
            <a:endParaRPr lang="en-US" sz="1400" dirty="0"/>
          </a:p>
        </p:txBody>
      </p:sp>
      <p:sp>
        <p:nvSpPr>
          <p:cNvPr id="10" name="Shape 8"/>
          <p:cNvSpPr/>
          <p:nvPr/>
        </p:nvSpPr>
        <p:spPr>
          <a:xfrm>
            <a:off x="7995696" y="1943533"/>
            <a:ext cx="3380347" cy="1417259"/>
          </a:xfrm>
          <a:prstGeom prst="roundRect">
            <a:avLst>
              <a:gd name="adj" fmla="val 6945"/>
            </a:avLst>
          </a:prstGeom>
          <a:solidFill>
            <a:srgbClr val="FBFAF6"/>
          </a:solidFill>
          <a:ln w="6350">
            <a:solidFill>
              <a:srgbClr val="DAD6CB"/>
            </a:solidFill>
            <a:prstDash val="solid"/>
          </a:ln>
        </p:spPr>
        <p:txBody>
          <a:bodyPr/>
          <a:lstStyle/>
          <a:p>
            <a:endParaRPr lang="LID4096"/>
          </a:p>
        </p:txBody>
      </p:sp>
      <p:sp>
        <p:nvSpPr>
          <p:cNvPr id="11" name="Text 9"/>
          <p:cNvSpPr/>
          <p:nvPr/>
        </p:nvSpPr>
        <p:spPr>
          <a:xfrm>
            <a:off x="8252294" y="2200130"/>
            <a:ext cx="2953166" cy="330182"/>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171C"/>
                </a:solidFill>
                <a:latin typeface="IBM Plex Sans" pitchFamily="34" charset="0"/>
                <a:ea typeface="IBM Plex Sans" pitchFamily="34" charset="-122"/>
                <a:cs typeface="IBM Plex Sans" pitchFamily="34" charset="-120"/>
              </a:rPr>
              <a:t>Reasonix Code</a:t>
            </a:r>
            <a:endParaRPr lang="en-US" sz="2000" dirty="0"/>
          </a:p>
        </p:txBody>
      </p:sp>
      <p:sp>
        <p:nvSpPr>
          <p:cNvPr id="12" name="Text 10"/>
          <p:cNvSpPr/>
          <p:nvPr/>
        </p:nvSpPr>
        <p:spPr>
          <a:xfrm>
            <a:off x="8252294" y="2606477"/>
            <a:ext cx="2953166" cy="52311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Auto-discovers the same skills and agents.</a:t>
            </a:r>
            <a:endParaRPr lang="en-US" sz="1400" dirty="0"/>
          </a:p>
        </p:txBody>
      </p:sp>
      <p:sp>
        <p:nvSpPr>
          <p:cNvPr id="13" name="Text 11"/>
          <p:cNvSpPr/>
          <p:nvPr/>
        </p:nvSpPr>
        <p:spPr>
          <a:xfrm>
            <a:off x="812782" y="3719530"/>
            <a:ext cx="10883429" cy="333880"/>
          </a:xfrm>
          <a:prstGeom prst="rect">
            <a:avLst/>
          </a:prstGeom>
          <a:noFill/>
          <a:ln/>
        </p:spPr>
        <p:txBody>
          <a:bodyPr wrap="square" lIns="0" tIns="0" rIns="0" bIns="0" rtlCol="0" anchor="t">
            <a:normAutofit/>
          </a:bodyPr>
          <a:lstStyle/>
          <a:p>
            <a:pPr marL="0" indent="0" algn="l">
              <a:lnSpc>
                <a:spcPts val="2430"/>
              </a:lnSpc>
              <a:buNone/>
            </a:pPr>
            <a:r>
              <a:rPr lang="en-US" sz="1800" b="1" dirty="0">
                <a:solidFill>
                  <a:srgbClr val="0B7A62"/>
                </a:solidFill>
                <a:latin typeface="IBM Plex Sans" pitchFamily="34" charset="0"/>
                <a:ea typeface="IBM Plex Sans" pitchFamily="34" charset="-122"/>
                <a:cs typeface="IBM Plex Sans" pitchFamily="34" charset="-120"/>
              </a:rPr>
              <a:t>.ai/ is the single source of truth: no duplication, no sync lag.</a:t>
            </a:r>
            <a:endParaRPr lang="en-US" sz="1800" dirty="0"/>
          </a:p>
        </p:txBody>
      </p:sp>
      <p:sp>
        <p:nvSpPr>
          <p:cNvPr id="14" name="Text 12"/>
          <p:cNvSpPr/>
          <p:nvPr/>
        </p:nvSpPr>
        <p:spPr>
          <a:xfrm>
            <a:off x="812782" y="4383574"/>
            <a:ext cx="10883429" cy="274259"/>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Each tool sees it through a directory junction (.claude, .github, .reasonix), created by one script and kept out of git.</a:t>
            </a:r>
            <a:endParaRPr lang="en-US" sz="1400" dirty="0"/>
          </a:p>
        </p:txBody>
      </p:sp>
      <p:sp>
        <p:nvSpPr>
          <p:cNvPr id="15" name="Text 13"/>
          <p:cNvSpPr/>
          <p:nvPr/>
        </p:nvSpPr>
        <p:spPr>
          <a:xfrm>
            <a:off x="812782" y="6238242"/>
            <a:ext cx="6540500"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I-Synergy/AI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782" y="812781"/>
            <a:ext cx="10883429" cy="274259"/>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0B7A62"/>
                </a:solidFill>
                <a:latin typeface="IBM Plex Sans" pitchFamily="34" charset="0"/>
                <a:ea typeface="IBM Plex Sans" pitchFamily="34" charset="-122"/>
                <a:cs typeface="IBM Plex Sans" pitchFamily="34" charset="-120"/>
              </a:rPr>
              <a:t>WHAT IS INSIDE</a:t>
            </a:r>
            <a:endParaRPr lang="en-US" sz="1400" dirty="0"/>
          </a:p>
        </p:txBody>
      </p:sp>
      <p:sp>
        <p:nvSpPr>
          <p:cNvPr id="3" name="Text 1"/>
          <p:cNvSpPr>
            <a:spLocks noGrp="1"/>
          </p:cNvSpPr>
          <p:nvPr>
            <p:ph type="title"/>
          </p:nvPr>
        </p:nvSpPr>
        <p:spPr>
          <a:xfrm>
            <a:off x="812782" y="1137768"/>
            <a:ext cx="10883429" cy="472426"/>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71C"/>
                </a:solidFill>
                <a:latin typeface="IBM Plex Sans" pitchFamily="34" charset="0"/>
                <a:ea typeface="IBM Plex Sans" pitchFamily="34" charset="-122"/>
                <a:cs typeface="IBM Plex Sans" pitchFamily="34" charset="-120"/>
              </a:rPr>
              <a:t>Three building blocks plus the guard rails</a:t>
            </a:r>
            <a:endParaRPr lang="en-US" sz="3200" dirty="0"/>
          </a:p>
        </p:txBody>
      </p:sp>
      <p:sp>
        <p:nvSpPr>
          <p:cNvPr id="4" name="Shape 2"/>
          <p:cNvSpPr/>
          <p:nvPr/>
        </p:nvSpPr>
        <p:spPr>
          <a:xfrm>
            <a:off x="812782" y="1940358"/>
            <a:ext cx="3386697" cy="2580409"/>
          </a:xfrm>
          <a:prstGeom prst="roundRect">
            <a:avLst>
              <a:gd name="adj" fmla="val 3937"/>
            </a:avLst>
          </a:prstGeom>
          <a:solidFill>
            <a:srgbClr val="14171C"/>
          </a:solidFill>
          <a:ln/>
        </p:spPr>
        <p:txBody>
          <a:bodyPr/>
          <a:lstStyle/>
          <a:p>
            <a:endParaRPr lang="LID4096"/>
          </a:p>
        </p:txBody>
      </p:sp>
      <p:sp>
        <p:nvSpPr>
          <p:cNvPr id="5" name="Text 3"/>
          <p:cNvSpPr/>
          <p:nvPr/>
        </p:nvSpPr>
        <p:spPr>
          <a:xfrm>
            <a:off x="1117564" y="2245139"/>
            <a:ext cx="2860447" cy="1092182"/>
          </a:xfrm>
          <a:prstGeom prst="rect">
            <a:avLst/>
          </a:prstGeom>
          <a:noFill/>
          <a:ln/>
        </p:spPr>
        <p:txBody>
          <a:bodyPr wrap="square" lIns="0" tIns="0" rIns="0" bIns="0" rtlCol="0" anchor="t">
            <a:normAutofit/>
          </a:bodyPr>
          <a:lstStyle/>
          <a:p>
            <a:pPr marL="0" indent="0" algn="l">
              <a:lnSpc>
                <a:spcPts val="8400"/>
              </a:lnSpc>
              <a:buNone/>
            </a:pPr>
            <a:r>
              <a:rPr lang="en-US" sz="8000" b="1" dirty="0">
                <a:solidFill>
                  <a:srgbClr val="3DD6B0"/>
                </a:solidFill>
                <a:latin typeface="IBM Plex Sans" pitchFamily="34" charset="0"/>
                <a:ea typeface="IBM Plex Sans" pitchFamily="34" charset="-122"/>
                <a:cs typeface="IBM Plex Sans" pitchFamily="34" charset="-120"/>
              </a:rPr>
              <a:t>80</a:t>
            </a:r>
            <a:endParaRPr lang="en-US" sz="8000" dirty="0"/>
          </a:p>
        </p:txBody>
      </p:sp>
      <p:sp>
        <p:nvSpPr>
          <p:cNvPr id="6" name="Text 4"/>
          <p:cNvSpPr/>
          <p:nvPr/>
        </p:nvSpPr>
        <p:spPr>
          <a:xfrm>
            <a:off x="1117564" y="3362703"/>
            <a:ext cx="2860447" cy="330182"/>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4F2EC"/>
                </a:solidFill>
                <a:latin typeface="IBM Plex Sans" pitchFamily="34" charset="0"/>
                <a:ea typeface="IBM Plex Sans" pitchFamily="34" charset="-122"/>
                <a:cs typeface="IBM Plex Sans" pitchFamily="34" charset="-120"/>
              </a:rPr>
              <a:t>Skills</a:t>
            </a:r>
            <a:endParaRPr lang="en-US" sz="2000" dirty="0"/>
          </a:p>
        </p:txBody>
      </p:sp>
      <p:sp>
        <p:nvSpPr>
          <p:cNvPr id="7" name="Text 5"/>
          <p:cNvSpPr/>
          <p:nvPr/>
        </p:nvSpPr>
        <p:spPr>
          <a:xfrm>
            <a:off x="1117564" y="3718268"/>
            <a:ext cx="2860447" cy="52311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9C0CA"/>
                </a:solidFill>
                <a:latin typeface="IBM Plex Sans" pitchFamily="34" charset="0"/>
                <a:ea typeface="IBM Plex Sans" pitchFamily="34" charset="-122"/>
                <a:cs typeface="IBM Plex Sans" pitchFamily="34" charset="-120"/>
              </a:rPr>
              <a:t>Playbooks for .NET, MAUI, UI, security and testing</a:t>
            </a:r>
            <a:endParaRPr lang="en-US" sz="1400" dirty="0"/>
          </a:p>
        </p:txBody>
      </p:sp>
      <p:sp>
        <p:nvSpPr>
          <p:cNvPr id="8" name="Shape 6"/>
          <p:cNvSpPr/>
          <p:nvPr/>
        </p:nvSpPr>
        <p:spPr>
          <a:xfrm>
            <a:off x="4402606" y="1940358"/>
            <a:ext cx="3386787" cy="2580409"/>
          </a:xfrm>
          <a:prstGeom prst="roundRect">
            <a:avLst>
              <a:gd name="adj" fmla="val 3937"/>
            </a:avLst>
          </a:prstGeom>
          <a:solidFill>
            <a:srgbClr val="14171C"/>
          </a:solidFill>
          <a:ln/>
        </p:spPr>
        <p:txBody>
          <a:bodyPr/>
          <a:lstStyle/>
          <a:p>
            <a:endParaRPr lang="LID4096"/>
          </a:p>
        </p:txBody>
      </p:sp>
      <p:sp>
        <p:nvSpPr>
          <p:cNvPr id="9" name="Text 7"/>
          <p:cNvSpPr/>
          <p:nvPr/>
        </p:nvSpPr>
        <p:spPr>
          <a:xfrm>
            <a:off x="4707388" y="2245139"/>
            <a:ext cx="2860540" cy="1092182"/>
          </a:xfrm>
          <a:prstGeom prst="rect">
            <a:avLst/>
          </a:prstGeom>
          <a:noFill/>
          <a:ln/>
        </p:spPr>
        <p:txBody>
          <a:bodyPr wrap="square" lIns="0" tIns="0" rIns="0" bIns="0" rtlCol="0" anchor="t">
            <a:normAutofit/>
          </a:bodyPr>
          <a:lstStyle/>
          <a:p>
            <a:pPr marL="0" indent="0" algn="l">
              <a:lnSpc>
                <a:spcPts val="8400"/>
              </a:lnSpc>
              <a:buNone/>
            </a:pPr>
            <a:r>
              <a:rPr lang="en-US" sz="8000" b="1" dirty="0">
                <a:solidFill>
                  <a:srgbClr val="3DD6B0"/>
                </a:solidFill>
                <a:latin typeface="IBM Plex Sans" pitchFamily="34" charset="0"/>
                <a:ea typeface="IBM Plex Sans" pitchFamily="34" charset="-122"/>
                <a:cs typeface="IBM Plex Sans" pitchFamily="34" charset="-120"/>
              </a:rPr>
              <a:t>9</a:t>
            </a:r>
            <a:endParaRPr lang="en-US" sz="8000" dirty="0"/>
          </a:p>
        </p:txBody>
      </p:sp>
      <p:sp>
        <p:nvSpPr>
          <p:cNvPr id="10" name="Text 8"/>
          <p:cNvSpPr/>
          <p:nvPr/>
        </p:nvSpPr>
        <p:spPr>
          <a:xfrm>
            <a:off x="4707388" y="3362703"/>
            <a:ext cx="2860540" cy="330182"/>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4F2EC"/>
                </a:solidFill>
                <a:latin typeface="IBM Plex Sans" pitchFamily="34" charset="0"/>
                <a:ea typeface="IBM Plex Sans" pitchFamily="34" charset="-122"/>
                <a:cs typeface="IBM Plex Sans" pitchFamily="34" charset="-120"/>
              </a:rPr>
              <a:t>Agents</a:t>
            </a:r>
            <a:endParaRPr lang="en-US" sz="2000" dirty="0"/>
          </a:p>
        </p:txBody>
      </p:sp>
      <p:sp>
        <p:nvSpPr>
          <p:cNvPr id="11" name="Text 9"/>
          <p:cNvSpPr/>
          <p:nvPr/>
        </p:nvSpPr>
        <p:spPr>
          <a:xfrm>
            <a:off x="4707388" y="3718268"/>
            <a:ext cx="2860540" cy="274259"/>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9C0CA"/>
                </a:solidFill>
                <a:latin typeface="IBM Plex Sans" pitchFamily="34" charset="0"/>
                <a:ea typeface="IBM Plex Sans" pitchFamily="34" charset="-122"/>
                <a:cs typeface="IBM Plex Sans" pitchFamily="34" charset="-120"/>
              </a:rPr>
              <a:t>Subagents that do the real work</a:t>
            </a:r>
            <a:endParaRPr lang="en-US" sz="1400" dirty="0"/>
          </a:p>
        </p:txBody>
      </p:sp>
      <p:sp>
        <p:nvSpPr>
          <p:cNvPr id="12" name="Shape 10"/>
          <p:cNvSpPr/>
          <p:nvPr/>
        </p:nvSpPr>
        <p:spPr>
          <a:xfrm>
            <a:off x="7992521" y="1940358"/>
            <a:ext cx="3386697" cy="2580409"/>
          </a:xfrm>
          <a:prstGeom prst="roundRect">
            <a:avLst>
              <a:gd name="adj" fmla="val 3937"/>
            </a:avLst>
          </a:prstGeom>
          <a:solidFill>
            <a:srgbClr val="14171C"/>
          </a:solidFill>
          <a:ln/>
        </p:spPr>
        <p:txBody>
          <a:bodyPr/>
          <a:lstStyle/>
          <a:p>
            <a:endParaRPr lang="LID4096"/>
          </a:p>
        </p:txBody>
      </p:sp>
      <p:sp>
        <p:nvSpPr>
          <p:cNvPr id="13" name="Text 11"/>
          <p:cNvSpPr/>
          <p:nvPr/>
        </p:nvSpPr>
        <p:spPr>
          <a:xfrm>
            <a:off x="8297303" y="2245139"/>
            <a:ext cx="2860447" cy="1092182"/>
          </a:xfrm>
          <a:prstGeom prst="rect">
            <a:avLst/>
          </a:prstGeom>
          <a:noFill/>
          <a:ln/>
        </p:spPr>
        <p:txBody>
          <a:bodyPr wrap="square" lIns="0" tIns="0" rIns="0" bIns="0" rtlCol="0" anchor="t">
            <a:normAutofit/>
          </a:bodyPr>
          <a:lstStyle/>
          <a:p>
            <a:pPr marL="0" indent="0" algn="l">
              <a:lnSpc>
                <a:spcPts val="8400"/>
              </a:lnSpc>
              <a:buNone/>
            </a:pPr>
            <a:r>
              <a:rPr lang="en-US" sz="8000" b="1" dirty="0">
                <a:solidFill>
                  <a:srgbClr val="3DD6B0"/>
                </a:solidFill>
                <a:latin typeface="IBM Plex Sans" pitchFamily="34" charset="0"/>
                <a:ea typeface="IBM Plex Sans" pitchFamily="34" charset="-122"/>
                <a:cs typeface="IBM Plex Sans" pitchFamily="34" charset="-120"/>
              </a:rPr>
              <a:t>8</a:t>
            </a:r>
            <a:endParaRPr lang="en-US" sz="8000" dirty="0"/>
          </a:p>
        </p:txBody>
      </p:sp>
      <p:sp>
        <p:nvSpPr>
          <p:cNvPr id="14" name="Text 12"/>
          <p:cNvSpPr/>
          <p:nvPr/>
        </p:nvSpPr>
        <p:spPr>
          <a:xfrm>
            <a:off x="8297303" y="3362703"/>
            <a:ext cx="2860447" cy="330182"/>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4F2EC"/>
                </a:solidFill>
                <a:latin typeface="IBM Plex Sans" pitchFamily="34" charset="0"/>
                <a:ea typeface="IBM Plex Sans" pitchFamily="34" charset="-122"/>
                <a:cs typeface="IBM Plex Sans" pitchFamily="34" charset="-120"/>
              </a:rPr>
              <a:t>Pattern guides</a:t>
            </a:r>
            <a:endParaRPr lang="en-US" sz="2000" dirty="0"/>
          </a:p>
        </p:txBody>
      </p:sp>
      <p:sp>
        <p:nvSpPr>
          <p:cNvPr id="15" name="Text 13"/>
          <p:cNvSpPr/>
          <p:nvPr/>
        </p:nvSpPr>
        <p:spPr>
          <a:xfrm>
            <a:off x="8297303" y="3718268"/>
            <a:ext cx="2860447" cy="52311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9C0CA"/>
                </a:solidFill>
                <a:latin typeface="IBM Plex Sans" pitchFamily="34" charset="0"/>
                <a:ea typeface="IBM Plex Sans" pitchFamily="34" charset="-122"/>
                <a:cs typeface="IBM Plex Sans" pitchFamily="34" charset="-120"/>
              </a:rPr>
              <a:t>CQRS, API, testing, MVVM and more</a:t>
            </a:r>
            <a:endParaRPr lang="en-US" sz="1400" dirty="0"/>
          </a:p>
        </p:txBody>
      </p:sp>
      <p:sp>
        <p:nvSpPr>
          <p:cNvPr id="16" name="Text 14"/>
          <p:cNvSpPr/>
          <p:nvPr/>
        </p:nvSpPr>
        <p:spPr>
          <a:xfrm>
            <a:off x="812782" y="4876330"/>
            <a:ext cx="10883429" cy="30988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260"/>
                </a:solidFill>
                <a:latin typeface="IBM Plex Sans" pitchFamily="34" charset="0"/>
                <a:ea typeface="IBM Plex Sans" pitchFamily="34" charset="-122"/>
                <a:cs typeface="IBM Plex Sans" pitchFamily="34" charset="-120"/>
              </a:rPr>
              <a:t>Also: code templates, a pre-submission checklist, a validation suite and an upgrade script.</a:t>
            </a:r>
            <a:endParaRPr lang="en-US" sz="1600" dirty="0"/>
          </a:p>
        </p:txBody>
      </p:sp>
      <p:sp>
        <p:nvSpPr>
          <p:cNvPr id="17" name="Text 15"/>
          <p:cNvSpPr/>
          <p:nvPr/>
        </p:nvSpPr>
        <p:spPr>
          <a:xfrm>
            <a:off x="812782" y="6238242"/>
            <a:ext cx="6540500"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I-Synergy/AI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71C"/>
        </a:solidFill>
        <a:effectLst/>
      </p:bgPr>
    </p:bg>
    <p:spTree>
      <p:nvGrpSpPr>
        <p:cNvPr id="1" name=""/>
        <p:cNvGrpSpPr/>
        <p:nvPr/>
      </p:nvGrpSpPr>
      <p:grpSpPr>
        <a:xfrm>
          <a:off x="0" y="0"/>
          <a:ext cx="0" cy="0"/>
          <a:chOff x="0" y="0"/>
          <a:chExt cx="0" cy="0"/>
        </a:xfrm>
      </p:grpSpPr>
      <p:sp>
        <p:nvSpPr>
          <p:cNvPr id="2" name="Text 0"/>
          <p:cNvSpPr/>
          <p:nvPr/>
        </p:nvSpPr>
        <p:spPr>
          <a:xfrm>
            <a:off x="812782" y="812781"/>
            <a:ext cx="10883429" cy="274259"/>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3DD6B0"/>
                </a:solidFill>
                <a:latin typeface="IBM Plex Sans" pitchFamily="34" charset="0"/>
                <a:ea typeface="IBM Plex Sans" pitchFamily="34" charset="-122"/>
                <a:cs typeface="IBM Plex Sans" pitchFamily="34" charset="-120"/>
              </a:rPr>
              <a:t>AGENTS.MD</a:t>
            </a:r>
            <a:endParaRPr lang="en-US" sz="1400" dirty="0"/>
          </a:p>
        </p:txBody>
      </p:sp>
      <p:sp>
        <p:nvSpPr>
          <p:cNvPr id="3" name="Text 1"/>
          <p:cNvSpPr>
            <a:spLocks noGrp="1"/>
          </p:cNvSpPr>
          <p:nvPr>
            <p:ph type="title"/>
          </p:nvPr>
        </p:nvSpPr>
        <p:spPr>
          <a:xfrm>
            <a:off x="812782" y="1137768"/>
            <a:ext cx="10883429" cy="472426"/>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4F2EC"/>
                </a:solidFill>
                <a:latin typeface="IBM Plex Sans" pitchFamily="34" charset="0"/>
                <a:ea typeface="IBM Plex Sans" pitchFamily="34" charset="-122"/>
                <a:cs typeface="IBM Plex Sans" pitchFamily="34" charset="-120"/>
              </a:rPr>
              <a:t>One file that every AI tool loads automatically</a:t>
            </a:r>
            <a:endParaRPr lang="en-US" sz="3200" dirty="0"/>
          </a:p>
        </p:txBody>
      </p:sp>
      <p:sp>
        <p:nvSpPr>
          <p:cNvPr id="4" name="Shape 2"/>
          <p:cNvSpPr/>
          <p:nvPr/>
        </p:nvSpPr>
        <p:spPr>
          <a:xfrm>
            <a:off x="812782" y="1787920"/>
            <a:ext cx="10566436" cy="1249615"/>
          </a:xfrm>
          <a:prstGeom prst="roundRect">
            <a:avLst>
              <a:gd name="adj" fmla="val 8131"/>
            </a:avLst>
          </a:prstGeom>
          <a:solidFill>
            <a:srgbClr val="1F242C"/>
          </a:solidFill>
          <a:ln/>
        </p:spPr>
        <p:txBody>
          <a:bodyPr/>
          <a:lstStyle/>
          <a:p>
            <a:endParaRPr lang="LID4096"/>
          </a:p>
        </p:txBody>
      </p:sp>
      <p:sp>
        <p:nvSpPr>
          <p:cNvPr id="5" name="Shape 3"/>
          <p:cNvSpPr/>
          <p:nvPr/>
        </p:nvSpPr>
        <p:spPr>
          <a:xfrm>
            <a:off x="812782" y="1787920"/>
            <a:ext cx="10566436" cy="1249615"/>
          </a:xfrm>
          <a:custGeom>
            <a:avLst/>
            <a:gdLst/>
            <a:ahLst/>
            <a:cxnLst/>
            <a:rect l="l" t="t" r="r" b="b"/>
            <a:pathLst>
              <a:path w="10566436" h="1249615">
                <a:moveTo>
                  <a:pt x="101600" y="1249615"/>
                </a:moveTo>
                <a:lnTo>
                  <a:pt x="101600" y="1249615"/>
                </a:lnTo>
                <a:arcTo wR="101600" hR="101600" stAng="5400000" swAng="5400000"/>
                <a:lnTo>
                  <a:pt x="0" y="101600"/>
                </a:lnTo>
                <a:arcTo wR="101600" hR="101600" stAng="10800000" swAng="5400000"/>
                <a:lnTo>
                  <a:pt x="101600" y="0"/>
                </a:lnTo>
                <a:arcTo wR="50800" hR="101600" stAng="16200000" swAng="-5400000"/>
                <a:lnTo>
                  <a:pt x="50800" y="1148015"/>
                </a:lnTo>
                <a:arcTo wR="50800" hR="101600" stAng="10800000" swAng="-5400000"/>
                <a:close/>
              </a:path>
            </a:pathLst>
          </a:custGeom>
          <a:solidFill>
            <a:srgbClr val="3DD6B0"/>
          </a:solidFill>
          <a:ln/>
        </p:spPr>
        <p:txBody>
          <a:bodyPr/>
          <a:lstStyle/>
          <a:p>
            <a:endParaRPr lang="LID4096"/>
          </a:p>
        </p:txBody>
      </p:sp>
      <p:sp>
        <p:nvSpPr>
          <p:cNvPr id="6" name="Text 4"/>
          <p:cNvSpPr/>
          <p:nvPr/>
        </p:nvSpPr>
        <p:spPr>
          <a:xfrm>
            <a:off x="1087528" y="1965703"/>
            <a:ext cx="10365020" cy="629913"/>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F4F2EC"/>
                </a:solidFill>
                <a:latin typeface="IBM Plex Sans" pitchFamily="34" charset="0"/>
                <a:ea typeface="IBM Plex Sans" pitchFamily="34" charset="-122"/>
                <a:cs typeface="IBM Plex Sans" pitchFamily="34" charset="-120"/>
              </a:rPr>
              <a:t>“Your role is to plan, delegate, review, and orchestrate — not to write code directly in the main conversation.”</a:t>
            </a:r>
            <a:endParaRPr lang="en-US" sz="1700" dirty="0"/>
          </a:p>
        </p:txBody>
      </p:sp>
      <p:sp>
        <p:nvSpPr>
          <p:cNvPr id="7" name="Text 5"/>
          <p:cNvSpPr/>
          <p:nvPr/>
        </p:nvSpPr>
        <p:spPr>
          <a:xfrm>
            <a:off x="1087528" y="2646344"/>
            <a:ext cx="10365020"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B94A1"/>
                </a:solidFill>
                <a:latin typeface="IBM Plex Sans" pitchFamily="34" charset="0"/>
                <a:ea typeface="IBM Plex Sans" pitchFamily="34" charset="-122"/>
                <a:cs typeface="IBM Plex Sans" pitchFamily="34" charset="-120"/>
              </a:rPr>
              <a:t>From the Identity section · 196 lines · read by Claude Code, Copilot and Reasonix</a:t>
            </a:r>
            <a:endParaRPr lang="en-US" sz="1200" dirty="0"/>
          </a:p>
        </p:txBody>
      </p:sp>
      <p:sp>
        <p:nvSpPr>
          <p:cNvPr id="8" name="Shape 6"/>
          <p:cNvSpPr/>
          <p:nvPr/>
        </p:nvSpPr>
        <p:spPr>
          <a:xfrm>
            <a:off x="812782" y="3240664"/>
            <a:ext cx="3437479" cy="1058935"/>
          </a:xfrm>
          <a:prstGeom prst="roundRect">
            <a:avLst>
              <a:gd name="adj" fmla="val 9595"/>
            </a:avLst>
          </a:prstGeom>
          <a:solidFill>
            <a:srgbClr val="1F242C"/>
          </a:solidFill>
          <a:ln/>
        </p:spPr>
        <p:txBody>
          <a:bodyPr/>
          <a:lstStyle/>
          <a:p>
            <a:endParaRPr lang="LID4096"/>
          </a:p>
        </p:txBody>
      </p:sp>
      <p:sp>
        <p:nvSpPr>
          <p:cNvPr id="9" name="Text 7"/>
          <p:cNvSpPr/>
          <p:nvPr/>
        </p:nvSpPr>
        <p:spPr>
          <a:xfrm>
            <a:off x="990564" y="3393010"/>
            <a:ext cx="3174372"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3DD6B0"/>
                </a:solidFill>
                <a:latin typeface="IBM Plex Sans" pitchFamily="34" charset="0"/>
                <a:ea typeface="IBM Plex Sans" pitchFamily="34" charset="-122"/>
                <a:cs typeface="IBM Plex Sans" pitchFamily="34" charset="-120"/>
              </a:rPr>
              <a:t>Session memory</a:t>
            </a:r>
            <a:endParaRPr lang="en-US" sz="1500" dirty="0"/>
          </a:p>
        </p:txBody>
      </p:sp>
      <p:sp>
        <p:nvSpPr>
          <p:cNvPr id="10" name="Text 8"/>
          <p:cNvSpPr/>
          <p:nvPr/>
        </p:nvSpPr>
        <p:spPr>
          <a:xfrm>
            <a:off x="990564" y="3685074"/>
            <a:ext cx="3174372" cy="48757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0CA"/>
                </a:solidFill>
                <a:latin typeface="IBM Plex Sans" pitchFamily="34" charset="0"/>
                <a:ea typeface="IBM Plex Sans" pitchFamily="34" charset="-122"/>
                <a:cs typeface="IBM Plex Sans" pitchFamily="34" charset="-120"/>
              </a:rPr>
              <a:t>Read the handoff before starting, write it before the final reply.</a:t>
            </a:r>
            <a:endParaRPr lang="en-US" sz="1300" dirty="0"/>
          </a:p>
        </p:txBody>
      </p:sp>
      <p:sp>
        <p:nvSpPr>
          <p:cNvPr id="11" name="Shape 9"/>
          <p:cNvSpPr/>
          <p:nvPr/>
        </p:nvSpPr>
        <p:spPr>
          <a:xfrm>
            <a:off x="4377260" y="3240664"/>
            <a:ext cx="3437479" cy="1058935"/>
          </a:xfrm>
          <a:prstGeom prst="roundRect">
            <a:avLst>
              <a:gd name="adj" fmla="val 9595"/>
            </a:avLst>
          </a:prstGeom>
          <a:solidFill>
            <a:srgbClr val="1F242C"/>
          </a:solidFill>
          <a:ln/>
        </p:spPr>
        <p:txBody>
          <a:bodyPr/>
          <a:lstStyle/>
          <a:p>
            <a:endParaRPr lang="LID4096"/>
          </a:p>
        </p:txBody>
      </p:sp>
      <p:sp>
        <p:nvSpPr>
          <p:cNvPr id="12" name="Text 10"/>
          <p:cNvSpPr/>
          <p:nvPr/>
        </p:nvSpPr>
        <p:spPr>
          <a:xfrm>
            <a:off x="4555043" y="3393010"/>
            <a:ext cx="3174372"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3DD6B0"/>
                </a:solidFill>
                <a:latin typeface="IBM Plex Sans" pitchFamily="34" charset="0"/>
                <a:ea typeface="IBM Plex Sans" pitchFamily="34" charset="-122"/>
                <a:cs typeface="IBM Plex Sans" pitchFamily="34" charset="-120"/>
              </a:rPr>
              <a:t>Task execution</a:t>
            </a:r>
            <a:endParaRPr lang="en-US" sz="1500" dirty="0"/>
          </a:p>
        </p:txBody>
      </p:sp>
      <p:sp>
        <p:nvSpPr>
          <p:cNvPr id="13" name="Text 11"/>
          <p:cNvSpPr/>
          <p:nvPr/>
        </p:nvSpPr>
        <p:spPr>
          <a:xfrm>
            <a:off x="4555043" y="3685074"/>
            <a:ext cx="3174372" cy="48757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0CA"/>
                </a:solidFill>
                <a:latin typeface="IBM Plex Sans" pitchFamily="34" charset="0"/>
                <a:ea typeface="IBM Plex Sans" pitchFamily="34" charset="-122"/>
                <a:cs typeface="IBM Plex Sans" pitchFamily="34" charset="-120"/>
              </a:rPr>
              <a:t>Plan first, observe after every edit, convene a council for big decisions.</a:t>
            </a:r>
            <a:endParaRPr lang="en-US" sz="1300" dirty="0"/>
          </a:p>
        </p:txBody>
      </p:sp>
      <p:sp>
        <p:nvSpPr>
          <p:cNvPr id="14" name="Shape 12"/>
          <p:cNvSpPr/>
          <p:nvPr/>
        </p:nvSpPr>
        <p:spPr>
          <a:xfrm>
            <a:off x="7941739" y="3240664"/>
            <a:ext cx="3437479" cy="1058935"/>
          </a:xfrm>
          <a:prstGeom prst="roundRect">
            <a:avLst>
              <a:gd name="adj" fmla="val 9595"/>
            </a:avLst>
          </a:prstGeom>
          <a:solidFill>
            <a:srgbClr val="1F242C"/>
          </a:solidFill>
          <a:ln/>
        </p:spPr>
        <p:txBody>
          <a:bodyPr/>
          <a:lstStyle/>
          <a:p>
            <a:endParaRPr lang="LID4096"/>
          </a:p>
        </p:txBody>
      </p:sp>
      <p:sp>
        <p:nvSpPr>
          <p:cNvPr id="15" name="Text 13"/>
          <p:cNvSpPr/>
          <p:nvPr/>
        </p:nvSpPr>
        <p:spPr>
          <a:xfrm>
            <a:off x="8119521" y="3393010"/>
            <a:ext cx="3174372"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3DD6B0"/>
                </a:solidFill>
                <a:latin typeface="IBM Plex Sans" pitchFamily="34" charset="0"/>
                <a:ea typeface="IBM Plex Sans" pitchFamily="34" charset="-122"/>
                <a:cs typeface="IBM Plex Sans" pitchFamily="34" charset="-120"/>
              </a:rPr>
              <a:t>Subagent delegation</a:t>
            </a:r>
            <a:endParaRPr lang="en-US" sz="1500" dirty="0"/>
          </a:p>
        </p:txBody>
      </p:sp>
      <p:sp>
        <p:nvSpPr>
          <p:cNvPr id="16" name="Text 14"/>
          <p:cNvSpPr/>
          <p:nvPr/>
        </p:nvSpPr>
        <p:spPr>
          <a:xfrm>
            <a:off x="8119521" y="3685074"/>
            <a:ext cx="3174372" cy="48757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0CA"/>
                </a:solidFill>
                <a:latin typeface="IBM Plex Sans" pitchFamily="34" charset="0"/>
                <a:ea typeface="IBM Plex Sans" pitchFamily="34" charset="-122"/>
                <a:cs typeface="IBM Plex Sans" pitchFamily="34" charset="-120"/>
              </a:rPr>
              <a:t>Nine specialist agents write the code; the main chat only orchestrates.</a:t>
            </a:r>
            <a:endParaRPr lang="en-US" sz="1300" dirty="0"/>
          </a:p>
        </p:txBody>
      </p:sp>
      <p:sp>
        <p:nvSpPr>
          <p:cNvPr id="17" name="Shape 15"/>
          <p:cNvSpPr/>
          <p:nvPr/>
        </p:nvSpPr>
        <p:spPr>
          <a:xfrm>
            <a:off x="812782" y="4426598"/>
            <a:ext cx="3437479" cy="1058935"/>
          </a:xfrm>
          <a:prstGeom prst="roundRect">
            <a:avLst>
              <a:gd name="adj" fmla="val 9595"/>
            </a:avLst>
          </a:prstGeom>
          <a:solidFill>
            <a:srgbClr val="1F242C"/>
          </a:solidFill>
          <a:ln/>
        </p:spPr>
        <p:txBody>
          <a:bodyPr/>
          <a:lstStyle/>
          <a:p>
            <a:endParaRPr lang="LID4096"/>
          </a:p>
        </p:txBody>
      </p:sp>
      <p:sp>
        <p:nvSpPr>
          <p:cNvPr id="18" name="Text 16"/>
          <p:cNvSpPr/>
          <p:nvPr/>
        </p:nvSpPr>
        <p:spPr>
          <a:xfrm>
            <a:off x="990564" y="4578944"/>
            <a:ext cx="3174372"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3DD6B0"/>
                </a:solidFill>
                <a:latin typeface="IBM Plex Sans" pitchFamily="34" charset="0"/>
                <a:ea typeface="IBM Plex Sans" pitchFamily="34" charset="-122"/>
                <a:cs typeface="IBM Plex Sans" pitchFamily="34" charset="-120"/>
              </a:rPr>
              <a:t>Critical coding rules</a:t>
            </a:r>
            <a:endParaRPr lang="en-US" sz="1500" dirty="0"/>
          </a:p>
        </p:txBody>
      </p:sp>
      <p:sp>
        <p:nvSpPr>
          <p:cNvPr id="19" name="Text 17"/>
          <p:cNvSpPr/>
          <p:nvPr/>
        </p:nvSpPr>
        <p:spPr>
          <a:xfrm>
            <a:off x="990564" y="4871008"/>
            <a:ext cx="3174372" cy="48757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0CA"/>
                </a:solidFill>
                <a:latin typeface="IBM Plex Sans" pitchFamily="34" charset="0"/>
                <a:ea typeface="IBM Plex Sans" pitchFamily="34" charset="-122"/>
                <a:cs typeface="IBM Plex Sans" pitchFamily="34" charset="-120"/>
              </a:rPr>
              <a:t>Thirteen non-negotiables, written as correct and wrong code.</a:t>
            </a:r>
            <a:endParaRPr lang="en-US" sz="1300" dirty="0"/>
          </a:p>
        </p:txBody>
      </p:sp>
      <p:sp>
        <p:nvSpPr>
          <p:cNvPr id="20" name="Shape 18"/>
          <p:cNvSpPr/>
          <p:nvPr/>
        </p:nvSpPr>
        <p:spPr>
          <a:xfrm>
            <a:off x="4377260" y="4426598"/>
            <a:ext cx="3437479" cy="1058935"/>
          </a:xfrm>
          <a:prstGeom prst="roundRect">
            <a:avLst>
              <a:gd name="adj" fmla="val 9595"/>
            </a:avLst>
          </a:prstGeom>
          <a:solidFill>
            <a:srgbClr val="1F242C"/>
          </a:solidFill>
          <a:ln/>
        </p:spPr>
        <p:txBody>
          <a:bodyPr/>
          <a:lstStyle/>
          <a:p>
            <a:endParaRPr lang="LID4096"/>
          </a:p>
        </p:txBody>
      </p:sp>
      <p:sp>
        <p:nvSpPr>
          <p:cNvPr id="21" name="Text 19"/>
          <p:cNvSpPr/>
          <p:nvPr/>
        </p:nvSpPr>
        <p:spPr>
          <a:xfrm>
            <a:off x="4555043" y="4578944"/>
            <a:ext cx="3174372"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3DD6B0"/>
                </a:solidFill>
                <a:latin typeface="IBM Plex Sans" pitchFamily="34" charset="0"/>
                <a:ea typeface="IBM Plex Sans" pitchFamily="34" charset="-122"/>
                <a:cs typeface="IBM Plex Sans" pitchFamily="34" charset="-120"/>
              </a:rPr>
              <a:t>After every change</a:t>
            </a:r>
            <a:endParaRPr lang="en-US" sz="1500" dirty="0"/>
          </a:p>
        </p:txBody>
      </p:sp>
      <p:sp>
        <p:nvSpPr>
          <p:cNvPr id="22" name="Text 20"/>
          <p:cNvSpPr/>
          <p:nvPr/>
        </p:nvSpPr>
        <p:spPr>
          <a:xfrm>
            <a:off x="4555043" y="4871008"/>
            <a:ext cx="3174372" cy="48757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0CA"/>
                </a:solidFill>
                <a:latin typeface="IBM Plex Sans" pitchFamily="34" charset="0"/>
                <a:ea typeface="IBM Plex Sans" pitchFamily="34" charset="-122"/>
                <a:cs typeface="IBM Plex Sans" pitchFamily="34" charset="-120"/>
              </a:rPr>
              <a:t>A Stop hook runs dotnet build once at the end of a task.</a:t>
            </a:r>
            <a:endParaRPr lang="en-US" sz="1300" dirty="0"/>
          </a:p>
        </p:txBody>
      </p:sp>
      <p:sp>
        <p:nvSpPr>
          <p:cNvPr id="23" name="Shape 21"/>
          <p:cNvSpPr/>
          <p:nvPr/>
        </p:nvSpPr>
        <p:spPr>
          <a:xfrm>
            <a:off x="7941739" y="4426598"/>
            <a:ext cx="3437479" cy="1058935"/>
          </a:xfrm>
          <a:prstGeom prst="roundRect">
            <a:avLst>
              <a:gd name="adj" fmla="val 9595"/>
            </a:avLst>
          </a:prstGeom>
          <a:solidFill>
            <a:srgbClr val="1F242C"/>
          </a:solidFill>
          <a:ln/>
        </p:spPr>
        <p:txBody>
          <a:bodyPr/>
          <a:lstStyle/>
          <a:p>
            <a:endParaRPr lang="LID4096"/>
          </a:p>
        </p:txBody>
      </p:sp>
      <p:sp>
        <p:nvSpPr>
          <p:cNvPr id="24" name="Text 22"/>
          <p:cNvSpPr/>
          <p:nvPr/>
        </p:nvSpPr>
        <p:spPr>
          <a:xfrm>
            <a:off x="8119521" y="4578944"/>
            <a:ext cx="3174372"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3DD6B0"/>
                </a:solidFill>
                <a:latin typeface="IBM Plex Sans" pitchFamily="34" charset="0"/>
                <a:ea typeface="IBM Plex Sans" pitchFamily="34" charset="-122"/>
                <a:cs typeface="IBM Plex Sans" pitchFamily="34" charset="-120"/>
              </a:rPr>
              <a:t>Configuration</a:t>
            </a:r>
            <a:endParaRPr lang="en-US" sz="1500" dirty="0"/>
          </a:p>
        </p:txBody>
      </p:sp>
      <p:sp>
        <p:nvSpPr>
          <p:cNvPr id="25" name="Text 23"/>
          <p:cNvSpPr/>
          <p:nvPr/>
        </p:nvSpPr>
        <p:spPr>
          <a:xfrm>
            <a:off x="8119521" y="4871008"/>
            <a:ext cx="3174372" cy="48757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0CA"/>
                </a:solidFill>
                <a:latin typeface="IBM Plex Sans" pitchFamily="34" charset="0"/>
                <a:ea typeface="IBM Plex Sans" pitchFamily="34" charset="-122"/>
                <a:cs typeface="IBM Plex Sans" pitchFamily="34" charset="-120"/>
              </a:rPr>
              <a:t>.ai/ is the single source of truth; scratch files go in .ai/tmp.</a:t>
            </a:r>
            <a:endParaRPr lang="en-US" sz="1300" dirty="0"/>
          </a:p>
        </p:txBody>
      </p:sp>
      <p:sp>
        <p:nvSpPr>
          <p:cNvPr id="26" name="Text 24"/>
          <p:cNvSpPr/>
          <p:nvPr/>
        </p:nvSpPr>
        <p:spPr>
          <a:xfrm>
            <a:off x="812782" y="6238242"/>
            <a:ext cx="6540500"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B94A1"/>
                </a:solidFill>
                <a:latin typeface="IBM Plex Sans" pitchFamily="34" charset="0"/>
                <a:ea typeface="IBM Plex Sans" pitchFamily="34" charset="-122"/>
                <a:cs typeface="IBM Plex Sans" pitchFamily="34" charset="-120"/>
              </a:rPr>
              <a:t>I-Synergy/AI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782" y="812781"/>
            <a:ext cx="10883429" cy="274259"/>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0B7A62"/>
                </a:solidFill>
                <a:latin typeface="IBM Plex Sans" pitchFamily="34" charset="0"/>
                <a:ea typeface="IBM Plex Sans" pitchFamily="34" charset="-122"/>
                <a:cs typeface="IBM Plex Sans" pitchFamily="34" charset="-120"/>
              </a:rPr>
              <a:t>ORCHESTRATION</a:t>
            </a:r>
            <a:endParaRPr lang="en-US" sz="1400" dirty="0"/>
          </a:p>
        </p:txBody>
      </p:sp>
      <p:sp>
        <p:nvSpPr>
          <p:cNvPr id="3" name="Text 1"/>
          <p:cNvSpPr>
            <a:spLocks noGrp="1"/>
          </p:cNvSpPr>
          <p:nvPr>
            <p:ph type="title"/>
          </p:nvPr>
        </p:nvSpPr>
        <p:spPr>
          <a:xfrm>
            <a:off x="812782" y="1137766"/>
            <a:ext cx="10883429" cy="416502"/>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4171C"/>
                </a:solidFill>
                <a:latin typeface="IBM Plex Sans" pitchFamily="34" charset="0"/>
                <a:ea typeface="IBM Plex Sans" pitchFamily="34" charset="-122"/>
                <a:cs typeface="IBM Plex Sans" pitchFamily="34" charset="-120"/>
              </a:rPr>
              <a:t>The main conversation orchestrates; nine agents do the work</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27" y="1768979"/>
          <a:ext cx="10554890" cy="3580890"/>
        </p:xfrm>
        <a:graphic>
          <a:graphicData uri="http://schemas.openxmlformats.org/drawingml/2006/table">
            <a:tbl>
              <a:tblPr/>
              <a:tblGrid>
                <a:gridCol w="2110978">
                  <a:extLst>
                    <a:ext uri="{9D8B030D-6E8A-4147-A177-3AD203B41FA5}">
                      <a16:colId xmlns:a16="http://schemas.microsoft.com/office/drawing/2014/main" val="20000"/>
                    </a:ext>
                  </a:extLst>
                </a:gridCol>
                <a:gridCol w="8443912">
                  <a:extLst>
                    <a:ext uri="{9D8B030D-6E8A-4147-A177-3AD203B41FA5}">
                      <a16:colId xmlns:a16="http://schemas.microsoft.com/office/drawing/2014/main" val="20001"/>
                    </a:ext>
                  </a:extLst>
                </a:gridCol>
              </a:tblGrid>
              <a:tr h="358089">
                <a:tc>
                  <a:txBody>
                    <a:bodyPr/>
                    <a:lstStyle/>
                    <a:p>
                      <a:pPr marL="0" indent="0">
                        <a:lnSpc>
                          <a:spcPts val="1820"/>
                        </a:lnSpc>
                        <a:buNone/>
                      </a:pPr>
                      <a:r>
                        <a:rPr lang="en-US" sz="1300" b="1" dirty="0">
                          <a:solidFill>
                            <a:srgbClr val="0B7A62"/>
                          </a:solidFill>
                          <a:latin typeface="IBM Plex Sans" pitchFamily="34" charset="0"/>
                          <a:ea typeface="IBM Plex Sans" pitchFamily="34" charset="-122"/>
                          <a:cs typeface="IBM Plex Sans" pitchFamily="34" charset="-120"/>
                        </a:rPr>
                        <a:t>Agent</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B6B3AA"/>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6B3AA"/>
                      </a:solidFill>
                      <a:prstDash val="solid"/>
                      <a:round/>
                      <a:headEnd type="none" w="med" len="med"/>
                      <a:tailEnd type="none" w="med" len="med"/>
                    </a:lnB>
                    <a:solidFill>
                      <a:srgbClr val="E4E0D4"/>
                    </a:solidFill>
                  </a:tcPr>
                </a:tc>
                <a:tc>
                  <a:txBody>
                    <a:bodyPr/>
                    <a:lstStyle/>
                    <a:p>
                      <a:pPr marL="0" indent="0">
                        <a:lnSpc>
                          <a:spcPts val="1820"/>
                        </a:lnSpc>
                        <a:buNone/>
                      </a:pPr>
                      <a:r>
                        <a:rPr lang="en-US" sz="1300" b="1" dirty="0">
                          <a:solidFill>
                            <a:srgbClr val="0B7A62"/>
                          </a:solidFill>
                          <a:latin typeface="IBM Plex Sans" pitchFamily="34" charset="0"/>
                          <a:ea typeface="IBM Plex Sans" pitchFamily="34" charset="-122"/>
                          <a:cs typeface="IBM Plex Sans" pitchFamily="34" charset="-120"/>
                        </a:rPr>
                        <a:t>Role</a:t>
                      </a:r>
                      <a:endParaRPr lang="en-US" sz="1300" dirty="0">
                        <a:latin typeface="IBM Plex Sans" charset="0"/>
                        <a:ea typeface="IBM Plex Sans" charset="0"/>
                        <a:cs typeface="IBM Plex Sans" charset="0"/>
                      </a:endParaRPr>
                    </a:p>
                  </a:txBody>
                  <a:tcPr marL="57785" marR="57785" marT="57785" marB="57785">
                    <a:lnL w="12700" cap="flat" cmpd="sng" algn="ctr">
                      <a:solidFill>
                        <a:srgbClr val="B6B3AA"/>
                      </a:solidFill>
                      <a:prstDash val="solid"/>
                      <a:round/>
                      <a:headEnd type="none" w="med" len="med"/>
                      <a:tailEnd type="none" w="med" len="med"/>
                    </a:lnL>
                    <a:lnR w="12700" cap="flat" cmpd="sng" algn="ctr">
                      <a:solidFill>
                        <a:srgbClr val="B6B3AA"/>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6B3AA"/>
                      </a:solidFill>
                      <a:prstDash val="solid"/>
                      <a:round/>
                      <a:headEnd type="none" w="med" len="med"/>
                      <a:tailEnd type="none" w="med" len="med"/>
                    </a:lnB>
                    <a:solidFill>
                      <a:srgbClr val="E4E0D4"/>
                    </a:solidFill>
                  </a:tcPr>
                </a:tc>
                <a:extLst>
                  <a:ext uri="{0D108BD9-81ED-4DB2-BD59-A6C34878D82A}">
                    <a16:rowId xmlns:a16="http://schemas.microsoft.com/office/drawing/2014/main" val="10000"/>
                  </a:ext>
                </a:extLst>
              </a:tr>
              <a:tr h="358089">
                <a:tc>
                  <a:txBody>
                    <a:bodyPr/>
                    <a:lstStyle/>
                    <a:p>
                      <a:pPr marL="0" indent="0">
                        <a:lnSpc>
                          <a:spcPts val="1820"/>
                        </a:lnSpc>
                        <a:buNone/>
                      </a:pPr>
                      <a:r>
                        <a:rPr lang="en-US" sz="1300" dirty="0">
                          <a:solidFill>
                            <a:srgbClr val="14171C"/>
                          </a:solidFill>
                          <a:latin typeface="IBM Plex Sans" pitchFamily="34" charset="0"/>
                          <a:ea typeface="IBM Plex Sans" pitchFamily="34" charset="-122"/>
                          <a:cs typeface="IBM Plex Sans" pitchFamily="34" charset="-120"/>
                        </a:rPr>
                        <a:t>architect</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6B3AA"/>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820"/>
                        </a:lnSpc>
                        <a:buNone/>
                      </a:pPr>
                      <a:r>
                        <a:rPr lang="en-US" sz="1300" dirty="0">
                          <a:solidFill>
                            <a:srgbClr val="14171C"/>
                          </a:solidFill>
                          <a:latin typeface="IBM Plex Sans" pitchFamily="34" charset="0"/>
                          <a:ea typeface="IBM Plex Sans" pitchFamily="34" charset="-122"/>
                          <a:cs typeface="IBM Plex Sans" pitchFamily="34" charset="-120"/>
                        </a:rPr>
                        <a:t>Feature design, pattern selection, component boundaries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6B3AA"/>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1"/>
                  </a:ext>
                </a:extLst>
              </a:tr>
              <a:tr h="358089">
                <a:tc>
                  <a:txBody>
                    <a:bodyPr/>
                    <a:lstStyle/>
                    <a:p>
                      <a:pPr marL="0" indent="0">
                        <a:lnSpc>
                          <a:spcPts val="1820"/>
                        </a:lnSpc>
                        <a:buNone/>
                      </a:pPr>
                      <a:r>
                        <a:rPr lang="en-US" sz="1300" dirty="0">
                          <a:solidFill>
                            <a:srgbClr val="14171C"/>
                          </a:solidFill>
                          <a:latin typeface="IBM Plex Sans" pitchFamily="34" charset="0"/>
                          <a:ea typeface="IBM Plex Sans" pitchFamily="34" charset="-122"/>
                          <a:cs typeface="IBM Plex Sans" pitchFamily="34" charset="-120"/>
                        </a:rPr>
                        <a:t>reviewer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BBB9B0"/>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BB9B0"/>
                      </a:solidFill>
                      <a:prstDash val="solid"/>
                      <a:round/>
                      <a:headEnd type="none" w="med" len="med"/>
                      <a:tailEnd type="none" w="med" len="med"/>
                    </a:lnB>
                    <a:solidFill>
                      <a:srgbClr val="EAE7DC"/>
                    </a:solidFill>
                  </a:tcPr>
                </a:tc>
                <a:tc>
                  <a:txBody>
                    <a:bodyPr/>
                    <a:lstStyle/>
                    <a:p>
                      <a:pPr marL="0" indent="0">
                        <a:lnSpc>
                          <a:spcPts val="1820"/>
                        </a:lnSpc>
                        <a:buNone/>
                      </a:pPr>
                      <a:r>
                        <a:rPr lang="en-US" sz="1300" dirty="0">
                          <a:solidFill>
                            <a:srgbClr val="14171C"/>
                          </a:solidFill>
                          <a:latin typeface="IBM Plex Sans" pitchFamily="34" charset="0"/>
                          <a:ea typeface="IBM Plex Sans" pitchFamily="34" charset="-122"/>
                          <a:cs typeface="IBM Plex Sans" pitchFamily="34" charset="-120"/>
                        </a:rPr>
                        <a:t>Code quality, SOLID, CQRS compliance, ISO/IEC 25010 findings</a:t>
                      </a:r>
                      <a:endParaRPr lang="en-US" sz="1300" dirty="0">
                        <a:latin typeface="IBM Plex Sans" charset="0"/>
                        <a:ea typeface="IBM Plex Sans" charset="0"/>
                        <a:cs typeface="IBM Plex Sans" charset="0"/>
                      </a:endParaRPr>
                    </a:p>
                  </a:txBody>
                  <a:tcPr marL="57785" marR="57785" marT="57785" marB="57785">
                    <a:lnL w="12700" cap="flat" cmpd="sng" algn="ctr">
                      <a:solidFill>
                        <a:srgbClr val="BBB9B0"/>
                      </a:solidFill>
                      <a:prstDash val="solid"/>
                      <a:round/>
                      <a:headEnd type="none" w="med" len="med"/>
                      <a:tailEnd type="none" w="med" len="med"/>
                    </a:lnL>
                    <a:lnR w="12700" cap="flat" cmpd="sng" algn="ctr">
                      <a:solidFill>
                        <a:srgbClr val="BBB9B0"/>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BB9B0"/>
                      </a:solidFill>
                      <a:prstDash val="solid"/>
                      <a:round/>
                      <a:headEnd type="none" w="med" len="med"/>
                      <a:tailEnd type="none" w="med" len="med"/>
                    </a:lnB>
                    <a:solidFill>
                      <a:srgbClr val="EAE7DC"/>
                    </a:solidFill>
                  </a:tcPr>
                </a:tc>
                <a:extLst>
                  <a:ext uri="{0D108BD9-81ED-4DB2-BD59-A6C34878D82A}">
                    <a16:rowId xmlns:a16="http://schemas.microsoft.com/office/drawing/2014/main" val="10002"/>
                  </a:ext>
                </a:extLst>
              </a:tr>
              <a:tr h="358089">
                <a:tc>
                  <a:txBody>
                    <a:bodyPr/>
                    <a:lstStyle/>
                    <a:p>
                      <a:pPr marL="0" indent="0">
                        <a:lnSpc>
                          <a:spcPts val="1820"/>
                        </a:lnSpc>
                        <a:buNone/>
                      </a:pPr>
                      <a:r>
                        <a:rPr lang="en-US" sz="1300" dirty="0">
                          <a:solidFill>
                            <a:srgbClr val="14171C"/>
                          </a:solidFill>
                          <a:latin typeface="IBM Plex Sans" pitchFamily="34" charset="0"/>
                          <a:ea typeface="IBM Plex Sans" pitchFamily="34" charset="-122"/>
                          <a:cs typeface="IBM Plex Sans" pitchFamily="34" charset="-120"/>
                        </a:rPr>
                        <a:t>security</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BB9B0"/>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820"/>
                        </a:lnSpc>
                        <a:buNone/>
                      </a:pPr>
                      <a:r>
                        <a:rPr lang="en-US" sz="1300" dirty="0">
                          <a:solidFill>
                            <a:srgbClr val="14171C"/>
                          </a:solidFill>
                          <a:latin typeface="IBM Plex Sans" pitchFamily="34" charset="0"/>
                          <a:ea typeface="IBM Plex Sans" pitchFamily="34" charset="-122"/>
                          <a:cs typeface="IBM Plex Sans" pitchFamily="34" charset="-120"/>
                        </a:rPr>
                        <a:t>Threat modelling, OWASP review, dependency and secret audits</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BB9B0"/>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3"/>
                  </a:ext>
                </a:extLst>
              </a:tr>
              <a:tr h="358089">
                <a:tc>
                  <a:txBody>
                    <a:bodyPr/>
                    <a:lstStyle/>
                    <a:p>
                      <a:pPr marL="0" indent="0">
                        <a:lnSpc>
                          <a:spcPts val="1820"/>
                        </a:lnSpc>
                        <a:buNone/>
                      </a:pPr>
                      <a:r>
                        <a:rPr lang="en-US" sz="1300" dirty="0">
                          <a:solidFill>
                            <a:srgbClr val="14171C"/>
                          </a:solidFill>
                          <a:latin typeface="IBM Plex Sans" pitchFamily="34" charset="0"/>
                          <a:ea typeface="IBM Plex Sans" pitchFamily="34" charset="-122"/>
                          <a:cs typeface="IBM Plex Sans" pitchFamily="34" charset="-120"/>
                        </a:rPr>
                        <a:t>tester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BBB9B0"/>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BB9B0"/>
                      </a:solidFill>
                      <a:prstDash val="solid"/>
                      <a:round/>
                      <a:headEnd type="none" w="med" len="med"/>
                      <a:tailEnd type="none" w="med" len="med"/>
                    </a:lnB>
                    <a:solidFill>
                      <a:srgbClr val="EAE7DC"/>
                    </a:solidFill>
                  </a:tcPr>
                </a:tc>
                <a:tc>
                  <a:txBody>
                    <a:bodyPr/>
                    <a:lstStyle/>
                    <a:p>
                      <a:pPr marL="0" indent="0">
                        <a:lnSpc>
                          <a:spcPts val="1820"/>
                        </a:lnSpc>
                        <a:buNone/>
                      </a:pPr>
                      <a:r>
                        <a:rPr lang="en-US" sz="1300" dirty="0">
                          <a:solidFill>
                            <a:srgbClr val="14171C"/>
                          </a:solidFill>
                          <a:latin typeface="IBM Plex Sans" pitchFamily="34" charset="0"/>
                          <a:ea typeface="IBM Plex Sans" pitchFamily="34" charset="-122"/>
                          <a:cs typeface="IBM Plex Sans" pitchFamily="34" charset="-120"/>
                        </a:rPr>
                        <a:t>MSTest and Reqnroll design, BDD scenarios</a:t>
                      </a:r>
                      <a:endParaRPr lang="en-US" sz="1300" dirty="0">
                        <a:latin typeface="IBM Plex Sans" charset="0"/>
                        <a:ea typeface="IBM Plex Sans" charset="0"/>
                        <a:cs typeface="IBM Plex Sans" charset="0"/>
                      </a:endParaRPr>
                    </a:p>
                  </a:txBody>
                  <a:tcPr marL="57785" marR="57785" marT="57785" marB="57785">
                    <a:lnL w="12700" cap="flat" cmpd="sng" algn="ctr">
                      <a:solidFill>
                        <a:srgbClr val="BBB9B0"/>
                      </a:solidFill>
                      <a:prstDash val="solid"/>
                      <a:round/>
                      <a:headEnd type="none" w="med" len="med"/>
                      <a:tailEnd type="none" w="med" len="med"/>
                    </a:lnL>
                    <a:lnR w="12700" cap="flat" cmpd="sng" algn="ctr">
                      <a:solidFill>
                        <a:srgbClr val="BBB9B0"/>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BB9B0"/>
                      </a:solidFill>
                      <a:prstDash val="solid"/>
                      <a:round/>
                      <a:headEnd type="none" w="med" len="med"/>
                      <a:tailEnd type="none" w="med" len="med"/>
                    </a:lnB>
                    <a:solidFill>
                      <a:srgbClr val="EAE7DC"/>
                    </a:solidFill>
                  </a:tcPr>
                </a:tc>
                <a:extLst>
                  <a:ext uri="{0D108BD9-81ED-4DB2-BD59-A6C34878D82A}">
                    <a16:rowId xmlns:a16="http://schemas.microsoft.com/office/drawing/2014/main" val="10004"/>
                  </a:ext>
                </a:extLst>
              </a:tr>
              <a:tr h="358089">
                <a:tc>
                  <a:txBody>
                    <a:bodyPr/>
                    <a:lstStyle/>
                    <a:p>
                      <a:pPr marL="0" indent="0">
                        <a:lnSpc>
                          <a:spcPts val="1820"/>
                        </a:lnSpc>
                        <a:buNone/>
                      </a:pPr>
                      <a:r>
                        <a:rPr lang="en-US" sz="1300" dirty="0">
                          <a:solidFill>
                            <a:srgbClr val="14171C"/>
                          </a:solidFill>
                          <a:latin typeface="IBM Plex Sans" pitchFamily="34" charset="0"/>
                          <a:ea typeface="IBM Plex Sans" pitchFamily="34" charset="-122"/>
                          <a:cs typeface="IBM Plex Sans" pitchFamily="34" charset="-120"/>
                        </a:rPr>
                        <a:t>designer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BB9B0"/>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820"/>
                        </a:lnSpc>
                        <a:buNone/>
                      </a:pPr>
                      <a:r>
                        <a:rPr lang="en-US" sz="1300" dirty="0">
                          <a:solidFill>
                            <a:srgbClr val="14171C"/>
                          </a:solidFill>
                          <a:latin typeface="IBM Plex Sans" pitchFamily="34" charset="0"/>
                          <a:ea typeface="IBM Plex Sans" pitchFamily="34" charset="-122"/>
                          <a:cs typeface="IBM Plex Sans" pitchFamily="34" charset="-120"/>
                        </a:rPr>
                        <a:t>Colour palettes, typography, design tokens</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BB9B0"/>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5"/>
                  </a:ext>
                </a:extLst>
              </a:tr>
              <a:tr h="358089">
                <a:tc>
                  <a:txBody>
                    <a:bodyPr/>
                    <a:lstStyle/>
                    <a:p>
                      <a:pPr marL="0" indent="0">
                        <a:lnSpc>
                          <a:spcPts val="1820"/>
                        </a:lnSpc>
                        <a:buNone/>
                      </a:pPr>
                      <a:r>
                        <a:rPr lang="en-US" sz="1300" dirty="0">
                          <a:solidFill>
                            <a:srgbClr val="14171C"/>
                          </a:solidFill>
                          <a:latin typeface="IBM Plex Sans" pitchFamily="34" charset="0"/>
                          <a:ea typeface="IBM Plex Sans" pitchFamily="34" charset="-122"/>
                          <a:cs typeface="IBM Plex Sans" pitchFamily="34" charset="-120"/>
                        </a:rPr>
                        <a:t>developer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BBB9B0"/>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BB9B0"/>
                      </a:solidFill>
                      <a:prstDash val="solid"/>
                      <a:round/>
                      <a:headEnd type="none" w="med" len="med"/>
                      <a:tailEnd type="none" w="med" len="med"/>
                    </a:lnB>
                    <a:solidFill>
                      <a:srgbClr val="EAE7DC"/>
                    </a:solidFill>
                  </a:tcPr>
                </a:tc>
                <a:tc>
                  <a:txBody>
                    <a:bodyPr/>
                    <a:lstStyle/>
                    <a:p>
                      <a:pPr marL="0" indent="0">
                        <a:lnSpc>
                          <a:spcPts val="1820"/>
                        </a:lnSpc>
                        <a:buNone/>
                      </a:pPr>
                      <a:r>
                        <a:rPr lang="en-US" sz="1300" dirty="0">
                          <a:solidFill>
                            <a:srgbClr val="14171C"/>
                          </a:solidFill>
                          <a:latin typeface="IBM Plex Sans" pitchFamily="34" charset="0"/>
                          <a:ea typeface="IBM Plex Sans" pitchFamily="34" charset="-122"/>
                          <a:cs typeface="IBM Plex Sans" pitchFamily="34" charset="-120"/>
                        </a:rPr>
                        <a:t>.NET and C#: handlers, endpoints, Blazor, EF Core</a:t>
                      </a:r>
                      <a:endParaRPr lang="en-US" sz="1300" dirty="0">
                        <a:latin typeface="IBM Plex Sans" charset="0"/>
                        <a:ea typeface="IBM Plex Sans" charset="0"/>
                        <a:cs typeface="IBM Plex Sans" charset="0"/>
                      </a:endParaRPr>
                    </a:p>
                  </a:txBody>
                  <a:tcPr marL="57785" marR="57785" marT="57785" marB="57785">
                    <a:lnL w="12700" cap="flat" cmpd="sng" algn="ctr">
                      <a:solidFill>
                        <a:srgbClr val="BBB9B0"/>
                      </a:solidFill>
                      <a:prstDash val="solid"/>
                      <a:round/>
                      <a:headEnd type="none" w="med" len="med"/>
                      <a:tailEnd type="none" w="med" len="med"/>
                    </a:lnL>
                    <a:lnR w="12700" cap="flat" cmpd="sng" algn="ctr">
                      <a:solidFill>
                        <a:srgbClr val="BBB9B0"/>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BB9B0"/>
                      </a:solidFill>
                      <a:prstDash val="solid"/>
                      <a:round/>
                      <a:headEnd type="none" w="med" len="med"/>
                      <a:tailEnd type="none" w="med" len="med"/>
                    </a:lnB>
                    <a:solidFill>
                      <a:srgbClr val="EAE7DC"/>
                    </a:solidFill>
                  </a:tcPr>
                </a:tc>
                <a:extLst>
                  <a:ext uri="{0D108BD9-81ED-4DB2-BD59-A6C34878D82A}">
                    <a16:rowId xmlns:a16="http://schemas.microsoft.com/office/drawing/2014/main" val="10006"/>
                  </a:ext>
                </a:extLst>
              </a:tr>
              <a:tr h="358089">
                <a:tc>
                  <a:txBody>
                    <a:bodyPr/>
                    <a:lstStyle/>
                    <a:p>
                      <a:pPr marL="0" indent="0">
                        <a:lnSpc>
                          <a:spcPts val="1820"/>
                        </a:lnSpc>
                        <a:buNone/>
                      </a:pPr>
                      <a:r>
                        <a:rPr lang="en-US" sz="1300" dirty="0">
                          <a:solidFill>
                            <a:srgbClr val="14171C"/>
                          </a:solidFill>
                          <a:latin typeface="IBM Plex Sans" pitchFamily="34" charset="0"/>
                          <a:ea typeface="IBM Plex Sans" pitchFamily="34" charset="-122"/>
                          <a:cs typeface="IBM Plex Sans" pitchFamily="34" charset="-120"/>
                        </a:rPr>
                        <a:t>ui-developer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BB9B0"/>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820"/>
                        </a:lnSpc>
                        <a:buNone/>
                      </a:pPr>
                      <a:r>
                        <a:rPr lang="en-US" sz="1300" dirty="0">
                          <a:solidFill>
                            <a:srgbClr val="14171C"/>
                          </a:solidFill>
                          <a:latin typeface="IBM Plex Sans" pitchFamily="34" charset="0"/>
                          <a:ea typeface="IBM Plex Sans" pitchFamily="34" charset="-122"/>
                          <a:cs typeface="IBM Plex Sans" pitchFamily="34" charset="-120"/>
                        </a:rPr>
                        <a:t>Blazor and MAUI components, layouts, styling</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BB9B0"/>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7"/>
                  </a:ext>
                </a:extLst>
              </a:tr>
              <a:tr h="358089">
                <a:tc>
                  <a:txBody>
                    <a:bodyPr/>
                    <a:lstStyle/>
                    <a:p>
                      <a:pPr marL="0" indent="0">
                        <a:lnSpc>
                          <a:spcPts val="1820"/>
                        </a:lnSpc>
                        <a:buNone/>
                      </a:pPr>
                      <a:r>
                        <a:rPr lang="en-US" sz="1300" dirty="0">
                          <a:solidFill>
                            <a:srgbClr val="14171C"/>
                          </a:solidFill>
                          <a:latin typeface="IBM Plex Sans" pitchFamily="34" charset="0"/>
                          <a:ea typeface="IBM Plex Sans" pitchFamily="34" charset="-122"/>
                          <a:cs typeface="IBM Plex Sans" pitchFamily="34" charset="-120"/>
                        </a:rPr>
                        <a:t>ui-tester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BBB9B0"/>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BB9B0"/>
                      </a:solidFill>
                      <a:prstDash val="solid"/>
                      <a:round/>
                      <a:headEnd type="none" w="med" len="med"/>
                      <a:tailEnd type="none" w="med" len="med"/>
                    </a:lnB>
                    <a:solidFill>
                      <a:srgbClr val="EAE7DC"/>
                    </a:solidFill>
                  </a:tcPr>
                </a:tc>
                <a:tc>
                  <a:txBody>
                    <a:bodyPr/>
                    <a:lstStyle/>
                    <a:p>
                      <a:pPr marL="0" indent="0">
                        <a:lnSpc>
                          <a:spcPts val="1820"/>
                        </a:lnSpc>
                        <a:buNone/>
                      </a:pPr>
                      <a:r>
                        <a:rPr lang="en-US" sz="1300" dirty="0">
                          <a:solidFill>
                            <a:srgbClr val="14171C"/>
                          </a:solidFill>
                          <a:latin typeface="IBM Plex Sans" pitchFamily="34" charset="0"/>
                          <a:ea typeface="IBM Plex Sans" pitchFamily="34" charset="-122"/>
                          <a:cs typeface="IBM Plex Sans" pitchFamily="34" charset="-120"/>
                        </a:rPr>
                        <a:t>Playwright E2E, accessibility, visual regression</a:t>
                      </a:r>
                      <a:endParaRPr lang="en-US" sz="1300" dirty="0">
                        <a:latin typeface="IBM Plex Sans" charset="0"/>
                        <a:ea typeface="IBM Plex Sans" charset="0"/>
                        <a:cs typeface="IBM Plex Sans" charset="0"/>
                      </a:endParaRPr>
                    </a:p>
                  </a:txBody>
                  <a:tcPr marL="57785" marR="57785" marT="57785" marB="57785">
                    <a:lnL w="12700" cap="flat" cmpd="sng" algn="ctr">
                      <a:solidFill>
                        <a:srgbClr val="BBB9B0"/>
                      </a:solidFill>
                      <a:prstDash val="solid"/>
                      <a:round/>
                      <a:headEnd type="none" w="med" len="med"/>
                      <a:tailEnd type="none" w="med" len="med"/>
                    </a:lnL>
                    <a:lnR w="12700" cap="flat" cmpd="sng" algn="ctr">
                      <a:solidFill>
                        <a:srgbClr val="BBB9B0"/>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BB9B0"/>
                      </a:solidFill>
                      <a:prstDash val="solid"/>
                      <a:round/>
                      <a:headEnd type="none" w="med" len="med"/>
                      <a:tailEnd type="none" w="med" len="med"/>
                    </a:lnB>
                    <a:solidFill>
                      <a:srgbClr val="EAE7DC"/>
                    </a:solidFill>
                  </a:tcPr>
                </a:tc>
                <a:extLst>
                  <a:ext uri="{0D108BD9-81ED-4DB2-BD59-A6C34878D82A}">
                    <a16:rowId xmlns:a16="http://schemas.microsoft.com/office/drawing/2014/main" val="10008"/>
                  </a:ext>
                </a:extLst>
              </a:tr>
              <a:tr h="358089">
                <a:tc>
                  <a:txBody>
                    <a:bodyPr/>
                    <a:lstStyle/>
                    <a:p>
                      <a:pPr marL="0" indent="0">
                        <a:lnSpc>
                          <a:spcPts val="1820"/>
                        </a:lnSpc>
                        <a:buNone/>
                      </a:pPr>
                      <a:r>
                        <a:rPr lang="en-US" sz="1300" dirty="0">
                          <a:solidFill>
                            <a:srgbClr val="14171C"/>
                          </a:solidFill>
                          <a:latin typeface="IBM Plex Sans" pitchFamily="34" charset="0"/>
                          <a:ea typeface="IBM Plex Sans" pitchFamily="34" charset="-122"/>
                          <a:cs typeface="IBM Plex Sans" pitchFamily="34" charset="-120"/>
                        </a:rPr>
                        <a:t>writer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BB9B0"/>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820"/>
                        </a:lnSpc>
                        <a:buNone/>
                      </a:pPr>
                      <a:r>
                        <a:rPr lang="en-US" sz="1300" dirty="0">
                          <a:solidFill>
                            <a:srgbClr val="14171C"/>
                          </a:solidFill>
                          <a:latin typeface="IBM Plex Sans" pitchFamily="34" charset="0"/>
                          <a:ea typeface="IBM Plex Sans" pitchFamily="34" charset="-122"/>
                          <a:cs typeface="IBM Plex Sans" pitchFamily="34" charset="-120"/>
                        </a:rPr>
                        <a:t>XML docs, READMEs, ADRs, technical prose</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BB9B0"/>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5" name="Text 2"/>
          <p:cNvSpPr/>
          <p:nvPr/>
        </p:nvSpPr>
        <p:spPr>
          <a:xfrm>
            <a:off x="812782" y="6238242"/>
            <a:ext cx="6540500"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I-Synergy/AI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71C"/>
        </a:solidFill>
        <a:effectLst/>
      </p:bgPr>
    </p:bg>
    <p:spTree>
      <p:nvGrpSpPr>
        <p:cNvPr id="1" name=""/>
        <p:cNvGrpSpPr/>
        <p:nvPr/>
      </p:nvGrpSpPr>
      <p:grpSpPr>
        <a:xfrm>
          <a:off x="0" y="0"/>
          <a:ext cx="0" cy="0"/>
          <a:chOff x="0" y="0"/>
          <a:chExt cx="0" cy="0"/>
        </a:xfrm>
      </p:grpSpPr>
      <p:sp>
        <p:nvSpPr>
          <p:cNvPr id="2" name="Text 0"/>
          <p:cNvSpPr/>
          <p:nvPr/>
        </p:nvSpPr>
        <p:spPr>
          <a:xfrm>
            <a:off x="812782" y="812781"/>
            <a:ext cx="10883429" cy="274259"/>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3DD6B0"/>
                </a:solidFill>
                <a:latin typeface="IBM Plex Sans" pitchFamily="34" charset="0"/>
                <a:ea typeface="IBM Plex Sans" pitchFamily="34" charset="-122"/>
                <a:cs typeface="IBM Plex Sans" pitchFamily="34" charset="-120"/>
              </a:rPr>
              <a:t>TASK PROTOCOL</a:t>
            </a:r>
            <a:endParaRPr lang="en-US" sz="1400" dirty="0"/>
          </a:p>
        </p:txBody>
      </p:sp>
      <p:sp>
        <p:nvSpPr>
          <p:cNvPr id="3" name="Text 1"/>
          <p:cNvSpPr>
            <a:spLocks noGrp="1"/>
          </p:cNvSpPr>
          <p:nvPr>
            <p:ph type="title"/>
          </p:nvPr>
        </p:nvSpPr>
        <p:spPr>
          <a:xfrm>
            <a:off x="812782" y="1137766"/>
            <a:ext cx="10883429" cy="472426"/>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4F2EC"/>
                </a:solidFill>
                <a:latin typeface="IBM Plex Sans" pitchFamily="34" charset="0"/>
                <a:ea typeface="IBM Plex Sans" pitchFamily="34" charset="-122"/>
                <a:cs typeface="IBM Plex Sans" pitchFamily="34" charset="-120"/>
              </a:rPr>
              <a:t>Every non-trivial task follows five steps</a:t>
            </a:r>
            <a:endParaRPr lang="en-US" sz="3200" dirty="0"/>
          </a:p>
        </p:txBody>
      </p:sp>
      <p:sp>
        <p:nvSpPr>
          <p:cNvPr id="4" name="Shape 2"/>
          <p:cNvSpPr/>
          <p:nvPr/>
        </p:nvSpPr>
        <p:spPr>
          <a:xfrm>
            <a:off x="812782" y="1889575"/>
            <a:ext cx="1991410" cy="1977249"/>
          </a:xfrm>
          <a:prstGeom prst="roundRect">
            <a:avLst>
              <a:gd name="adj" fmla="val 5138"/>
            </a:avLst>
          </a:prstGeom>
          <a:solidFill>
            <a:srgbClr val="1F242C"/>
          </a:solidFill>
          <a:ln/>
        </p:spPr>
        <p:txBody>
          <a:bodyPr/>
          <a:lstStyle/>
          <a:p>
            <a:endParaRPr lang="LID4096"/>
          </a:p>
        </p:txBody>
      </p:sp>
      <p:sp>
        <p:nvSpPr>
          <p:cNvPr id="5" name="Shape 3"/>
          <p:cNvSpPr/>
          <p:nvPr/>
        </p:nvSpPr>
        <p:spPr>
          <a:xfrm>
            <a:off x="812782" y="1889575"/>
            <a:ext cx="1991410" cy="1977249"/>
          </a:xfrm>
          <a:custGeom>
            <a:avLst/>
            <a:gdLst/>
            <a:ahLst/>
            <a:cxnLst/>
            <a:rect l="l" t="t" r="r" b="b"/>
            <a:pathLst>
              <a:path w="1991410" h="1977249">
                <a:moveTo>
                  <a:pt x="0" y="101600"/>
                </a:moveTo>
                <a:lnTo>
                  <a:pt x="0" y="101600"/>
                </a:lnTo>
                <a:arcTo wR="101600" hR="101600" stAng="10800000" swAng="5400000"/>
                <a:lnTo>
                  <a:pt x="1889810" y="0"/>
                </a:lnTo>
                <a:arcTo wR="101600" hR="101600" stAng="16200000" swAng="5400000"/>
                <a:lnTo>
                  <a:pt x="1991410" y="101600"/>
                </a:lnTo>
                <a:arcTo wR="101600" hR="63500" stAng="0" swAng="-5400000"/>
                <a:lnTo>
                  <a:pt x="101600" y="38100"/>
                </a:lnTo>
                <a:arcTo wR="101600" hR="63500" stAng="16200000" swAng="-5400000"/>
                <a:close/>
              </a:path>
            </a:pathLst>
          </a:custGeom>
          <a:solidFill>
            <a:srgbClr val="3DD6B0"/>
          </a:solidFill>
          <a:ln/>
        </p:spPr>
        <p:txBody>
          <a:bodyPr/>
          <a:lstStyle/>
          <a:p>
            <a:endParaRPr lang="LID4096"/>
          </a:p>
        </p:txBody>
      </p:sp>
      <p:sp>
        <p:nvSpPr>
          <p:cNvPr id="6" name="Text 4"/>
          <p:cNvSpPr/>
          <p:nvPr/>
        </p:nvSpPr>
        <p:spPr>
          <a:xfrm>
            <a:off x="1015910" y="2127340"/>
            <a:ext cx="1635955" cy="416592"/>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3DD6B0"/>
                </a:solidFill>
                <a:latin typeface="IBM Plex Sans" pitchFamily="34" charset="0"/>
                <a:ea typeface="IBM Plex Sans" pitchFamily="34" charset="-122"/>
                <a:cs typeface="IBM Plex Sans" pitchFamily="34" charset="-120"/>
              </a:rPr>
              <a:t>1</a:t>
            </a:r>
            <a:endParaRPr lang="en-US" sz="2200" dirty="0"/>
          </a:p>
        </p:txBody>
      </p:sp>
      <p:sp>
        <p:nvSpPr>
          <p:cNvPr id="7" name="Text 5"/>
          <p:cNvSpPr/>
          <p:nvPr/>
        </p:nvSpPr>
        <p:spPr>
          <a:xfrm>
            <a:off x="1015910" y="2607376"/>
            <a:ext cx="1635955" cy="29960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2EC"/>
                </a:solidFill>
                <a:latin typeface="IBM Plex Sans" pitchFamily="34" charset="0"/>
                <a:ea typeface="IBM Plex Sans" pitchFamily="34" charset="-122"/>
                <a:cs typeface="IBM Plex Sans" pitchFamily="34" charset="-120"/>
              </a:rPr>
              <a:t>Plan</a:t>
            </a:r>
            <a:endParaRPr lang="en-US" sz="1800" dirty="0"/>
          </a:p>
        </p:txBody>
      </p:sp>
      <p:sp>
        <p:nvSpPr>
          <p:cNvPr id="8" name="Text 6"/>
          <p:cNvSpPr/>
          <p:nvPr/>
        </p:nvSpPr>
        <p:spPr>
          <a:xfrm>
            <a:off x="1015910" y="2970426"/>
            <a:ext cx="1635955" cy="48757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0CA"/>
                </a:solidFill>
                <a:latin typeface="IBM Plex Sans" pitchFamily="34" charset="0"/>
                <a:ea typeface="IBM Plex Sans" pitchFamily="34" charset="-122"/>
                <a:cs typeface="IBM Plex Sans" pitchFamily="34" charset="-120"/>
              </a:rPr>
              <a:t>Write a plan file and wait for approval.</a:t>
            </a:r>
            <a:endParaRPr lang="en-US" sz="1300" dirty="0"/>
          </a:p>
        </p:txBody>
      </p:sp>
      <p:sp>
        <p:nvSpPr>
          <p:cNvPr id="9" name="Shape 7"/>
          <p:cNvSpPr/>
          <p:nvPr/>
        </p:nvSpPr>
        <p:spPr>
          <a:xfrm>
            <a:off x="2956538" y="1889575"/>
            <a:ext cx="1991410" cy="1977249"/>
          </a:xfrm>
          <a:prstGeom prst="roundRect">
            <a:avLst>
              <a:gd name="adj" fmla="val 5138"/>
            </a:avLst>
          </a:prstGeom>
          <a:solidFill>
            <a:srgbClr val="1F242C"/>
          </a:solidFill>
          <a:ln/>
        </p:spPr>
        <p:txBody>
          <a:bodyPr/>
          <a:lstStyle/>
          <a:p>
            <a:endParaRPr lang="LID4096"/>
          </a:p>
        </p:txBody>
      </p:sp>
      <p:sp>
        <p:nvSpPr>
          <p:cNvPr id="10" name="Shape 8"/>
          <p:cNvSpPr/>
          <p:nvPr/>
        </p:nvSpPr>
        <p:spPr>
          <a:xfrm>
            <a:off x="2956538" y="1889575"/>
            <a:ext cx="1991410" cy="1977249"/>
          </a:xfrm>
          <a:custGeom>
            <a:avLst/>
            <a:gdLst/>
            <a:ahLst/>
            <a:cxnLst/>
            <a:rect l="l" t="t" r="r" b="b"/>
            <a:pathLst>
              <a:path w="1991410" h="1977249">
                <a:moveTo>
                  <a:pt x="0" y="101600"/>
                </a:moveTo>
                <a:lnTo>
                  <a:pt x="0" y="101600"/>
                </a:lnTo>
                <a:arcTo wR="101600" hR="101600" stAng="10800000" swAng="5400000"/>
                <a:lnTo>
                  <a:pt x="1889810" y="0"/>
                </a:lnTo>
                <a:arcTo wR="101600" hR="101600" stAng="16200000" swAng="5400000"/>
                <a:lnTo>
                  <a:pt x="1991410" y="101600"/>
                </a:lnTo>
                <a:arcTo wR="101600" hR="63500" stAng="0" swAng="-5400000"/>
                <a:lnTo>
                  <a:pt x="101600" y="38100"/>
                </a:lnTo>
                <a:arcTo wR="101600" hR="63500" stAng="16200000" swAng="-5400000"/>
                <a:close/>
              </a:path>
            </a:pathLst>
          </a:custGeom>
          <a:solidFill>
            <a:srgbClr val="3DD6B0"/>
          </a:solidFill>
          <a:ln/>
        </p:spPr>
        <p:txBody>
          <a:bodyPr/>
          <a:lstStyle/>
          <a:p>
            <a:endParaRPr lang="LID4096"/>
          </a:p>
        </p:txBody>
      </p:sp>
      <p:sp>
        <p:nvSpPr>
          <p:cNvPr id="11" name="Text 9"/>
          <p:cNvSpPr/>
          <p:nvPr/>
        </p:nvSpPr>
        <p:spPr>
          <a:xfrm>
            <a:off x="3159666" y="2127340"/>
            <a:ext cx="1635955" cy="416592"/>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3DD6B0"/>
                </a:solidFill>
                <a:latin typeface="IBM Plex Sans" pitchFamily="34" charset="0"/>
                <a:ea typeface="IBM Plex Sans" pitchFamily="34" charset="-122"/>
                <a:cs typeface="IBM Plex Sans" pitchFamily="34" charset="-120"/>
              </a:rPr>
              <a:t>2</a:t>
            </a:r>
            <a:endParaRPr lang="en-US" sz="2200" dirty="0"/>
          </a:p>
        </p:txBody>
      </p:sp>
      <p:sp>
        <p:nvSpPr>
          <p:cNvPr id="12" name="Text 10"/>
          <p:cNvSpPr/>
          <p:nvPr/>
        </p:nvSpPr>
        <p:spPr>
          <a:xfrm>
            <a:off x="3159666" y="2607376"/>
            <a:ext cx="1635955" cy="29960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2EC"/>
                </a:solidFill>
                <a:latin typeface="IBM Plex Sans" pitchFamily="34" charset="0"/>
                <a:ea typeface="IBM Plex Sans" pitchFamily="34" charset="-122"/>
                <a:cs typeface="IBM Plex Sans" pitchFamily="34" charset="-120"/>
              </a:rPr>
              <a:t>Track</a:t>
            </a:r>
            <a:endParaRPr lang="en-US" sz="1800" dirty="0"/>
          </a:p>
        </p:txBody>
      </p:sp>
      <p:sp>
        <p:nvSpPr>
          <p:cNvPr id="13" name="Text 11"/>
          <p:cNvSpPr/>
          <p:nvPr/>
        </p:nvSpPr>
        <p:spPr>
          <a:xfrm>
            <a:off x="3159666" y="2970426"/>
            <a:ext cx="1635955" cy="48757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0CA"/>
                </a:solidFill>
                <a:latin typeface="IBM Plex Sans" pitchFamily="34" charset="0"/>
                <a:ea typeface="IBM Plex Sans" pitchFamily="34" charset="-122"/>
                <a:cs typeface="IBM Plex Sans" pitchFamily="34" charset="-120"/>
              </a:rPr>
              <a:t>Keep a checklist in the progress folder.</a:t>
            </a:r>
            <a:endParaRPr lang="en-US" sz="1300" dirty="0"/>
          </a:p>
        </p:txBody>
      </p:sp>
      <p:sp>
        <p:nvSpPr>
          <p:cNvPr id="14" name="Shape 12"/>
          <p:cNvSpPr/>
          <p:nvPr/>
        </p:nvSpPr>
        <p:spPr>
          <a:xfrm>
            <a:off x="5100294" y="1889575"/>
            <a:ext cx="1991410" cy="1977249"/>
          </a:xfrm>
          <a:prstGeom prst="roundRect">
            <a:avLst>
              <a:gd name="adj" fmla="val 5138"/>
            </a:avLst>
          </a:prstGeom>
          <a:solidFill>
            <a:srgbClr val="1F242C"/>
          </a:solidFill>
          <a:ln/>
        </p:spPr>
        <p:txBody>
          <a:bodyPr/>
          <a:lstStyle/>
          <a:p>
            <a:endParaRPr lang="LID4096"/>
          </a:p>
        </p:txBody>
      </p:sp>
      <p:sp>
        <p:nvSpPr>
          <p:cNvPr id="15" name="Shape 13"/>
          <p:cNvSpPr/>
          <p:nvPr/>
        </p:nvSpPr>
        <p:spPr>
          <a:xfrm>
            <a:off x="5100294" y="1889575"/>
            <a:ext cx="1991410" cy="1977249"/>
          </a:xfrm>
          <a:custGeom>
            <a:avLst/>
            <a:gdLst/>
            <a:ahLst/>
            <a:cxnLst/>
            <a:rect l="l" t="t" r="r" b="b"/>
            <a:pathLst>
              <a:path w="1991410" h="1977249">
                <a:moveTo>
                  <a:pt x="0" y="101600"/>
                </a:moveTo>
                <a:lnTo>
                  <a:pt x="0" y="101600"/>
                </a:lnTo>
                <a:arcTo wR="101600" hR="101600" stAng="10800000" swAng="5400000"/>
                <a:lnTo>
                  <a:pt x="1889810" y="0"/>
                </a:lnTo>
                <a:arcTo wR="101600" hR="101600" stAng="16200000" swAng="5400000"/>
                <a:lnTo>
                  <a:pt x="1991410" y="101600"/>
                </a:lnTo>
                <a:arcTo wR="101600" hR="63500" stAng="0" swAng="-5400000"/>
                <a:lnTo>
                  <a:pt x="101600" y="38100"/>
                </a:lnTo>
                <a:arcTo wR="101600" hR="63500" stAng="16200000" swAng="-5400000"/>
                <a:close/>
              </a:path>
            </a:pathLst>
          </a:custGeom>
          <a:solidFill>
            <a:srgbClr val="3DD6B0"/>
          </a:solidFill>
          <a:ln/>
        </p:spPr>
        <p:txBody>
          <a:bodyPr/>
          <a:lstStyle/>
          <a:p>
            <a:endParaRPr lang="LID4096"/>
          </a:p>
        </p:txBody>
      </p:sp>
      <p:sp>
        <p:nvSpPr>
          <p:cNvPr id="16" name="Text 14"/>
          <p:cNvSpPr/>
          <p:nvPr/>
        </p:nvSpPr>
        <p:spPr>
          <a:xfrm>
            <a:off x="5303422" y="2127340"/>
            <a:ext cx="1635955" cy="416592"/>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3DD6B0"/>
                </a:solidFill>
                <a:latin typeface="IBM Plex Sans" pitchFamily="34" charset="0"/>
                <a:ea typeface="IBM Plex Sans" pitchFamily="34" charset="-122"/>
                <a:cs typeface="IBM Plex Sans" pitchFamily="34" charset="-120"/>
              </a:rPr>
              <a:t>3</a:t>
            </a:r>
            <a:endParaRPr lang="en-US" sz="2200" dirty="0"/>
          </a:p>
        </p:txBody>
      </p:sp>
      <p:sp>
        <p:nvSpPr>
          <p:cNvPr id="17" name="Text 15"/>
          <p:cNvSpPr/>
          <p:nvPr/>
        </p:nvSpPr>
        <p:spPr>
          <a:xfrm>
            <a:off x="5303422" y="2607376"/>
            <a:ext cx="1635955" cy="29960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2EC"/>
                </a:solidFill>
                <a:latin typeface="IBM Plex Sans" pitchFamily="34" charset="0"/>
                <a:ea typeface="IBM Plex Sans" pitchFamily="34" charset="-122"/>
                <a:cs typeface="IBM Plex Sans" pitchFamily="34" charset="-120"/>
              </a:rPr>
              <a:t>Delegate</a:t>
            </a:r>
            <a:endParaRPr lang="en-US" sz="1800" dirty="0"/>
          </a:p>
        </p:txBody>
      </p:sp>
      <p:sp>
        <p:nvSpPr>
          <p:cNvPr id="18" name="Text 16"/>
          <p:cNvSpPr/>
          <p:nvPr/>
        </p:nvSpPr>
        <p:spPr>
          <a:xfrm>
            <a:off x="5303422" y="2970426"/>
            <a:ext cx="1635955" cy="718668"/>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0CA"/>
                </a:solidFill>
                <a:latin typeface="IBM Plex Sans" pitchFamily="34" charset="0"/>
                <a:ea typeface="IBM Plex Sans" pitchFamily="34" charset="-122"/>
                <a:cs typeface="IBM Plex Sans" pitchFamily="34" charset="-120"/>
              </a:rPr>
              <a:t>Subagents edit the code and tick each box.</a:t>
            </a:r>
            <a:endParaRPr lang="en-US" sz="1300" dirty="0"/>
          </a:p>
        </p:txBody>
      </p:sp>
      <p:sp>
        <p:nvSpPr>
          <p:cNvPr id="19" name="Shape 17"/>
          <p:cNvSpPr/>
          <p:nvPr/>
        </p:nvSpPr>
        <p:spPr>
          <a:xfrm>
            <a:off x="7244051" y="1889575"/>
            <a:ext cx="1991410" cy="1977249"/>
          </a:xfrm>
          <a:prstGeom prst="roundRect">
            <a:avLst>
              <a:gd name="adj" fmla="val 5138"/>
            </a:avLst>
          </a:prstGeom>
          <a:solidFill>
            <a:srgbClr val="1F242C"/>
          </a:solidFill>
          <a:ln/>
        </p:spPr>
        <p:txBody>
          <a:bodyPr/>
          <a:lstStyle/>
          <a:p>
            <a:endParaRPr lang="LID4096"/>
          </a:p>
        </p:txBody>
      </p:sp>
      <p:sp>
        <p:nvSpPr>
          <p:cNvPr id="20" name="Shape 18"/>
          <p:cNvSpPr/>
          <p:nvPr/>
        </p:nvSpPr>
        <p:spPr>
          <a:xfrm>
            <a:off x="7244051" y="1889575"/>
            <a:ext cx="1991410" cy="1977249"/>
          </a:xfrm>
          <a:custGeom>
            <a:avLst/>
            <a:gdLst/>
            <a:ahLst/>
            <a:cxnLst/>
            <a:rect l="l" t="t" r="r" b="b"/>
            <a:pathLst>
              <a:path w="1991410" h="1977249">
                <a:moveTo>
                  <a:pt x="0" y="101600"/>
                </a:moveTo>
                <a:lnTo>
                  <a:pt x="0" y="101600"/>
                </a:lnTo>
                <a:arcTo wR="101600" hR="101600" stAng="10800000" swAng="5400000"/>
                <a:lnTo>
                  <a:pt x="1889810" y="0"/>
                </a:lnTo>
                <a:arcTo wR="101600" hR="101600" stAng="16200000" swAng="5400000"/>
                <a:lnTo>
                  <a:pt x="1991410" y="101600"/>
                </a:lnTo>
                <a:arcTo wR="101600" hR="63500" stAng="0" swAng="-5400000"/>
                <a:lnTo>
                  <a:pt x="101600" y="38100"/>
                </a:lnTo>
                <a:arcTo wR="101600" hR="63500" stAng="16200000" swAng="-5400000"/>
                <a:close/>
              </a:path>
            </a:pathLst>
          </a:custGeom>
          <a:solidFill>
            <a:srgbClr val="3DD6B0"/>
          </a:solidFill>
          <a:ln/>
        </p:spPr>
        <p:txBody>
          <a:bodyPr/>
          <a:lstStyle/>
          <a:p>
            <a:endParaRPr lang="LID4096"/>
          </a:p>
        </p:txBody>
      </p:sp>
      <p:sp>
        <p:nvSpPr>
          <p:cNvPr id="21" name="Text 19"/>
          <p:cNvSpPr/>
          <p:nvPr/>
        </p:nvSpPr>
        <p:spPr>
          <a:xfrm>
            <a:off x="7447179" y="2127340"/>
            <a:ext cx="1635955" cy="416592"/>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3DD6B0"/>
                </a:solidFill>
                <a:latin typeface="IBM Plex Sans" pitchFamily="34" charset="0"/>
                <a:ea typeface="IBM Plex Sans" pitchFamily="34" charset="-122"/>
                <a:cs typeface="IBM Plex Sans" pitchFamily="34" charset="-120"/>
              </a:rPr>
              <a:t>4</a:t>
            </a:r>
            <a:endParaRPr lang="en-US" sz="2200" dirty="0"/>
          </a:p>
        </p:txBody>
      </p:sp>
      <p:sp>
        <p:nvSpPr>
          <p:cNvPr id="22" name="Text 20"/>
          <p:cNvSpPr/>
          <p:nvPr/>
        </p:nvSpPr>
        <p:spPr>
          <a:xfrm>
            <a:off x="7447179" y="2607376"/>
            <a:ext cx="1635955" cy="29960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2EC"/>
                </a:solidFill>
                <a:latin typeface="IBM Plex Sans" pitchFamily="34" charset="0"/>
                <a:ea typeface="IBM Plex Sans" pitchFamily="34" charset="-122"/>
                <a:cs typeface="IBM Plex Sans" pitchFamily="34" charset="-120"/>
              </a:rPr>
              <a:t>Verify</a:t>
            </a:r>
            <a:endParaRPr lang="en-US" sz="1800" dirty="0"/>
          </a:p>
        </p:txBody>
      </p:sp>
      <p:sp>
        <p:nvSpPr>
          <p:cNvPr id="23" name="Text 21"/>
          <p:cNvSpPr/>
          <p:nvPr/>
        </p:nvSpPr>
        <p:spPr>
          <a:xfrm>
            <a:off x="7447179" y="2970426"/>
            <a:ext cx="1635955" cy="718668"/>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0CA"/>
                </a:solidFill>
                <a:latin typeface="IBM Plex Sans" pitchFamily="34" charset="0"/>
                <a:ea typeface="IBM Plex Sans" pitchFamily="34" charset="-122"/>
                <a:cs typeface="IBM Plex Sans" pitchFamily="34" charset="-120"/>
              </a:rPr>
              <a:t>Observe each result; after 3 failed retries, escalate.</a:t>
            </a:r>
            <a:endParaRPr lang="en-US" sz="1300" dirty="0"/>
          </a:p>
        </p:txBody>
      </p:sp>
      <p:sp>
        <p:nvSpPr>
          <p:cNvPr id="24" name="Shape 22"/>
          <p:cNvSpPr/>
          <p:nvPr/>
        </p:nvSpPr>
        <p:spPr>
          <a:xfrm>
            <a:off x="9387807" y="1889575"/>
            <a:ext cx="1991410" cy="1977249"/>
          </a:xfrm>
          <a:prstGeom prst="roundRect">
            <a:avLst>
              <a:gd name="adj" fmla="val 5138"/>
            </a:avLst>
          </a:prstGeom>
          <a:solidFill>
            <a:srgbClr val="1F242C"/>
          </a:solidFill>
          <a:ln/>
        </p:spPr>
        <p:txBody>
          <a:bodyPr/>
          <a:lstStyle/>
          <a:p>
            <a:endParaRPr lang="LID4096"/>
          </a:p>
        </p:txBody>
      </p:sp>
      <p:sp>
        <p:nvSpPr>
          <p:cNvPr id="25" name="Shape 23"/>
          <p:cNvSpPr/>
          <p:nvPr/>
        </p:nvSpPr>
        <p:spPr>
          <a:xfrm>
            <a:off x="9387807" y="1889575"/>
            <a:ext cx="1991410" cy="1977249"/>
          </a:xfrm>
          <a:custGeom>
            <a:avLst/>
            <a:gdLst/>
            <a:ahLst/>
            <a:cxnLst/>
            <a:rect l="l" t="t" r="r" b="b"/>
            <a:pathLst>
              <a:path w="1991410" h="1977249">
                <a:moveTo>
                  <a:pt x="0" y="101600"/>
                </a:moveTo>
                <a:lnTo>
                  <a:pt x="0" y="101600"/>
                </a:lnTo>
                <a:arcTo wR="101600" hR="101600" stAng="10800000" swAng="5400000"/>
                <a:lnTo>
                  <a:pt x="1889810" y="0"/>
                </a:lnTo>
                <a:arcTo wR="101600" hR="101600" stAng="16200000" swAng="5400000"/>
                <a:lnTo>
                  <a:pt x="1991410" y="101600"/>
                </a:lnTo>
                <a:arcTo wR="101600" hR="63500" stAng="0" swAng="-5400000"/>
                <a:lnTo>
                  <a:pt x="101600" y="38100"/>
                </a:lnTo>
                <a:arcTo wR="101600" hR="63500" stAng="16200000" swAng="-5400000"/>
                <a:close/>
              </a:path>
            </a:pathLst>
          </a:custGeom>
          <a:solidFill>
            <a:srgbClr val="3DD6B0"/>
          </a:solidFill>
          <a:ln/>
        </p:spPr>
        <p:txBody>
          <a:bodyPr/>
          <a:lstStyle/>
          <a:p>
            <a:endParaRPr lang="LID4096"/>
          </a:p>
        </p:txBody>
      </p:sp>
      <p:sp>
        <p:nvSpPr>
          <p:cNvPr id="26" name="Text 24"/>
          <p:cNvSpPr/>
          <p:nvPr/>
        </p:nvSpPr>
        <p:spPr>
          <a:xfrm>
            <a:off x="9590935" y="2127340"/>
            <a:ext cx="1635955" cy="416592"/>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3DD6B0"/>
                </a:solidFill>
                <a:latin typeface="IBM Plex Sans" pitchFamily="34" charset="0"/>
                <a:ea typeface="IBM Plex Sans" pitchFamily="34" charset="-122"/>
                <a:cs typeface="IBM Plex Sans" pitchFamily="34" charset="-120"/>
              </a:rPr>
              <a:t>5</a:t>
            </a:r>
            <a:endParaRPr lang="en-US" sz="2200" dirty="0"/>
          </a:p>
        </p:txBody>
      </p:sp>
      <p:sp>
        <p:nvSpPr>
          <p:cNvPr id="27" name="Text 25"/>
          <p:cNvSpPr/>
          <p:nvPr/>
        </p:nvSpPr>
        <p:spPr>
          <a:xfrm>
            <a:off x="9590935" y="2607376"/>
            <a:ext cx="1635955" cy="29960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2EC"/>
                </a:solidFill>
                <a:latin typeface="IBM Plex Sans" pitchFamily="34" charset="0"/>
                <a:ea typeface="IBM Plex Sans" pitchFamily="34" charset="-122"/>
                <a:cs typeface="IBM Plex Sans" pitchFamily="34" charset="-120"/>
              </a:rPr>
              <a:t>Close</a:t>
            </a:r>
            <a:endParaRPr lang="en-US" sz="1800" dirty="0"/>
          </a:p>
        </p:txBody>
      </p:sp>
      <p:sp>
        <p:nvSpPr>
          <p:cNvPr id="28" name="Text 26"/>
          <p:cNvSpPr/>
          <p:nvPr/>
        </p:nvSpPr>
        <p:spPr>
          <a:xfrm>
            <a:off x="9590935" y="2970426"/>
            <a:ext cx="1635955" cy="48757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0CA"/>
                </a:solidFill>
                <a:latin typeface="IBM Plex Sans" pitchFamily="34" charset="0"/>
                <a:ea typeface="IBM Plex Sans" pitchFamily="34" charset="-122"/>
                <a:cs typeface="IBM Plex Sans" pitchFamily="34" charset="-120"/>
              </a:rPr>
              <a:t>Move the file to the completed folder.</a:t>
            </a:r>
            <a:endParaRPr lang="en-US" sz="1300" dirty="0"/>
          </a:p>
        </p:txBody>
      </p:sp>
      <p:sp>
        <p:nvSpPr>
          <p:cNvPr id="29" name="Text 27"/>
          <p:cNvSpPr/>
          <p:nvPr/>
        </p:nvSpPr>
        <p:spPr>
          <a:xfrm>
            <a:off x="812782" y="4171606"/>
            <a:ext cx="10883429" cy="292028"/>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9C0CA"/>
                </a:solidFill>
                <a:latin typeface="IBM Plex Sans" pitchFamily="34" charset="0"/>
                <a:ea typeface="IBM Plex Sans" pitchFamily="34" charset="-122"/>
                <a:cs typeface="IBM Plex Sans" pitchFamily="34" charset="-120"/>
              </a:rPr>
              <a:t>Trivial work, such as a single file with an obvious fix, skips the plan and the progress file.</a:t>
            </a:r>
            <a:endParaRPr lang="en-US" sz="1500" dirty="0"/>
          </a:p>
        </p:txBody>
      </p:sp>
      <p:sp>
        <p:nvSpPr>
          <p:cNvPr id="30" name="Text 28"/>
          <p:cNvSpPr/>
          <p:nvPr/>
        </p:nvSpPr>
        <p:spPr>
          <a:xfrm>
            <a:off x="812782" y="6238242"/>
            <a:ext cx="6540500"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B94A1"/>
                </a:solidFill>
                <a:latin typeface="IBM Plex Sans" pitchFamily="34" charset="0"/>
                <a:ea typeface="IBM Plex Sans" pitchFamily="34" charset="-122"/>
                <a:cs typeface="IBM Plex Sans" pitchFamily="34" charset="-120"/>
              </a:rPr>
              <a:t>I-Synergy/AI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782" y="812781"/>
            <a:ext cx="10883429" cy="27038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0B7A62"/>
                </a:solidFill>
                <a:latin typeface="IBM Plex Sans" pitchFamily="34" charset="0"/>
                <a:ea typeface="IBM Plex Sans" pitchFamily="34" charset="-122"/>
                <a:cs typeface="IBM Plex Sans" pitchFamily="34" charset="-120"/>
              </a:rPr>
              <a:t>PROGRESS FILES</a:t>
            </a:r>
            <a:endParaRPr lang="en-US" sz="1400" dirty="0"/>
          </a:p>
        </p:txBody>
      </p:sp>
      <p:sp>
        <p:nvSpPr>
          <p:cNvPr id="3" name="Text 1"/>
          <p:cNvSpPr>
            <a:spLocks noGrp="1"/>
          </p:cNvSpPr>
          <p:nvPr>
            <p:ph type="title"/>
          </p:nvPr>
        </p:nvSpPr>
        <p:spPr>
          <a:xfrm>
            <a:off x="812782" y="1133887"/>
            <a:ext cx="10883429" cy="465480"/>
          </a:xfrm>
          <a:prstGeom prst="rect">
            <a:avLst/>
          </a:prstGeom>
          <a:noFill/>
          <a:ln/>
        </p:spPr>
        <p:txBody>
          <a:bodyPr wrap="square" lIns="0" tIns="0" rIns="0" bIns="0" rtlCol="0" anchor="t">
            <a:normAutofit/>
          </a:bodyPr>
          <a:lstStyle/>
          <a:p>
            <a:pPr marL="0" indent="0" algn="l">
              <a:lnSpc>
                <a:spcPts val="3465"/>
              </a:lnSpc>
              <a:buNone/>
            </a:pPr>
            <a:r>
              <a:rPr lang="en-US" sz="3150" b="1" i="0" dirty="0">
                <a:solidFill>
                  <a:srgbClr val="14171C"/>
                </a:solidFill>
                <a:latin typeface="IBM Plex Sans" pitchFamily="34" charset="0"/>
                <a:ea typeface="IBM Plex Sans" pitchFamily="34" charset="-122"/>
                <a:cs typeface="IBM Plex Sans" pitchFamily="34" charset="-120"/>
              </a:rPr>
              <a:t>Every task leaves a checklist anyone can resume</a:t>
            </a:r>
            <a:endParaRPr lang="en-US" sz="3150" dirty="0"/>
          </a:p>
        </p:txBody>
      </p:sp>
      <p:sp>
        <p:nvSpPr>
          <p:cNvPr id="4" name="Shape 2"/>
          <p:cNvSpPr/>
          <p:nvPr/>
        </p:nvSpPr>
        <p:spPr>
          <a:xfrm>
            <a:off x="812782" y="1802532"/>
            <a:ext cx="5461000" cy="2782364"/>
          </a:xfrm>
          <a:prstGeom prst="roundRect">
            <a:avLst>
              <a:gd name="adj" fmla="val 3652"/>
            </a:avLst>
          </a:prstGeom>
          <a:solidFill>
            <a:srgbClr val="14171C"/>
          </a:solidFill>
          <a:ln/>
        </p:spPr>
        <p:txBody>
          <a:bodyPr/>
          <a:lstStyle/>
          <a:p>
            <a:endParaRPr lang="LID4096"/>
          </a:p>
        </p:txBody>
      </p:sp>
      <p:sp>
        <p:nvSpPr>
          <p:cNvPr id="5" name="Shape 3"/>
          <p:cNvSpPr/>
          <p:nvPr/>
        </p:nvSpPr>
        <p:spPr>
          <a:xfrm>
            <a:off x="812782" y="1802532"/>
            <a:ext cx="5461000" cy="2782364"/>
          </a:xfrm>
          <a:custGeom>
            <a:avLst/>
            <a:gdLst/>
            <a:ahLst/>
            <a:cxnLst/>
            <a:rect l="l" t="t" r="r" b="b"/>
            <a:pathLst>
              <a:path w="5461000" h="2782364">
                <a:moveTo>
                  <a:pt x="101600" y="2782364"/>
                </a:moveTo>
                <a:lnTo>
                  <a:pt x="101600" y="2782364"/>
                </a:lnTo>
                <a:arcTo wR="101600" hR="101600" stAng="5400000" swAng="5400000"/>
                <a:lnTo>
                  <a:pt x="0" y="101600"/>
                </a:lnTo>
                <a:arcTo wR="101600" hR="101600" stAng="10800000" swAng="5400000"/>
                <a:lnTo>
                  <a:pt x="101600" y="0"/>
                </a:lnTo>
                <a:arcTo wR="50800" hR="101600" stAng="16200000" swAng="-5400000"/>
                <a:lnTo>
                  <a:pt x="50800" y="2680764"/>
                </a:lnTo>
                <a:arcTo wR="50800" hR="101600" stAng="10800000" swAng="-5400000"/>
                <a:close/>
              </a:path>
            </a:pathLst>
          </a:custGeom>
          <a:solidFill>
            <a:srgbClr val="3DD6B0"/>
          </a:solidFill>
          <a:ln/>
        </p:spPr>
        <p:txBody>
          <a:bodyPr/>
          <a:lstStyle/>
          <a:p>
            <a:endParaRPr lang="LID4096"/>
          </a:p>
        </p:txBody>
      </p:sp>
      <p:sp>
        <p:nvSpPr>
          <p:cNvPr id="6" name="Text 4"/>
          <p:cNvSpPr/>
          <p:nvPr/>
        </p:nvSpPr>
        <p:spPr>
          <a:xfrm>
            <a:off x="1087528" y="2005661"/>
            <a:ext cx="5106421" cy="235203"/>
          </a:xfrm>
          <a:prstGeom prst="rect">
            <a:avLst/>
          </a:prstGeom>
          <a:noFill/>
          <a:ln/>
        </p:spPr>
        <p:txBody>
          <a:bodyPr wrap="square" lIns="0" tIns="0" rIns="0" bIns="0" rtlCol="0" anchor="t">
            <a:normAutofit/>
          </a:bodyPr>
          <a:lstStyle/>
          <a:p>
            <a:pPr marL="0" indent="0" algn="l">
              <a:lnSpc>
                <a:spcPts val="1675"/>
              </a:lnSpc>
              <a:buNone/>
            </a:pPr>
            <a:r>
              <a:rPr lang="en-US" sz="1196" b="1" dirty="0">
                <a:solidFill>
                  <a:srgbClr val="3DD6B0"/>
                </a:solidFill>
                <a:latin typeface="IBM Plex Sans" pitchFamily="34" charset="0"/>
                <a:ea typeface="IBM Plex Sans" pitchFamily="34" charset="-122"/>
                <a:cs typeface="IBM Plex Sans" pitchFamily="34" charset="-120"/>
              </a:rPr>
              <a:t>.ai/progress/budget-crud.md</a:t>
            </a:r>
            <a:endParaRPr lang="en-US" sz="1196" dirty="0"/>
          </a:p>
        </p:txBody>
      </p:sp>
      <p:sp>
        <p:nvSpPr>
          <p:cNvPr id="7" name="Text 5"/>
          <p:cNvSpPr/>
          <p:nvPr/>
        </p:nvSpPr>
        <p:spPr>
          <a:xfrm>
            <a:off x="1087528" y="2291590"/>
            <a:ext cx="5106421" cy="2115578"/>
          </a:xfrm>
          <a:prstGeom prst="rect">
            <a:avLst/>
          </a:prstGeom>
          <a:noFill/>
          <a:ln/>
        </p:spPr>
        <p:txBody>
          <a:bodyPr wrap="square" lIns="0" tIns="0" rIns="0" bIns="0" rtlCol="0" anchor="t">
            <a:normAutofit/>
          </a:bodyPr>
          <a:lstStyle/>
          <a:p>
            <a:pPr marL="0" indent="0" algn="l">
              <a:lnSpc>
                <a:spcPts val="1831"/>
              </a:lnSpc>
              <a:buNone/>
            </a:pPr>
            <a:r>
              <a:rPr lang="en-US" sz="1181" dirty="0">
                <a:solidFill>
                  <a:srgbClr val="F4F2EC"/>
                </a:solidFill>
                <a:latin typeface="JetBrains Mono" pitchFamily="49" charset="0"/>
                <a:ea typeface="JetBrains Mono" pitchFamily="49" charset="-122"/>
                <a:cs typeface="JetBrains Mono" pitchFamily="49" charset="-120"/>
              </a:rPr>
              <a:t># Implement Budget CRUD</a:t>
            </a:r>
            <a:endParaRPr lang="en-US" sz="1181" dirty="0"/>
          </a:p>
          <a:p>
            <a:pPr marL="0" indent="0" algn="l">
              <a:lnSpc>
                <a:spcPts val="1831"/>
              </a:lnSpc>
              <a:buNone/>
            </a:pPr>
            <a:r>
              <a:rPr lang="en-US" sz="1181" dirty="0">
                <a:solidFill>
                  <a:srgbClr val="F4F2EC"/>
                </a:solidFill>
                <a:latin typeface="JetBrains Mono" pitchFamily="49" charset="0"/>
                <a:ea typeface="JetBrains Mono" pitchFamily="49" charset="-122"/>
                <a:cs typeface="JetBrains Mono" pitchFamily="49" charset="-120"/>
              </a:rPr>
              <a:t>Status: IN PROGRESS</a:t>
            </a:r>
            <a:endParaRPr lang="en-US" sz="1181" dirty="0"/>
          </a:p>
          <a:p>
            <a:pPr marL="0" indent="0" algn="l">
              <a:lnSpc>
                <a:spcPts val="1831"/>
              </a:lnSpc>
              <a:buNone/>
            </a:pPr>
            <a:r>
              <a:rPr lang="en-US" sz="1181" dirty="0">
                <a:solidFill>
                  <a:srgbClr val="F4F2EC"/>
                </a:solidFill>
                <a:latin typeface="JetBrains Mono" pitchFamily="49" charset="0"/>
                <a:ea typeface="JetBrains Mono" pitchFamily="49" charset="-122"/>
                <a:cs typeface="JetBrains Mono" pitchFamily="49" charset="-120"/>
              </a:rPr>
              <a:t>Started: 2026-04-19</a:t>
            </a:r>
            <a:endParaRPr lang="en-US" sz="1181" dirty="0"/>
          </a:p>
          <a:p>
            <a:pPr marL="0" indent="0" algn="l">
              <a:lnSpc>
                <a:spcPts val="1831"/>
              </a:lnSpc>
              <a:buNone/>
            </a:pPr>
            <a:endParaRPr lang="en-US" sz="1181" dirty="0"/>
          </a:p>
          <a:p>
            <a:pPr marL="0" indent="0" algn="l">
              <a:lnSpc>
                <a:spcPts val="1831"/>
              </a:lnSpc>
              <a:buNone/>
            </a:pPr>
            <a:r>
              <a:rPr lang="en-US" sz="1181" dirty="0">
                <a:solidFill>
                  <a:srgbClr val="F4F2EC"/>
                </a:solidFill>
                <a:latin typeface="JetBrains Mono" pitchFamily="49" charset="0"/>
                <a:ea typeface="JetBrains Mono" pitchFamily="49" charset="-122"/>
                <a:cs typeface="JetBrains Mono" pitchFamily="49" charset="-120"/>
              </a:rPr>
              <a:t>## Steps</a:t>
            </a:r>
            <a:endParaRPr lang="en-US" sz="1181" dirty="0"/>
          </a:p>
          <a:p>
            <a:pPr marL="0" indent="0" algn="l">
              <a:lnSpc>
                <a:spcPts val="1831"/>
              </a:lnSpc>
              <a:buNone/>
            </a:pPr>
            <a:r>
              <a:rPr lang="en-US" sz="1181" dirty="0">
                <a:solidFill>
                  <a:srgbClr val="F4F2EC"/>
                </a:solidFill>
                <a:latin typeface="JetBrains Mono" pitchFamily="49" charset="0"/>
                <a:ea typeface="JetBrains Mono" pitchFamily="49" charset="-122"/>
                <a:cs typeface="JetBrains Mono" pitchFamily="49" charset="-120"/>
              </a:rPr>
              <a:t>- [x] Created CreateBudgetCommand and Handler</a:t>
            </a:r>
            <a:endParaRPr lang="en-US" sz="1181" dirty="0"/>
          </a:p>
          <a:p>
            <a:pPr marL="0" indent="0" algn="l">
              <a:lnSpc>
                <a:spcPts val="1831"/>
              </a:lnSpc>
              <a:buNone/>
            </a:pPr>
            <a:r>
              <a:rPr lang="en-US" sz="1181" dirty="0">
                <a:solidFill>
                  <a:srgbClr val="F4F2EC"/>
                </a:solidFill>
                <a:latin typeface="JetBrains Mono" pitchFamily="49" charset="0"/>
                <a:ea typeface="JetBrains Mono" pitchFamily="49" charset="-122"/>
                <a:cs typeface="JetBrains Mono" pitchFamily="49" charset="-120"/>
              </a:rPr>
              <a:t>- [x] Created GetBudgetByIdQuery and Handler</a:t>
            </a:r>
            <a:endParaRPr lang="en-US" sz="1181" dirty="0"/>
          </a:p>
          <a:p>
            <a:pPr marL="0" indent="0" algn="l">
              <a:lnSpc>
                <a:spcPts val="1831"/>
              </a:lnSpc>
              <a:buNone/>
            </a:pPr>
            <a:r>
              <a:rPr lang="en-US" sz="1181" dirty="0">
                <a:solidFill>
                  <a:srgbClr val="F4F2EC"/>
                </a:solidFill>
                <a:latin typeface="JetBrains Mono" pitchFamily="49" charset="0"/>
                <a:ea typeface="JetBrains Mono" pitchFamily="49" charset="-122"/>
                <a:cs typeface="JetBrains Mono" pitchFamily="49" charset="-120"/>
              </a:rPr>
              <a:t>- [ ] Create endpoints</a:t>
            </a:r>
            <a:endParaRPr lang="en-US" sz="1181" dirty="0"/>
          </a:p>
          <a:p>
            <a:pPr marL="0" indent="0" algn="l">
              <a:lnSpc>
                <a:spcPts val="1831"/>
              </a:lnSpc>
              <a:buNone/>
            </a:pPr>
            <a:r>
              <a:rPr lang="en-US" sz="1181" dirty="0">
                <a:solidFill>
                  <a:srgbClr val="F4F2EC"/>
                </a:solidFill>
                <a:latin typeface="JetBrains Mono" pitchFamily="49" charset="0"/>
                <a:ea typeface="JetBrains Mono" pitchFamily="49" charset="-122"/>
                <a:cs typeface="JetBrains Mono" pitchFamily="49" charset="-120"/>
              </a:rPr>
              <a:t>- [ ] Write tests</a:t>
            </a:r>
            <a:endParaRPr lang="en-US" sz="1181" dirty="0"/>
          </a:p>
        </p:txBody>
      </p:sp>
      <p:sp>
        <p:nvSpPr>
          <p:cNvPr id="8" name="Shape 6"/>
          <p:cNvSpPr/>
          <p:nvPr/>
        </p:nvSpPr>
        <p:spPr>
          <a:xfrm>
            <a:off x="6480085" y="1805707"/>
            <a:ext cx="4895958" cy="794886"/>
          </a:xfrm>
          <a:prstGeom prst="roundRect">
            <a:avLst>
              <a:gd name="adj" fmla="val 12382"/>
            </a:avLst>
          </a:prstGeom>
          <a:solidFill>
            <a:srgbClr val="FBFAF6"/>
          </a:solidFill>
          <a:ln w="6350">
            <a:solidFill>
              <a:srgbClr val="DAD6CB"/>
            </a:solidFill>
            <a:prstDash val="solid"/>
          </a:ln>
        </p:spPr>
        <p:txBody>
          <a:bodyPr/>
          <a:lstStyle/>
          <a:p>
            <a:endParaRPr lang="LID4096"/>
          </a:p>
        </p:txBody>
      </p:sp>
      <p:sp>
        <p:nvSpPr>
          <p:cNvPr id="9" name="Text 7"/>
          <p:cNvSpPr/>
          <p:nvPr/>
        </p:nvSpPr>
        <p:spPr>
          <a:xfrm>
            <a:off x="6660464" y="1947934"/>
            <a:ext cx="4671255"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7A62"/>
                </a:solidFill>
                <a:latin typeface="IBM Plex Sans" pitchFamily="34" charset="0"/>
                <a:ea typeface="IBM Plex Sans" pitchFamily="34" charset="-122"/>
                <a:cs typeface="IBM Plex Sans" pitchFamily="34" charset="-120"/>
              </a:rPr>
              <a:t>1 · Plan</a:t>
            </a:r>
            <a:endParaRPr lang="en-US" sz="1500" dirty="0"/>
          </a:p>
        </p:txBody>
      </p:sp>
      <p:sp>
        <p:nvSpPr>
          <p:cNvPr id="10" name="Text 8"/>
          <p:cNvSpPr/>
          <p:nvPr/>
        </p:nvSpPr>
        <p:spPr>
          <a:xfrm>
            <a:off x="6660464" y="2227278"/>
            <a:ext cx="4671255" cy="25648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260"/>
                </a:solidFill>
                <a:latin typeface="IBM Plex Sans" pitchFamily="34" charset="0"/>
                <a:ea typeface="IBM Plex Sans" pitchFamily="34" charset="-122"/>
                <a:cs typeface="IBM Plex Sans" pitchFamily="34" charset="-120"/>
              </a:rPr>
              <a:t>Write .ai/plans/task-slug.md and wait for approval.</a:t>
            </a:r>
            <a:endParaRPr lang="en-US" sz="1300" dirty="0"/>
          </a:p>
        </p:txBody>
      </p:sp>
      <p:sp>
        <p:nvSpPr>
          <p:cNvPr id="11" name="Shape 9"/>
          <p:cNvSpPr/>
          <p:nvPr/>
        </p:nvSpPr>
        <p:spPr>
          <a:xfrm>
            <a:off x="6480085" y="2708508"/>
            <a:ext cx="4895958" cy="794886"/>
          </a:xfrm>
          <a:prstGeom prst="roundRect">
            <a:avLst>
              <a:gd name="adj" fmla="val 12382"/>
            </a:avLst>
          </a:prstGeom>
          <a:solidFill>
            <a:srgbClr val="FBFAF6"/>
          </a:solidFill>
          <a:ln w="6350">
            <a:solidFill>
              <a:srgbClr val="DAD6CB"/>
            </a:solidFill>
            <a:prstDash val="solid"/>
          </a:ln>
        </p:spPr>
        <p:txBody>
          <a:bodyPr/>
          <a:lstStyle/>
          <a:p>
            <a:endParaRPr lang="LID4096"/>
          </a:p>
        </p:txBody>
      </p:sp>
      <p:sp>
        <p:nvSpPr>
          <p:cNvPr id="12" name="Text 10"/>
          <p:cNvSpPr/>
          <p:nvPr/>
        </p:nvSpPr>
        <p:spPr>
          <a:xfrm>
            <a:off x="6660464" y="2850735"/>
            <a:ext cx="4671255"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7A62"/>
                </a:solidFill>
                <a:latin typeface="IBM Plex Sans" pitchFamily="34" charset="0"/>
                <a:ea typeface="IBM Plex Sans" pitchFamily="34" charset="-122"/>
                <a:cs typeface="IBM Plex Sans" pitchFamily="34" charset="-120"/>
              </a:rPr>
              <a:t>2 · Track</a:t>
            </a:r>
            <a:endParaRPr lang="en-US" sz="1500" dirty="0"/>
          </a:p>
        </p:txBody>
      </p:sp>
      <p:sp>
        <p:nvSpPr>
          <p:cNvPr id="13" name="Text 11"/>
          <p:cNvSpPr/>
          <p:nvPr/>
        </p:nvSpPr>
        <p:spPr>
          <a:xfrm>
            <a:off x="6660464" y="3130079"/>
            <a:ext cx="4671255" cy="25648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260"/>
                </a:solidFill>
                <a:latin typeface="IBM Plex Sans" pitchFamily="34" charset="0"/>
                <a:ea typeface="IBM Plex Sans" pitchFamily="34" charset="-122"/>
                <a:cs typeface="IBM Plex Sans" pitchFamily="34" charset="-120"/>
              </a:rPr>
              <a:t>Tick each step with a precise edit, never an overwrite.</a:t>
            </a:r>
            <a:endParaRPr lang="en-US" sz="1300" dirty="0"/>
          </a:p>
        </p:txBody>
      </p:sp>
      <p:sp>
        <p:nvSpPr>
          <p:cNvPr id="14" name="Shape 12"/>
          <p:cNvSpPr/>
          <p:nvPr/>
        </p:nvSpPr>
        <p:spPr>
          <a:xfrm>
            <a:off x="6480085" y="3611308"/>
            <a:ext cx="4895958" cy="794886"/>
          </a:xfrm>
          <a:prstGeom prst="roundRect">
            <a:avLst>
              <a:gd name="adj" fmla="val 12382"/>
            </a:avLst>
          </a:prstGeom>
          <a:solidFill>
            <a:srgbClr val="FBFAF6"/>
          </a:solidFill>
          <a:ln w="6350">
            <a:solidFill>
              <a:srgbClr val="DAD6CB"/>
            </a:solidFill>
            <a:prstDash val="solid"/>
          </a:ln>
        </p:spPr>
        <p:txBody>
          <a:bodyPr/>
          <a:lstStyle/>
          <a:p>
            <a:endParaRPr lang="LID4096"/>
          </a:p>
        </p:txBody>
      </p:sp>
      <p:sp>
        <p:nvSpPr>
          <p:cNvPr id="15" name="Text 13"/>
          <p:cNvSpPr/>
          <p:nvPr/>
        </p:nvSpPr>
        <p:spPr>
          <a:xfrm>
            <a:off x="6660464" y="3753535"/>
            <a:ext cx="4671255"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7A62"/>
                </a:solidFill>
                <a:latin typeface="IBM Plex Sans" pitchFamily="34" charset="0"/>
                <a:ea typeface="IBM Plex Sans" pitchFamily="34" charset="-122"/>
                <a:cs typeface="IBM Plex Sans" pitchFamily="34" charset="-120"/>
              </a:rPr>
              <a:t>3 · Finish</a:t>
            </a:r>
            <a:endParaRPr lang="en-US" sz="1500" dirty="0"/>
          </a:p>
        </p:txBody>
      </p:sp>
      <p:sp>
        <p:nvSpPr>
          <p:cNvPr id="16" name="Text 14"/>
          <p:cNvSpPr/>
          <p:nvPr/>
        </p:nvSpPr>
        <p:spPr>
          <a:xfrm>
            <a:off x="6660464" y="4032879"/>
            <a:ext cx="4671255" cy="25648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260"/>
                </a:solidFill>
                <a:latin typeface="IBM Plex Sans" pitchFamily="34" charset="0"/>
                <a:ea typeface="IBM Plex Sans" pitchFamily="34" charset="-122"/>
                <a:cs typeface="IBM Plex Sans" pitchFamily="34" charset="-120"/>
              </a:rPr>
              <a:t>Mark it DONE and move it to .ai/completed/.</a:t>
            </a:r>
            <a:endParaRPr lang="en-US" sz="1300" dirty="0"/>
          </a:p>
        </p:txBody>
      </p:sp>
      <p:sp>
        <p:nvSpPr>
          <p:cNvPr id="17" name="Shape 15"/>
          <p:cNvSpPr/>
          <p:nvPr/>
        </p:nvSpPr>
        <p:spPr>
          <a:xfrm>
            <a:off x="812782" y="4813461"/>
            <a:ext cx="10566436" cy="1028538"/>
          </a:xfrm>
          <a:prstGeom prst="roundRect">
            <a:avLst>
              <a:gd name="adj" fmla="val 9878"/>
            </a:avLst>
          </a:prstGeom>
          <a:solidFill>
            <a:srgbClr val="14171C"/>
          </a:solidFill>
          <a:ln/>
        </p:spPr>
        <p:txBody>
          <a:bodyPr/>
          <a:lstStyle/>
          <a:p>
            <a:endParaRPr lang="LID4096"/>
          </a:p>
        </p:txBody>
      </p:sp>
      <p:sp>
        <p:nvSpPr>
          <p:cNvPr id="18" name="Text 16"/>
          <p:cNvSpPr/>
          <p:nvPr/>
        </p:nvSpPr>
        <p:spPr>
          <a:xfrm>
            <a:off x="1041346" y="4965805"/>
            <a:ext cx="10412587" cy="475583"/>
          </a:xfrm>
          <a:prstGeom prst="rect">
            <a:avLst/>
          </a:prstGeom>
          <a:noFill/>
          <a:ln/>
        </p:spPr>
        <p:txBody>
          <a:bodyPr wrap="square" lIns="0" tIns="0" rIns="0" bIns="0" rtlCol="0" anchor="t">
            <a:normAutofit/>
          </a:bodyPr>
          <a:lstStyle/>
          <a:p>
            <a:pPr marL="0" indent="0" algn="l">
              <a:lnSpc>
                <a:spcPts val="1783"/>
              </a:lnSpc>
              <a:buNone/>
            </a:pPr>
            <a:r>
              <a:rPr lang="en-US" sz="1189" dirty="0">
                <a:solidFill>
                  <a:srgbClr val="F4F2EC"/>
                </a:solidFill>
                <a:latin typeface="JetBrains Mono" pitchFamily="49" charset="0"/>
                <a:ea typeface="JetBrains Mono" pitchFamily="49" charset="-122"/>
                <a:cs typeface="JetBrains Mono" pitchFamily="49" charset="-120"/>
              </a:rPr>
              <a:t>Progress file: .ai/progress/task-slug.md</a:t>
            </a:r>
            <a:endParaRPr lang="en-US" sz="1189" dirty="0"/>
          </a:p>
          <a:p>
            <a:pPr marL="0" indent="0" algn="l">
              <a:lnSpc>
                <a:spcPts val="1783"/>
              </a:lnSpc>
              <a:buNone/>
            </a:pPr>
            <a:r>
              <a:rPr lang="en-US" sz="1189" dirty="0">
                <a:solidFill>
                  <a:srgbClr val="F4F2EC"/>
                </a:solidFill>
                <a:latin typeface="JetBrains Mono" pitchFamily="49" charset="0"/>
                <a:ea typeface="JetBrains Mono" pitchFamily="49" charset="-122"/>
                <a:cs typeface="JetBrains Mono" pitchFamily="49" charset="-120"/>
              </a:rPr>
              <a:t>Mark steps done with Edit. Do NOT use Write on the progress file.</a:t>
            </a:r>
            <a:endParaRPr lang="en-US" sz="1189" dirty="0"/>
          </a:p>
        </p:txBody>
      </p:sp>
      <p:sp>
        <p:nvSpPr>
          <p:cNvPr id="19" name="Text 17"/>
          <p:cNvSpPr/>
          <p:nvPr/>
        </p:nvSpPr>
        <p:spPr>
          <a:xfrm>
            <a:off x="1041346" y="5479489"/>
            <a:ext cx="10412587" cy="235563"/>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B9C0CA"/>
                </a:solidFill>
                <a:latin typeface="IBM Plex Sans" pitchFamily="34" charset="0"/>
                <a:ea typeface="IBM Plex Sans" pitchFamily="34" charset="-122"/>
                <a:cs typeface="IBM Plex Sans" pitchFamily="34" charset="-120"/>
              </a:rPr>
              <a:t>Added to every subagent prompt. Local markdown only: cloud task lists are not visible in the repository.</a:t>
            </a:r>
            <a:endParaRPr lang="en-US" sz="1196" dirty="0"/>
          </a:p>
        </p:txBody>
      </p:sp>
      <p:sp>
        <p:nvSpPr>
          <p:cNvPr id="20" name="Text 18"/>
          <p:cNvSpPr/>
          <p:nvPr/>
        </p:nvSpPr>
        <p:spPr>
          <a:xfrm>
            <a:off x="812782" y="6238242"/>
            <a:ext cx="6540500"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I-Synergy/AI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71C"/>
        </a:solidFill>
        <a:effectLst/>
      </p:bgPr>
    </p:bg>
    <p:spTree>
      <p:nvGrpSpPr>
        <p:cNvPr id="1" name=""/>
        <p:cNvGrpSpPr/>
        <p:nvPr/>
      </p:nvGrpSpPr>
      <p:grpSpPr>
        <a:xfrm>
          <a:off x="0" y="0"/>
          <a:ext cx="0" cy="0"/>
          <a:chOff x="0" y="0"/>
          <a:chExt cx="0" cy="0"/>
        </a:xfrm>
      </p:grpSpPr>
      <p:sp>
        <p:nvSpPr>
          <p:cNvPr id="2" name="Text 0"/>
          <p:cNvSpPr/>
          <p:nvPr/>
        </p:nvSpPr>
        <p:spPr>
          <a:xfrm>
            <a:off x="812782" y="812784"/>
            <a:ext cx="10883429" cy="274259"/>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3DD6B0"/>
                </a:solidFill>
                <a:latin typeface="IBM Plex Sans" pitchFamily="34" charset="0"/>
                <a:ea typeface="IBM Plex Sans" pitchFamily="34" charset="-122"/>
                <a:cs typeface="IBM Plex Sans" pitchFamily="34" charset="-120"/>
              </a:rPr>
              <a:t>SESSION HANDOFF</a:t>
            </a:r>
            <a:endParaRPr lang="en-US" sz="1400" dirty="0"/>
          </a:p>
        </p:txBody>
      </p:sp>
      <p:sp>
        <p:nvSpPr>
          <p:cNvPr id="3" name="Text 1"/>
          <p:cNvSpPr>
            <a:spLocks noGrp="1"/>
          </p:cNvSpPr>
          <p:nvPr>
            <p:ph type="title"/>
          </p:nvPr>
        </p:nvSpPr>
        <p:spPr>
          <a:xfrm>
            <a:off x="812782" y="1137769"/>
            <a:ext cx="10883429" cy="472426"/>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4F2EC"/>
                </a:solidFill>
                <a:latin typeface="IBM Plex Sans" pitchFamily="34" charset="0"/>
                <a:ea typeface="IBM Plex Sans" pitchFamily="34" charset="-122"/>
                <a:cs typeface="IBM Plex Sans" pitchFamily="34" charset="-120"/>
              </a:rPr>
              <a:t>Each session ends with a written handoff</a:t>
            </a:r>
            <a:endParaRPr lang="en-US" sz="3200" dirty="0"/>
          </a:p>
        </p:txBody>
      </p:sp>
      <p:sp>
        <p:nvSpPr>
          <p:cNvPr id="4" name="Shape 2"/>
          <p:cNvSpPr/>
          <p:nvPr/>
        </p:nvSpPr>
        <p:spPr>
          <a:xfrm>
            <a:off x="812782" y="1813359"/>
            <a:ext cx="3420521" cy="1190084"/>
          </a:xfrm>
          <a:prstGeom prst="roundRect">
            <a:avLst>
              <a:gd name="adj" fmla="val 8537"/>
            </a:avLst>
          </a:prstGeom>
          <a:solidFill>
            <a:srgbClr val="1F242C"/>
          </a:solidFill>
          <a:ln/>
        </p:spPr>
        <p:txBody>
          <a:bodyPr/>
          <a:lstStyle/>
          <a:p>
            <a:endParaRPr lang="LID4096"/>
          </a:p>
        </p:txBody>
      </p:sp>
      <p:sp>
        <p:nvSpPr>
          <p:cNvPr id="5" name="Shape 3"/>
          <p:cNvSpPr/>
          <p:nvPr/>
        </p:nvSpPr>
        <p:spPr>
          <a:xfrm>
            <a:off x="812782" y="1813359"/>
            <a:ext cx="3420521" cy="1190084"/>
          </a:xfrm>
          <a:custGeom>
            <a:avLst/>
            <a:gdLst/>
            <a:ahLst/>
            <a:cxnLst/>
            <a:rect l="l" t="t" r="r" b="b"/>
            <a:pathLst>
              <a:path w="3420521" h="1190084">
                <a:moveTo>
                  <a:pt x="0" y="101600"/>
                </a:moveTo>
                <a:lnTo>
                  <a:pt x="0" y="101600"/>
                </a:lnTo>
                <a:arcTo wR="101600" hR="101600" stAng="10800000" swAng="5400000"/>
                <a:lnTo>
                  <a:pt x="3318921" y="0"/>
                </a:lnTo>
                <a:arcTo wR="101600" hR="101600" stAng="16200000" swAng="5400000"/>
                <a:lnTo>
                  <a:pt x="3420521" y="101600"/>
                </a:lnTo>
                <a:arcTo wR="101600" hR="63500" stAng="0" swAng="-5400000"/>
                <a:lnTo>
                  <a:pt x="101600" y="38100"/>
                </a:lnTo>
                <a:arcTo wR="101600" hR="63500" stAng="16200000" swAng="-5400000"/>
                <a:close/>
              </a:path>
            </a:pathLst>
          </a:custGeom>
          <a:solidFill>
            <a:srgbClr val="3DD6B0"/>
          </a:solidFill>
          <a:ln/>
        </p:spPr>
        <p:txBody>
          <a:bodyPr/>
          <a:lstStyle/>
          <a:p>
            <a:endParaRPr lang="LID4096"/>
          </a:p>
        </p:txBody>
      </p:sp>
      <p:sp>
        <p:nvSpPr>
          <p:cNvPr id="6" name="Text 4"/>
          <p:cNvSpPr/>
          <p:nvPr/>
        </p:nvSpPr>
        <p:spPr>
          <a:xfrm>
            <a:off x="1015910" y="2025777"/>
            <a:ext cx="3104693" cy="29960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2EC"/>
                </a:solidFill>
                <a:latin typeface="IBM Plex Sans" pitchFamily="34" charset="0"/>
                <a:ea typeface="IBM Plex Sans" pitchFamily="34" charset="-122"/>
                <a:cs typeface="IBM Plex Sans" pitchFamily="34" charset="-120"/>
              </a:rPr>
              <a:t>Start</a:t>
            </a:r>
            <a:endParaRPr lang="en-US" sz="1800" dirty="0"/>
          </a:p>
        </p:txBody>
      </p:sp>
      <p:sp>
        <p:nvSpPr>
          <p:cNvPr id="7" name="Text 5"/>
          <p:cNvSpPr/>
          <p:nvPr/>
        </p:nvSpPr>
        <p:spPr>
          <a:xfrm>
            <a:off x="1015910" y="2363484"/>
            <a:ext cx="3104693" cy="48757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0CA"/>
                </a:solidFill>
                <a:latin typeface="IBM Plex Sans" pitchFamily="34" charset="0"/>
                <a:ea typeface="IBM Plex Sans" pitchFamily="34" charset="-122"/>
                <a:cs typeface="IBM Plex Sans" pitchFamily="34" charset="-120"/>
              </a:rPr>
              <a:t>Read session-context.md and look through .ai/completed/ for earlier work.</a:t>
            </a:r>
            <a:endParaRPr lang="en-US" sz="1300" dirty="0"/>
          </a:p>
        </p:txBody>
      </p:sp>
      <p:sp>
        <p:nvSpPr>
          <p:cNvPr id="8" name="Shape 6"/>
          <p:cNvSpPr/>
          <p:nvPr/>
        </p:nvSpPr>
        <p:spPr>
          <a:xfrm>
            <a:off x="4385649" y="1813359"/>
            <a:ext cx="3420611" cy="1190084"/>
          </a:xfrm>
          <a:prstGeom prst="roundRect">
            <a:avLst>
              <a:gd name="adj" fmla="val 8537"/>
            </a:avLst>
          </a:prstGeom>
          <a:solidFill>
            <a:srgbClr val="1F242C"/>
          </a:solidFill>
          <a:ln/>
        </p:spPr>
        <p:txBody>
          <a:bodyPr/>
          <a:lstStyle/>
          <a:p>
            <a:endParaRPr lang="LID4096"/>
          </a:p>
        </p:txBody>
      </p:sp>
      <p:sp>
        <p:nvSpPr>
          <p:cNvPr id="9" name="Shape 7"/>
          <p:cNvSpPr/>
          <p:nvPr/>
        </p:nvSpPr>
        <p:spPr>
          <a:xfrm>
            <a:off x="4385649" y="1813359"/>
            <a:ext cx="3420611" cy="1190084"/>
          </a:xfrm>
          <a:custGeom>
            <a:avLst/>
            <a:gdLst/>
            <a:ahLst/>
            <a:cxnLst/>
            <a:rect l="l" t="t" r="r" b="b"/>
            <a:pathLst>
              <a:path w="3420611" h="1190084">
                <a:moveTo>
                  <a:pt x="0" y="101600"/>
                </a:moveTo>
                <a:lnTo>
                  <a:pt x="0" y="101600"/>
                </a:lnTo>
                <a:arcTo wR="101600" hR="101600" stAng="10800000" swAng="5400000"/>
                <a:lnTo>
                  <a:pt x="3319011" y="0"/>
                </a:lnTo>
                <a:arcTo wR="101600" hR="101600" stAng="16200000" swAng="5400000"/>
                <a:lnTo>
                  <a:pt x="3420611" y="101600"/>
                </a:lnTo>
                <a:arcTo wR="101600" hR="63500" stAng="0" swAng="-5400000"/>
                <a:lnTo>
                  <a:pt x="101600" y="38100"/>
                </a:lnTo>
                <a:arcTo wR="101600" hR="63500" stAng="16200000" swAng="-5400000"/>
                <a:close/>
              </a:path>
            </a:pathLst>
          </a:custGeom>
          <a:solidFill>
            <a:srgbClr val="3DD6B0"/>
          </a:solidFill>
          <a:ln/>
        </p:spPr>
        <p:txBody>
          <a:bodyPr/>
          <a:lstStyle/>
          <a:p>
            <a:endParaRPr lang="LID4096"/>
          </a:p>
        </p:txBody>
      </p:sp>
      <p:sp>
        <p:nvSpPr>
          <p:cNvPr id="10" name="Text 8"/>
          <p:cNvSpPr/>
          <p:nvPr/>
        </p:nvSpPr>
        <p:spPr>
          <a:xfrm>
            <a:off x="4588777" y="2025777"/>
            <a:ext cx="3104786" cy="29960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2EC"/>
                </a:solidFill>
                <a:latin typeface="IBM Plex Sans" pitchFamily="34" charset="0"/>
                <a:ea typeface="IBM Plex Sans" pitchFamily="34" charset="-122"/>
                <a:cs typeface="IBM Plex Sans" pitchFamily="34" charset="-120"/>
              </a:rPr>
              <a:t>Work</a:t>
            </a:r>
            <a:endParaRPr lang="en-US" sz="1800" dirty="0"/>
          </a:p>
        </p:txBody>
      </p:sp>
      <p:sp>
        <p:nvSpPr>
          <p:cNvPr id="11" name="Text 9"/>
          <p:cNvSpPr/>
          <p:nvPr/>
        </p:nvSpPr>
        <p:spPr>
          <a:xfrm>
            <a:off x="4588777" y="2363484"/>
            <a:ext cx="3104786" cy="48757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0CA"/>
                </a:solidFill>
                <a:latin typeface="IBM Plex Sans" pitchFamily="34" charset="0"/>
                <a:ea typeface="IBM Plex Sans" pitchFamily="34" charset="-122"/>
                <a:cs typeface="IBM Plex Sans" pitchFamily="34" charset="-120"/>
              </a:rPr>
              <a:t>Track progress in files and delegate the code to subagents.</a:t>
            </a:r>
            <a:endParaRPr lang="en-US" sz="1300" dirty="0"/>
          </a:p>
        </p:txBody>
      </p:sp>
      <p:sp>
        <p:nvSpPr>
          <p:cNvPr id="12" name="Shape 10"/>
          <p:cNvSpPr/>
          <p:nvPr/>
        </p:nvSpPr>
        <p:spPr>
          <a:xfrm>
            <a:off x="7958606" y="1813359"/>
            <a:ext cx="3420611" cy="1190084"/>
          </a:xfrm>
          <a:prstGeom prst="roundRect">
            <a:avLst>
              <a:gd name="adj" fmla="val 8537"/>
            </a:avLst>
          </a:prstGeom>
          <a:solidFill>
            <a:srgbClr val="1F242C"/>
          </a:solidFill>
          <a:ln/>
        </p:spPr>
        <p:txBody>
          <a:bodyPr/>
          <a:lstStyle/>
          <a:p>
            <a:endParaRPr lang="LID4096"/>
          </a:p>
        </p:txBody>
      </p:sp>
      <p:sp>
        <p:nvSpPr>
          <p:cNvPr id="13" name="Shape 11"/>
          <p:cNvSpPr/>
          <p:nvPr/>
        </p:nvSpPr>
        <p:spPr>
          <a:xfrm>
            <a:off x="7958606" y="1813359"/>
            <a:ext cx="3420611" cy="1190084"/>
          </a:xfrm>
          <a:custGeom>
            <a:avLst/>
            <a:gdLst/>
            <a:ahLst/>
            <a:cxnLst/>
            <a:rect l="l" t="t" r="r" b="b"/>
            <a:pathLst>
              <a:path w="3420611" h="1190084">
                <a:moveTo>
                  <a:pt x="0" y="101600"/>
                </a:moveTo>
                <a:lnTo>
                  <a:pt x="0" y="101600"/>
                </a:lnTo>
                <a:arcTo wR="101600" hR="101600" stAng="10800000" swAng="5400000"/>
                <a:lnTo>
                  <a:pt x="3319011" y="0"/>
                </a:lnTo>
                <a:arcTo wR="101600" hR="101600" stAng="16200000" swAng="5400000"/>
                <a:lnTo>
                  <a:pt x="3420611" y="101600"/>
                </a:lnTo>
                <a:arcTo wR="101600" hR="63500" stAng="0" swAng="-5400000"/>
                <a:lnTo>
                  <a:pt x="101600" y="38100"/>
                </a:lnTo>
                <a:arcTo wR="101600" hR="63500" stAng="16200000" swAng="-5400000"/>
                <a:close/>
              </a:path>
            </a:pathLst>
          </a:custGeom>
          <a:solidFill>
            <a:srgbClr val="3DD6B0"/>
          </a:solidFill>
          <a:ln/>
        </p:spPr>
        <p:txBody>
          <a:bodyPr/>
          <a:lstStyle/>
          <a:p>
            <a:endParaRPr lang="LID4096"/>
          </a:p>
        </p:txBody>
      </p:sp>
      <p:sp>
        <p:nvSpPr>
          <p:cNvPr id="14" name="Text 12"/>
          <p:cNvSpPr/>
          <p:nvPr/>
        </p:nvSpPr>
        <p:spPr>
          <a:xfrm>
            <a:off x="8161734" y="2025777"/>
            <a:ext cx="3104786" cy="29960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2EC"/>
                </a:solidFill>
                <a:latin typeface="IBM Plex Sans" pitchFamily="34" charset="0"/>
                <a:ea typeface="IBM Plex Sans" pitchFamily="34" charset="-122"/>
                <a:cs typeface="IBM Plex Sans" pitchFamily="34" charset="-120"/>
              </a:rPr>
              <a:t>End</a:t>
            </a:r>
            <a:endParaRPr lang="en-US" sz="1800" dirty="0"/>
          </a:p>
        </p:txBody>
      </p:sp>
      <p:sp>
        <p:nvSpPr>
          <p:cNvPr id="15" name="Text 13"/>
          <p:cNvSpPr/>
          <p:nvPr/>
        </p:nvSpPr>
        <p:spPr>
          <a:xfrm>
            <a:off x="8161734" y="2363484"/>
            <a:ext cx="3104786" cy="48757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0CA"/>
                </a:solidFill>
                <a:latin typeface="IBM Plex Sans" pitchFamily="34" charset="0"/>
                <a:ea typeface="IBM Plex Sans" pitchFamily="34" charset="-122"/>
                <a:cs typeface="IBM Plex Sans" pitchFamily="34" charset="-120"/>
              </a:rPr>
              <a:t>Write the handoff, name your client in Written By, archive finished progress.</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24327" y="3243553"/>
          <a:ext cx="10554890" cy="1432356"/>
        </p:xfrm>
        <a:graphic>
          <a:graphicData uri="http://schemas.openxmlformats.org/drawingml/2006/table">
            <a:tbl>
              <a:tblPr/>
              <a:tblGrid>
                <a:gridCol w="2110978">
                  <a:extLst>
                    <a:ext uri="{9D8B030D-6E8A-4147-A177-3AD203B41FA5}">
                      <a16:colId xmlns:a16="http://schemas.microsoft.com/office/drawing/2014/main" val="20000"/>
                    </a:ext>
                  </a:extLst>
                </a:gridCol>
                <a:gridCol w="4855249">
                  <a:extLst>
                    <a:ext uri="{9D8B030D-6E8A-4147-A177-3AD203B41FA5}">
                      <a16:colId xmlns:a16="http://schemas.microsoft.com/office/drawing/2014/main" val="20001"/>
                    </a:ext>
                  </a:extLst>
                </a:gridCol>
                <a:gridCol w="3588663">
                  <a:extLst>
                    <a:ext uri="{9D8B030D-6E8A-4147-A177-3AD203B41FA5}">
                      <a16:colId xmlns:a16="http://schemas.microsoft.com/office/drawing/2014/main" val="20002"/>
                    </a:ext>
                  </a:extLst>
                </a:gridCol>
              </a:tblGrid>
              <a:tr h="358089">
                <a:tc>
                  <a:txBody>
                    <a:bodyPr/>
                    <a:lstStyle/>
                    <a:p>
                      <a:pPr marL="0" indent="0">
                        <a:lnSpc>
                          <a:spcPts val="1820"/>
                        </a:lnSpc>
                        <a:buNone/>
                      </a:pPr>
                      <a:r>
                        <a:rPr lang="en-US" sz="1300" b="1" dirty="0">
                          <a:solidFill>
                            <a:srgbClr val="3DD6B0"/>
                          </a:solidFill>
                          <a:latin typeface="IBM Plex Sans" pitchFamily="34" charset="0"/>
                          <a:ea typeface="IBM Plex Sans" pitchFamily="34" charset="-122"/>
                          <a:cs typeface="IBM Plex Sans" pitchFamily="34" charset="-120"/>
                        </a:rPr>
                        <a:t>Client</a:t>
                      </a:r>
                      <a:endParaRPr lang="en-US" sz="1300" dirty="0">
                        <a:latin typeface="IBM Plex Sans" charset="0"/>
                        <a:ea typeface="IBM Plex Sans" charset="0"/>
                        <a:cs typeface="IBM Plex Sans" charset="0"/>
                      </a:endParaRPr>
                    </a:p>
                  </a:txBody>
                  <a:tcPr marL="57785" marR="57785" marT="57785" marB="57785">
                    <a:lnL w="12700" cap="flat" cmpd="sng" algn="ctr">
                      <a:solidFill>
                        <a:srgbClr val="47494C"/>
                      </a:solidFill>
                      <a:prstDash val="solid"/>
                      <a:round/>
                      <a:headEnd type="none" w="med" len="med"/>
                      <a:tailEnd type="none" w="med" len="med"/>
                    </a:lnL>
                    <a:lnR w="12700" cap="flat" cmpd="sng" algn="ctr">
                      <a:solidFill>
                        <a:srgbClr val="52565C"/>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52565C"/>
                      </a:solidFill>
                      <a:prstDash val="solid"/>
                      <a:round/>
                      <a:headEnd type="none" w="med" len="med"/>
                      <a:tailEnd type="none" w="med" len="med"/>
                    </a:lnB>
                    <a:solidFill>
                      <a:srgbClr val="232831"/>
                    </a:solidFill>
                  </a:tcPr>
                </a:tc>
                <a:tc>
                  <a:txBody>
                    <a:bodyPr/>
                    <a:lstStyle/>
                    <a:p>
                      <a:pPr marL="0" indent="0">
                        <a:lnSpc>
                          <a:spcPts val="1820"/>
                        </a:lnSpc>
                        <a:buNone/>
                      </a:pPr>
                      <a:r>
                        <a:rPr lang="en-US" sz="1300" b="1" dirty="0">
                          <a:solidFill>
                            <a:srgbClr val="3DD6B0"/>
                          </a:solidFill>
                          <a:latin typeface="IBM Plex Sans" pitchFamily="34" charset="0"/>
                          <a:ea typeface="IBM Plex Sans" pitchFamily="34" charset="-122"/>
                          <a:cs typeface="IBM Plex Sans" pitchFamily="34" charset="-120"/>
                        </a:rPr>
                        <a:t>How it reads the handoff</a:t>
                      </a:r>
                      <a:endParaRPr lang="en-US" sz="1300" dirty="0">
                        <a:latin typeface="IBM Plex Sans" charset="0"/>
                        <a:ea typeface="IBM Plex Sans" charset="0"/>
                        <a:cs typeface="IBM Plex Sans" charset="0"/>
                      </a:endParaRPr>
                    </a:p>
                  </a:txBody>
                  <a:tcPr marL="57785" marR="57785" marT="57785" marB="57785">
                    <a:lnL w="12700" cap="flat" cmpd="sng" algn="ctr">
                      <a:solidFill>
                        <a:srgbClr val="52565C"/>
                      </a:solidFill>
                      <a:prstDash val="solid"/>
                      <a:round/>
                      <a:headEnd type="none" w="med" len="med"/>
                      <a:tailEnd type="none" w="med" len="med"/>
                    </a:lnL>
                    <a:lnR w="12700" cap="flat" cmpd="sng" algn="ctr">
                      <a:solidFill>
                        <a:srgbClr val="52565C"/>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52565C"/>
                      </a:solidFill>
                      <a:prstDash val="solid"/>
                      <a:round/>
                      <a:headEnd type="none" w="med" len="med"/>
                      <a:tailEnd type="none" w="med" len="med"/>
                    </a:lnB>
                    <a:solidFill>
                      <a:srgbClr val="232831"/>
                    </a:solidFill>
                  </a:tcPr>
                </a:tc>
                <a:tc>
                  <a:txBody>
                    <a:bodyPr/>
                    <a:lstStyle/>
                    <a:p>
                      <a:pPr marL="0" indent="0">
                        <a:lnSpc>
                          <a:spcPts val="1820"/>
                        </a:lnSpc>
                        <a:buNone/>
                      </a:pPr>
                      <a:r>
                        <a:rPr lang="en-US" sz="1300" b="1" dirty="0">
                          <a:solidFill>
                            <a:srgbClr val="3DD6B0"/>
                          </a:solidFill>
                          <a:latin typeface="IBM Plex Sans" pitchFamily="34" charset="0"/>
                          <a:ea typeface="IBM Plex Sans" pitchFamily="34" charset="-122"/>
                          <a:cs typeface="IBM Plex Sans" pitchFamily="34" charset="-120"/>
                        </a:rPr>
                        <a:t>How it writes it</a:t>
                      </a:r>
                      <a:endParaRPr lang="en-US" sz="1300" dirty="0">
                        <a:latin typeface="IBM Plex Sans" charset="0"/>
                        <a:ea typeface="IBM Plex Sans" charset="0"/>
                        <a:cs typeface="IBM Plex Sans" charset="0"/>
                      </a:endParaRPr>
                    </a:p>
                  </a:txBody>
                  <a:tcPr marL="57785" marR="57785" marT="57785" marB="57785">
                    <a:lnL w="12700" cap="flat" cmpd="sng" algn="ctr">
                      <a:solidFill>
                        <a:srgbClr val="52565C"/>
                      </a:solidFill>
                      <a:prstDash val="solid"/>
                      <a:round/>
                      <a:headEnd type="none" w="med" len="med"/>
                      <a:tailEnd type="none" w="med" len="med"/>
                    </a:lnL>
                    <a:lnR w="12700" cap="flat" cmpd="sng" algn="ctr">
                      <a:solidFill>
                        <a:srgbClr val="52565C"/>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52565C"/>
                      </a:solidFill>
                      <a:prstDash val="solid"/>
                      <a:round/>
                      <a:headEnd type="none" w="med" len="med"/>
                      <a:tailEnd type="none" w="med" len="med"/>
                    </a:lnB>
                    <a:solidFill>
                      <a:srgbClr val="232831"/>
                    </a:solidFill>
                  </a:tcPr>
                </a:tc>
                <a:extLst>
                  <a:ext uri="{0D108BD9-81ED-4DB2-BD59-A6C34878D82A}">
                    <a16:rowId xmlns:a16="http://schemas.microsoft.com/office/drawing/2014/main" val="10000"/>
                  </a:ext>
                </a:extLst>
              </a:tr>
              <a:tr h="358089">
                <a:tc>
                  <a:txBody>
                    <a:bodyPr/>
                    <a:lstStyle/>
                    <a:p>
                      <a:pPr marL="0" indent="0">
                        <a:lnSpc>
                          <a:spcPts val="1820"/>
                        </a:lnSpc>
                        <a:buNone/>
                      </a:pPr>
                      <a:r>
                        <a:rPr lang="en-US" sz="1300" dirty="0">
                          <a:solidFill>
                            <a:srgbClr val="F4F2EC"/>
                          </a:solidFill>
                          <a:latin typeface="IBM Plex Sans" pitchFamily="34" charset="0"/>
                          <a:ea typeface="IBM Plex Sans" pitchFamily="34" charset="-122"/>
                          <a:cs typeface="IBM Plex Sans" pitchFamily="34" charset="-120"/>
                        </a:rPr>
                        <a:t>Claude Code</a:t>
                      </a:r>
                      <a:endParaRPr lang="en-US" sz="1300" dirty="0">
                        <a:latin typeface="IBM Plex Sans" charset="0"/>
                        <a:ea typeface="IBM Plex Sans" charset="0"/>
                        <a:cs typeface="IBM Plex Sans" charset="0"/>
                      </a:endParaRPr>
                    </a:p>
                  </a:txBody>
                  <a:tcPr marL="57785" marR="57785" marT="57785" marB="57785">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52565C"/>
                      </a:solidFill>
                      <a:prstDash val="solid"/>
                      <a:round/>
                      <a:headEnd type="none" w="med" len="med"/>
                      <a:tailEnd type="none" w="med" len="med"/>
                    </a:lnT>
                    <a:lnB w="12700" cap="flat" cmpd="sng" algn="ctr">
                      <a:solidFill>
                        <a:srgbClr val="47494C"/>
                      </a:solidFill>
                      <a:prstDash val="solid"/>
                      <a:round/>
                      <a:headEnd type="none" w="med" len="med"/>
                      <a:tailEnd type="none" w="med" len="med"/>
                    </a:lnB>
                  </a:tcPr>
                </a:tc>
                <a:tc>
                  <a:txBody>
                    <a:bodyPr/>
                    <a:lstStyle/>
                    <a:p>
                      <a:pPr marL="0" indent="0">
                        <a:lnSpc>
                          <a:spcPts val="1820"/>
                        </a:lnSpc>
                        <a:buNone/>
                      </a:pPr>
                      <a:r>
                        <a:rPr lang="en-US" sz="1300" dirty="0">
                          <a:solidFill>
                            <a:srgbClr val="F4F2EC"/>
                          </a:solidFill>
                          <a:latin typeface="IBM Plex Sans" pitchFamily="34" charset="0"/>
                          <a:ea typeface="IBM Plex Sans" pitchFamily="34" charset="-122"/>
                          <a:cs typeface="IBM Plex Sans" pitchFamily="34" charset="-120"/>
                        </a:rPr>
                        <a:t>A SessionStart hook prints the file (first 200 lines)</a:t>
                      </a:r>
                      <a:endParaRPr lang="en-US" sz="1300" dirty="0">
                        <a:latin typeface="IBM Plex Sans" charset="0"/>
                        <a:ea typeface="IBM Plex Sans" charset="0"/>
                        <a:cs typeface="IBM Plex Sans" charset="0"/>
                      </a:endParaRPr>
                    </a:p>
                  </a:txBody>
                  <a:tcPr marL="57785" marR="57785" marT="57785" marB="57785">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52565C"/>
                      </a:solidFill>
                      <a:prstDash val="solid"/>
                      <a:round/>
                      <a:headEnd type="none" w="med" len="med"/>
                      <a:tailEnd type="none" w="med" len="med"/>
                    </a:lnT>
                    <a:lnB w="12700" cap="flat" cmpd="sng" algn="ctr">
                      <a:solidFill>
                        <a:srgbClr val="47494C"/>
                      </a:solidFill>
                      <a:prstDash val="solid"/>
                      <a:round/>
                      <a:headEnd type="none" w="med" len="med"/>
                      <a:tailEnd type="none" w="med" len="med"/>
                    </a:lnB>
                  </a:tcPr>
                </a:tc>
                <a:tc>
                  <a:txBody>
                    <a:bodyPr/>
                    <a:lstStyle/>
                    <a:p>
                      <a:pPr marL="0" indent="0">
                        <a:lnSpc>
                          <a:spcPts val="1820"/>
                        </a:lnSpc>
                        <a:buNone/>
                      </a:pPr>
                      <a:r>
                        <a:rPr lang="en-US" sz="1300" dirty="0">
                          <a:solidFill>
                            <a:srgbClr val="F4F2EC"/>
                          </a:solidFill>
                          <a:latin typeface="IBM Plex Sans" pitchFamily="34" charset="0"/>
                          <a:ea typeface="IBM Plex Sans" pitchFamily="34" charset="-122"/>
                          <a:cs typeface="IBM Plex Sans" pitchFamily="34" charset="-120"/>
                        </a:rPr>
                        <a:t>Instruction in AGENTS.md</a:t>
                      </a:r>
                      <a:endParaRPr lang="en-US" sz="1300" dirty="0">
                        <a:latin typeface="IBM Plex Sans" charset="0"/>
                        <a:ea typeface="IBM Plex Sans" charset="0"/>
                        <a:cs typeface="IBM Plex Sans" charset="0"/>
                      </a:endParaRPr>
                    </a:p>
                  </a:txBody>
                  <a:tcPr marL="57785" marR="57785" marT="57785" marB="57785">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52565C"/>
                      </a:solidFill>
                      <a:prstDash val="solid"/>
                      <a:round/>
                      <a:headEnd type="none" w="med" len="med"/>
                      <a:tailEnd type="none" w="med" len="med"/>
                    </a:lnT>
                    <a:lnB w="12700" cap="flat" cmpd="sng" algn="ctr">
                      <a:solidFill>
                        <a:srgbClr val="47494C"/>
                      </a:solidFill>
                      <a:prstDash val="solid"/>
                      <a:round/>
                      <a:headEnd type="none" w="med" len="med"/>
                      <a:tailEnd type="none" w="med" len="med"/>
                    </a:lnB>
                  </a:tcPr>
                </a:tc>
                <a:extLst>
                  <a:ext uri="{0D108BD9-81ED-4DB2-BD59-A6C34878D82A}">
                    <a16:rowId xmlns:a16="http://schemas.microsoft.com/office/drawing/2014/main" val="10001"/>
                  </a:ext>
                </a:extLst>
              </a:tr>
              <a:tr h="358089">
                <a:tc>
                  <a:txBody>
                    <a:bodyPr/>
                    <a:lstStyle/>
                    <a:p>
                      <a:pPr marL="0" indent="0">
                        <a:lnSpc>
                          <a:spcPts val="1820"/>
                        </a:lnSpc>
                        <a:buNone/>
                      </a:pPr>
                      <a:r>
                        <a:rPr lang="en-US" sz="1300" dirty="0">
                          <a:solidFill>
                            <a:srgbClr val="F4F2EC"/>
                          </a:solidFill>
                          <a:latin typeface="IBM Plex Sans" pitchFamily="34" charset="0"/>
                          <a:ea typeface="IBM Plex Sans" pitchFamily="34" charset="-122"/>
                          <a:cs typeface="IBM Plex Sans" pitchFamily="34" charset="-120"/>
                        </a:rPr>
                        <a:t>GitHub Copilot</a:t>
                      </a:r>
                      <a:endParaRPr lang="en-US" sz="1300" dirty="0">
                        <a:latin typeface="IBM Plex Sans" charset="0"/>
                        <a:ea typeface="IBM Plex Sans" charset="0"/>
                        <a:cs typeface="IBM Plex Sans" charset="0"/>
                      </a:endParaRPr>
                    </a:p>
                  </a:txBody>
                  <a:tcPr marL="57785" marR="57785" marT="57785" marB="57785">
                    <a:lnL w="12700" cap="flat" cmpd="sng" algn="ctr">
                      <a:solidFill>
                        <a:srgbClr val="47494C"/>
                      </a:solidFill>
                      <a:prstDash val="solid"/>
                      <a:round/>
                      <a:headEnd type="none" w="med" len="med"/>
                      <a:tailEnd type="none" w="med" len="med"/>
                    </a:lnL>
                    <a:lnR w="12700" cap="flat" cmpd="sng" algn="ctr">
                      <a:solidFill>
                        <a:srgbClr val="4C4F54"/>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4C4F54"/>
                      </a:solidFill>
                      <a:prstDash val="solid"/>
                      <a:round/>
                      <a:headEnd type="none" w="med" len="med"/>
                      <a:tailEnd type="none" w="med" len="med"/>
                    </a:lnB>
                    <a:solidFill>
                      <a:srgbClr val="1B1F26"/>
                    </a:solidFill>
                  </a:tcPr>
                </a:tc>
                <a:tc>
                  <a:txBody>
                    <a:bodyPr/>
                    <a:lstStyle/>
                    <a:p>
                      <a:pPr marL="0" indent="0">
                        <a:lnSpc>
                          <a:spcPts val="1820"/>
                        </a:lnSpc>
                        <a:buNone/>
                      </a:pPr>
                      <a:r>
                        <a:rPr lang="en-US" sz="1300" dirty="0">
                          <a:solidFill>
                            <a:srgbClr val="F4F2EC"/>
                          </a:solidFill>
                          <a:latin typeface="IBM Plex Sans" pitchFamily="34" charset="0"/>
                          <a:ea typeface="IBM Plex Sans" pitchFamily="34" charset="-122"/>
                          <a:cs typeface="IBM Plex Sans" pitchFamily="34" charset="-120"/>
                        </a:rPr>
                        <a:t>Instruction only, no hook available</a:t>
                      </a:r>
                      <a:endParaRPr lang="en-US" sz="1300" dirty="0">
                        <a:latin typeface="IBM Plex Sans" charset="0"/>
                        <a:ea typeface="IBM Plex Sans" charset="0"/>
                        <a:cs typeface="IBM Plex Sans" charset="0"/>
                      </a:endParaRPr>
                    </a:p>
                  </a:txBody>
                  <a:tcPr marL="57785" marR="57785" marT="57785" marB="57785">
                    <a:lnL w="12700" cap="flat" cmpd="sng" algn="ctr">
                      <a:solidFill>
                        <a:srgbClr val="4C4F54"/>
                      </a:solidFill>
                      <a:prstDash val="solid"/>
                      <a:round/>
                      <a:headEnd type="none" w="med" len="med"/>
                      <a:tailEnd type="none" w="med" len="med"/>
                    </a:lnL>
                    <a:lnR w="12700" cap="flat" cmpd="sng" algn="ctr">
                      <a:solidFill>
                        <a:srgbClr val="4C4F54"/>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4C4F54"/>
                      </a:solidFill>
                      <a:prstDash val="solid"/>
                      <a:round/>
                      <a:headEnd type="none" w="med" len="med"/>
                      <a:tailEnd type="none" w="med" len="med"/>
                    </a:lnB>
                    <a:solidFill>
                      <a:srgbClr val="1B1F26"/>
                    </a:solidFill>
                  </a:tcPr>
                </a:tc>
                <a:tc>
                  <a:txBody>
                    <a:bodyPr/>
                    <a:lstStyle/>
                    <a:p>
                      <a:pPr marL="0" indent="0">
                        <a:lnSpc>
                          <a:spcPts val="1820"/>
                        </a:lnSpc>
                        <a:buNone/>
                      </a:pPr>
                      <a:r>
                        <a:rPr lang="en-US" sz="1300" dirty="0">
                          <a:solidFill>
                            <a:srgbClr val="F4F2EC"/>
                          </a:solidFill>
                          <a:latin typeface="IBM Plex Sans" pitchFamily="34" charset="0"/>
                          <a:ea typeface="IBM Plex Sans" pitchFamily="34" charset="-122"/>
                          <a:cs typeface="IBM Plex Sans" pitchFamily="34" charset="-120"/>
                        </a:rPr>
                        <a:t>Instruction in copilot-instructions.md</a:t>
                      </a:r>
                      <a:endParaRPr lang="en-US" sz="1300" dirty="0">
                        <a:latin typeface="IBM Plex Sans" charset="0"/>
                        <a:ea typeface="IBM Plex Sans" charset="0"/>
                        <a:cs typeface="IBM Plex Sans" charset="0"/>
                      </a:endParaRPr>
                    </a:p>
                  </a:txBody>
                  <a:tcPr marL="57785" marR="57785" marT="57785" marB="57785">
                    <a:lnL w="12700" cap="flat" cmpd="sng" algn="ctr">
                      <a:solidFill>
                        <a:srgbClr val="4C4F54"/>
                      </a:solidFill>
                      <a:prstDash val="solid"/>
                      <a:round/>
                      <a:headEnd type="none" w="med" len="med"/>
                      <a:tailEnd type="none" w="med" len="med"/>
                    </a:lnL>
                    <a:lnR w="12700" cap="flat" cmpd="sng" algn="ctr">
                      <a:solidFill>
                        <a:srgbClr val="4C4F54"/>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4C4F54"/>
                      </a:solidFill>
                      <a:prstDash val="solid"/>
                      <a:round/>
                      <a:headEnd type="none" w="med" len="med"/>
                      <a:tailEnd type="none" w="med" len="med"/>
                    </a:lnB>
                    <a:solidFill>
                      <a:srgbClr val="1B1F26"/>
                    </a:solidFill>
                  </a:tcPr>
                </a:tc>
                <a:extLst>
                  <a:ext uri="{0D108BD9-81ED-4DB2-BD59-A6C34878D82A}">
                    <a16:rowId xmlns:a16="http://schemas.microsoft.com/office/drawing/2014/main" val="10002"/>
                  </a:ext>
                </a:extLst>
              </a:tr>
              <a:tr h="358089">
                <a:tc>
                  <a:txBody>
                    <a:bodyPr/>
                    <a:lstStyle/>
                    <a:p>
                      <a:pPr marL="0" indent="0">
                        <a:lnSpc>
                          <a:spcPts val="1820"/>
                        </a:lnSpc>
                        <a:buNone/>
                      </a:pPr>
                      <a:r>
                        <a:rPr lang="en-US" sz="1300" dirty="0">
                          <a:solidFill>
                            <a:srgbClr val="F4F2EC"/>
                          </a:solidFill>
                          <a:latin typeface="IBM Plex Sans" pitchFamily="34" charset="0"/>
                          <a:ea typeface="IBM Plex Sans" pitchFamily="34" charset="-122"/>
                          <a:cs typeface="IBM Plex Sans" pitchFamily="34" charset="-120"/>
                        </a:rPr>
                        <a:t>Reasonix Code</a:t>
                      </a:r>
                      <a:endParaRPr lang="en-US" sz="1300" dirty="0">
                        <a:latin typeface="IBM Plex Sans" charset="0"/>
                        <a:ea typeface="IBM Plex Sans" charset="0"/>
                        <a:cs typeface="IBM Plex Sans" charset="0"/>
                      </a:endParaRPr>
                    </a:p>
                  </a:txBody>
                  <a:tcPr marL="57785" marR="57785" marT="57785" marB="57785">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C4F54"/>
                      </a:solidFill>
                      <a:prstDash val="solid"/>
                      <a:round/>
                      <a:headEnd type="none" w="med" len="med"/>
                      <a:tailEnd type="none" w="med" len="med"/>
                    </a:lnT>
                    <a:lnB w="12700" cap="flat" cmpd="sng" algn="ctr">
                      <a:solidFill>
                        <a:srgbClr val="47494C"/>
                      </a:solidFill>
                      <a:prstDash val="solid"/>
                      <a:round/>
                      <a:headEnd type="none" w="med" len="med"/>
                      <a:tailEnd type="none" w="med" len="med"/>
                    </a:lnB>
                  </a:tcPr>
                </a:tc>
                <a:tc>
                  <a:txBody>
                    <a:bodyPr/>
                    <a:lstStyle/>
                    <a:p>
                      <a:pPr marL="0" indent="0">
                        <a:lnSpc>
                          <a:spcPts val="1820"/>
                        </a:lnSpc>
                        <a:buNone/>
                      </a:pPr>
                      <a:r>
                        <a:rPr lang="en-US" sz="1300" dirty="0">
                          <a:solidFill>
                            <a:srgbClr val="F4F2EC"/>
                          </a:solidFill>
                          <a:latin typeface="IBM Plex Sans" pitchFamily="34" charset="0"/>
                          <a:ea typeface="IBM Plex Sans" pitchFamily="34" charset="-122"/>
                          <a:cs typeface="IBM Plex Sans" pitchFamily="34" charset="-120"/>
                        </a:rPr>
                        <a:t>Instruction only, no hook available</a:t>
                      </a:r>
                      <a:endParaRPr lang="en-US" sz="1300" dirty="0">
                        <a:latin typeface="IBM Plex Sans" charset="0"/>
                        <a:ea typeface="IBM Plex Sans" charset="0"/>
                        <a:cs typeface="IBM Plex Sans" charset="0"/>
                      </a:endParaRPr>
                    </a:p>
                  </a:txBody>
                  <a:tcPr marL="57785" marR="57785" marT="57785" marB="57785">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C4F54"/>
                      </a:solidFill>
                      <a:prstDash val="solid"/>
                      <a:round/>
                      <a:headEnd type="none" w="med" len="med"/>
                      <a:tailEnd type="none" w="med" len="med"/>
                    </a:lnT>
                    <a:lnB w="12700" cap="flat" cmpd="sng" algn="ctr">
                      <a:solidFill>
                        <a:srgbClr val="47494C"/>
                      </a:solidFill>
                      <a:prstDash val="solid"/>
                      <a:round/>
                      <a:headEnd type="none" w="med" len="med"/>
                      <a:tailEnd type="none" w="med" len="med"/>
                    </a:lnB>
                  </a:tcPr>
                </a:tc>
                <a:tc>
                  <a:txBody>
                    <a:bodyPr/>
                    <a:lstStyle/>
                    <a:p>
                      <a:pPr marL="0" indent="0">
                        <a:lnSpc>
                          <a:spcPts val="1820"/>
                        </a:lnSpc>
                        <a:buNone/>
                      </a:pPr>
                      <a:r>
                        <a:rPr lang="en-US" sz="1300" dirty="0">
                          <a:solidFill>
                            <a:srgbClr val="F4F2EC"/>
                          </a:solidFill>
                          <a:latin typeface="IBM Plex Sans" pitchFamily="34" charset="0"/>
                          <a:ea typeface="IBM Plex Sans" pitchFamily="34" charset="-122"/>
                          <a:cs typeface="IBM Plex Sans" pitchFamily="34" charset="-120"/>
                        </a:rPr>
                        <a:t>Instruction in AGENTS.md</a:t>
                      </a:r>
                      <a:endParaRPr lang="en-US" sz="1300" dirty="0">
                        <a:latin typeface="IBM Plex Sans" charset="0"/>
                        <a:ea typeface="IBM Plex Sans" charset="0"/>
                        <a:cs typeface="IBM Plex Sans" charset="0"/>
                      </a:endParaRPr>
                    </a:p>
                  </a:txBody>
                  <a:tcPr marL="57785" marR="57785" marT="57785" marB="57785">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C4F54"/>
                      </a:solidFill>
                      <a:prstDash val="solid"/>
                      <a:round/>
                      <a:headEnd type="none" w="med" len="med"/>
                      <a:tailEnd type="none" w="med" len="med"/>
                    </a:lnT>
                    <a:lnB w="12700" cap="flat" cmpd="sng" algn="ctr">
                      <a:solidFill>
                        <a:srgbClr val="47494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7" name="Text 14"/>
          <p:cNvSpPr/>
          <p:nvPr/>
        </p:nvSpPr>
        <p:spPr>
          <a:xfrm>
            <a:off x="812782" y="4904473"/>
            <a:ext cx="10883429" cy="25648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0CA"/>
                </a:solidFill>
                <a:latin typeface="IBM Plex Sans" pitchFamily="34" charset="0"/>
                <a:ea typeface="IBM Plex Sans" pitchFamily="34" charset="-122"/>
                <a:cs typeface="IBM Plex Sans" pitchFamily="34" charset="-120"/>
              </a:rPr>
              <a:t>Update sections in place and never overwrite another client’s entries.</a:t>
            </a:r>
            <a:endParaRPr lang="en-US" sz="1300" dirty="0"/>
          </a:p>
        </p:txBody>
      </p:sp>
      <p:sp>
        <p:nvSpPr>
          <p:cNvPr id="18" name="Text 15"/>
          <p:cNvSpPr/>
          <p:nvPr/>
        </p:nvSpPr>
        <p:spPr>
          <a:xfrm>
            <a:off x="812782" y="6238246"/>
            <a:ext cx="6540500"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B94A1"/>
                </a:solidFill>
                <a:latin typeface="IBM Plex Sans" pitchFamily="34" charset="0"/>
                <a:ea typeface="IBM Plex Sans" pitchFamily="34" charset="-122"/>
                <a:cs typeface="IBM Plex Sans" pitchFamily="34" charset="-120"/>
              </a:rPr>
              <a:t>I-Synergy/AI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782" y="812781"/>
            <a:ext cx="10883429" cy="274259"/>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0B7A62"/>
                </a:solidFill>
                <a:latin typeface="IBM Plex Sans" pitchFamily="34" charset="0"/>
                <a:ea typeface="IBM Plex Sans" pitchFamily="34" charset="-122"/>
                <a:cs typeface="IBM Plex Sans" pitchFamily="34" charset="-120"/>
              </a:rPr>
              <a:t>WHAT A HANDOFF HOLDS</a:t>
            </a:r>
            <a:endParaRPr lang="en-US" sz="1400" dirty="0"/>
          </a:p>
        </p:txBody>
      </p:sp>
      <p:sp>
        <p:nvSpPr>
          <p:cNvPr id="3" name="Text 1"/>
          <p:cNvSpPr>
            <a:spLocks noGrp="1"/>
          </p:cNvSpPr>
          <p:nvPr>
            <p:ph type="title"/>
          </p:nvPr>
        </p:nvSpPr>
        <p:spPr>
          <a:xfrm>
            <a:off x="812782" y="1137766"/>
            <a:ext cx="10883429" cy="472426"/>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71C"/>
                </a:solidFill>
                <a:latin typeface="IBM Plex Sans" pitchFamily="34" charset="0"/>
                <a:ea typeface="IBM Plex Sans" pitchFamily="34" charset="-122"/>
                <a:cs typeface="IBM Plex Sans" pitchFamily="34" charset="-120"/>
              </a:rPr>
              <a:t>session-context.md is the project’s shared memory</a:t>
            </a:r>
            <a:endParaRPr lang="en-US" sz="3200" dirty="0"/>
          </a:p>
        </p:txBody>
      </p:sp>
      <p:sp>
        <p:nvSpPr>
          <p:cNvPr id="4" name="Text 2"/>
          <p:cNvSpPr/>
          <p:nvPr/>
        </p:nvSpPr>
        <p:spPr>
          <a:xfrm>
            <a:off x="815957" y="1816528"/>
            <a:ext cx="2813086" cy="397470"/>
          </a:xfrm>
          <a:prstGeom prst="roundRect">
            <a:avLst>
              <a:gd name="adj" fmla="val 18372"/>
            </a:avLst>
          </a:prstGeom>
          <a:solidFill>
            <a:srgbClr val="FBFAF6"/>
          </a:solidFill>
          <a:ln w="6350">
            <a:solidFill>
              <a:srgbClr val="DAD6CB"/>
            </a:solidFill>
            <a:prstDash val="solid"/>
          </a:ln>
        </p:spPr>
        <p:txBody>
          <a:bodyPr wrap="square" lIns="120909" tIns="70109" rIns="45055" bIns="44709" rtlCol="0" anchor="t">
            <a:normAutofit/>
          </a:bodyPr>
          <a:lstStyle/>
          <a:p>
            <a:pPr marL="0" indent="0" algn="l">
              <a:lnSpc>
                <a:spcPts val="1690"/>
              </a:lnSpc>
              <a:buNone/>
            </a:pPr>
            <a:r>
              <a:rPr lang="en-US" sz="1300" dirty="0">
                <a:solidFill>
                  <a:srgbClr val="14171C"/>
                </a:solidFill>
                <a:latin typeface="IBM Plex Sans" pitchFamily="34" charset="0"/>
                <a:ea typeface="IBM Plex Sans" pitchFamily="34" charset="-122"/>
                <a:cs typeface="IBM Plex Sans" pitchFamily="34" charset="-120"/>
              </a:rPr>
              <a:t>Project overview</a:t>
            </a:r>
            <a:endParaRPr lang="en-US" sz="1300" dirty="0"/>
          </a:p>
        </p:txBody>
      </p:sp>
      <p:sp>
        <p:nvSpPr>
          <p:cNvPr id="5" name="Text 3"/>
          <p:cNvSpPr/>
          <p:nvPr/>
        </p:nvSpPr>
        <p:spPr>
          <a:xfrm>
            <a:off x="3711521" y="1816528"/>
            <a:ext cx="2813086" cy="397470"/>
          </a:xfrm>
          <a:prstGeom prst="roundRect">
            <a:avLst>
              <a:gd name="adj" fmla="val 18372"/>
            </a:avLst>
          </a:prstGeom>
          <a:solidFill>
            <a:srgbClr val="FBFAF6"/>
          </a:solidFill>
          <a:ln w="6350">
            <a:solidFill>
              <a:srgbClr val="DAD6CB"/>
            </a:solidFill>
            <a:prstDash val="solid"/>
          </a:ln>
        </p:spPr>
        <p:txBody>
          <a:bodyPr wrap="square" lIns="120909" tIns="70109" rIns="45055" bIns="44709" rtlCol="0" anchor="t">
            <a:normAutofit/>
          </a:bodyPr>
          <a:lstStyle/>
          <a:p>
            <a:pPr marL="0" indent="0" algn="l">
              <a:lnSpc>
                <a:spcPts val="1690"/>
              </a:lnSpc>
              <a:buNone/>
            </a:pPr>
            <a:r>
              <a:rPr lang="en-US" sz="1300" dirty="0">
                <a:solidFill>
                  <a:srgbClr val="14171C"/>
                </a:solidFill>
                <a:latin typeface="IBM Plex Sans" pitchFamily="34" charset="0"/>
                <a:ea typeface="IBM Plex Sans" pitchFamily="34" charset="-122"/>
                <a:cs typeface="IBM Plex Sans" pitchFamily="34" charset="-120"/>
              </a:rPr>
              <a:t>Architectural patterns</a:t>
            </a:r>
            <a:endParaRPr lang="en-US" sz="1300" dirty="0"/>
          </a:p>
        </p:txBody>
      </p:sp>
      <p:sp>
        <p:nvSpPr>
          <p:cNvPr id="6" name="Text 4"/>
          <p:cNvSpPr/>
          <p:nvPr/>
        </p:nvSpPr>
        <p:spPr>
          <a:xfrm>
            <a:off x="815957" y="2296480"/>
            <a:ext cx="2813086" cy="397470"/>
          </a:xfrm>
          <a:prstGeom prst="roundRect">
            <a:avLst>
              <a:gd name="adj" fmla="val 18372"/>
            </a:avLst>
          </a:prstGeom>
          <a:solidFill>
            <a:srgbClr val="FBFAF6"/>
          </a:solidFill>
          <a:ln w="6350">
            <a:solidFill>
              <a:srgbClr val="DAD6CB"/>
            </a:solidFill>
            <a:prstDash val="solid"/>
          </a:ln>
        </p:spPr>
        <p:txBody>
          <a:bodyPr wrap="square" lIns="120909" tIns="70109" rIns="45055" bIns="44709" rtlCol="0" anchor="t">
            <a:normAutofit/>
          </a:bodyPr>
          <a:lstStyle/>
          <a:p>
            <a:pPr marL="0" indent="0" algn="l">
              <a:lnSpc>
                <a:spcPts val="1690"/>
              </a:lnSpc>
              <a:buNone/>
            </a:pPr>
            <a:r>
              <a:rPr lang="en-US" sz="1300" dirty="0">
                <a:solidFill>
                  <a:srgbClr val="14171C"/>
                </a:solidFill>
                <a:latin typeface="IBM Plex Sans" pitchFamily="34" charset="0"/>
                <a:ea typeface="IBM Plex Sans" pitchFamily="34" charset="-122"/>
                <a:cs typeface="IBM Plex Sans" pitchFamily="34" charset="-120"/>
              </a:rPr>
              <a:t>User preferences</a:t>
            </a:r>
            <a:endParaRPr lang="en-US" sz="1300" dirty="0"/>
          </a:p>
        </p:txBody>
      </p:sp>
      <p:sp>
        <p:nvSpPr>
          <p:cNvPr id="7" name="Text 5"/>
          <p:cNvSpPr/>
          <p:nvPr/>
        </p:nvSpPr>
        <p:spPr>
          <a:xfrm>
            <a:off x="3711521" y="2296480"/>
            <a:ext cx="2813086" cy="397470"/>
          </a:xfrm>
          <a:prstGeom prst="roundRect">
            <a:avLst>
              <a:gd name="adj" fmla="val 18372"/>
            </a:avLst>
          </a:prstGeom>
          <a:solidFill>
            <a:srgbClr val="FBFAF6"/>
          </a:solidFill>
          <a:ln w="6350">
            <a:solidFill>
              <a:srgbClr val="DAD6CB"/>
            </a:solidFill>
            <a:prstDash val="solid"/>
          </a:ln>
        </p:spPr>
        <p:txBody>
          <a:bodyPr wrap="square" lIns="120909" tIns="70109" rIns="45055" bIns="44709" rtlCol="0" anchor="t">
            <a:normAutofit/>
          </a:bodyPr>
          <a:lstStyle/>
          <a:p>
            <a:pPr marL="0" indent="0" algn="l">
              <a:lnSpc>
                <a:spcPts val="1690"/>
              </a:lnSpc>
              <a:buNone/>
            </a:pPr>
            <a:r>
              <a:rPr lang="en-US" sz="1300" dirty="0">
                <a:solidFill>
                  <a:srgbClr val="14171C"/>
                </a:solidFill>
                <a:latin typeface="IBM Plex Sans" pitchFamily="34" charset="0"/>
                <a:ea typeface="IBM Plex Sans" pitchFamily="34" charset="-122"/>
                <a:cs typeface="IBM Plex Sans" pitchFamily="34" charset="-120"/>
              </a:rPr>
              <a:t>Domain knowledge</a:t>
            </a:r>
            <a:endParaRPr lang="en-US" sz="1300" dirty="0"/>
          </a:p>
        </p:txBody>
      </p:sp>
      <p:sp>
        <p:nvSpPr>
          <p:cNvPr id="8" name="Text 6"/>
          <p:cNvSpPr/>
          <p:nvPr/>
        </p:nvSpPr>
        <p:spPr>
          <a:xfrm>
            <a:off x="815957" y="2776426"/>
            <a:ext cx="2813086" cy="397470"/>
          </a:xfrm>
          <a:prstGeom prst="roundRect">
            <a:avLst>
              <a:gd name="adj" fmla="val 18372"/>
            </a:avLst>
          </a:prstGeom>
          <a:solidFill>
            <a:srgbClr val="FBFAF6"/>
          </a:solidFill>
          <a:ln w="6350">
            <a:solidFill>
              <a:srgbClr val="DAD6CB"/>
            </a:solidFill>
            <a:prstDash val="solid"/>
          </a:ln>
        </p:spPr>
        <p:txBody>
          <a:bodyPr wrap="square" lIns="120909" tIns="70109" rIns="45055" bIns="44709" rtlCol="0" anchor="t">
            <a:normAutofit/>
          </a:bodyPr>
          <a:lstStyle/>
          <a:p>
            <a:pPr marL="0" indent="0" algn="l">
              <a:lnSpc>
                <a:spcPts val="1690"/>
              </a:lnSpc>
              <a:buNone/>
            </a:pPr>
            <a:r>
              <a:rPr lang="en-US" sz="1300" dirty="0">
                <a:solidFill>
                  <a:srgbClr val="14171C"/>
                </a:solidFill>
                <a:latin typeface="IBM Plex Sans" pitchFamily="34" charset="0"/>
                <a:ea typeface="IBM Plex Sans" pitchFamily="34" charset="-122"/>
                <a:cs typeface="IBM Plex Sans" pitchFamily="34" charset="-120"/>
              </a:rPr>
              <a:t>Known issues and workarounds</a:t>
            </a:r>
            <a:endParaRPr lang="en-US" sz="1300" dirty="0"/>
          </a:p>
        </p:txBody>
      </p:sp>
      <p:sp>
        <p:nvSpPr>
          <p:cNvPr id="9" name="Text 7"/>
          <p:cNvSpPr/>
          <p:nvPr/>
        </p:nvSpPr>
        <p:spPr>
          <a:xfrm>
            <a:off x="3711521" y="2776426"/>
            <a:ext cx="2813086" cy="397470"/>
          </a:xfrm>
          <a:prstGeom prst="roundRect">
            <a:avLst>
              <a:gd name="adj" fmla="val 18372"/>
            </a:avLst>
          </a:prstGeom>
          <a:solidFill>
            <a:srgbClr val="FBFAF6"/>
          </a:solidFill>
          <a:ln w="6350">
            <a:solidFill>
              <a:srgbClr val="DAD6CB"/>
            </a:solidFill>
            <a:prstDash val="solid"/>
          </a:ln>
        </p:spPr>
        <p:txBody>
          <a:bodyPr wrap="square" lIns="120909" tIns="70109" rIns="45055" bIns="44709" rtlCol="0" anchor="t">
            <a:normAutofit/>
          </a:bodyPr>
          <a:lstStyle/>
          <a:p>
            <a:pPr marL="0" indent="0" algn="l">
              <a:lnSpc>
                <a:spcPts val="1690"/>
              </a:lnSpc>
              <a:buNone/>
            </a:pPr>
            <a:r>
              <a:rPr lang="en-US" sz="1300" dirty="0">
                <a:solidFill>
                  <a:srgbClr val="14171C"/>
                </a:solidFill>
                <a:latin typeface="IBM Plex Sans" pitchFamily="34" charset="0"/>
                <a:ea typeface="IBM Plex Sans" pitchFamily="34" charset="-122"/>
                <a:cs typeface="IBM Plex Sans" pitchFamily="34" charset="-120"/>
              </a:rPr>
              <a:t>Reference implementations</a:t>
            </a:r>
            <a:endParaRPr lang="en-US" sz="1300" dirty="0"/>
          </a:p>
        </p:txBody>
      </p:sp>
      <p:sp>
        <p:nvSpPr>
          <p:cNvPr id="10" name="Text 8"/>
          <p:cNvSpPr/>
          <p:nvPr/>
        </p:nvSpPr>
        <p:spPr>
          <a:xfrm>
            <a:off x="812782" y="3253203"/>
            <a:ext cx="2819436" cy="392275"/>
          </a:xfrm>
          <a:prstGeom prst="roundRect">
            <a:avLst>
              <a:gd name="adj" fmla="val 19425"/>
            </a:avLst>
          </a:prstGeom>
          <a:solidFill>
            <a:srgbClr val="14171C"/>
          </a:solidFill>
          <a:ln/>
        </p:spPr>
        <p:txBody>
          <a:bodyPr wrap="square" lIns="117382" tIns="66582" rIns="41181" bIns="41182" rtlCol="0" anchor="t">
            <a:normAutofit/>
          </a:bodyPr>
          <a:lstStyle/>
          <a:p>
            <a:pPr marL="0" indent="0" algn="l">
              <a:lnSpc>
                <a:spcPts val="1690"/>
              </a:lnSpc>
              <a:buNone/>
            </a:pPr>
            <a:r>
              <a:rPr lang="en-US" sz="1300" b="1" dirty="0">
                <a:solidFill>
                  <a:srgbClr val="3DD6B0"/>
                </a:solidFill>
                <a:latin typeface="IBM Plex Sans" pitchFamily="34" charset="0"/>
                <a:ea typeface="IBM Plex Sans" pitchFamily="34" charset="-122"/>
                <a:cs typeface="IBM Plex Sans" pitchFamily="34" charset="-120"/>
              </a:rPr>
              <a:t>Blocked paths</a:t>
            </a:r>
            <a:endParaRPr lang="en-US" sz="1300" dirty="0"/>
          </a:p>
        </p:txBody>
      </p:sp>
      <p:sp>
        <p:nvSpPr>
          <p:cNvPr id="11" name="Text 9"/>
          <p:cNvSpPr/>
          <p:nvPr/>
        </p:nvSpPr>
        <p:spPr>
          <a:xfrm>
            <a:off x="3708346" y="3253203"/>
            <a:ext cx="2819436" cy="392275"/>
          </a:xfrm>
          <a:prstGeom prst="roundRect">
            <a:avLst>
              <a:gd name="adj" fmla="val 19425"/>
            </a:avLst>
          </a:prstGeom>
          <a:solidFill>
            <a:srgbClr val="14171C"/>
          </a:solidFill>
          <a:ln/>
        </p:spPr>
        <p:txBody>
          <a:bodyPr wrap="square" lIns="117382" tIns="66582" rIns="41181" bIns="41182" rtlCol="0" anchor="t">
            <a:normAutofit/>
          </a:bodyPr>
          <a:lstStyle/>
          <a:p>
            <a:pPr marL="0" indent="0" algn="l">
              <a:lnSpc>
                <a:spcPts val="1690"/>
              </a:lnSpc>
              <a:buNone/>
            </a:pPr>
            <a:r>
              <a:rPr lang="en-US" sz="1300" b="1" dirty="0">
                <a:solidFill>
                  <a:srgbClr val="3DD6B0"/>
                </a:solidFill>
                <a:latin typeface="IBM Plex Sans" pitchFamily="34" charset="0"/>
                <a:ea typeface="IBM Plex Sans" pitchFamily="34" charset="-122"/>
                <a:cs typeface="IBM Plex Sans" pitchFamily="34" charset="-120"/>
              </a:rPr>
              <a:t>Decisions made</a:t>
            </a:r>
            <a:endParaRPr lang="en-US" sz="1300" dirty="0"/>
          </a:p>
        </p:txBody>
      </p:sp>
      <p:sp>
        <p:nvSpPr>
          <p:cNvPr id="12" name="Text 10"/>
          <p:cNvSpPr/>
          <p:nvPr/>
        </p:nvSpPr>
        <p:spPr>
          <a:xfrm>
            <a:off x="815957" y="3724777"/>
            <a:ext cx="2813086" cy="397470"/>
          </a:xfrm>
          <a:prstGeom prst="roundRect">
            <a:avLst>
              <a:gd name="adj" fmla="val 18372"/>
            </a:avLst>
          </a:prstGeom>
          <a:solidFill>
            <a:srgbClr val="FBFAF6"/>
          </a:solidFill>
          <a:ln w="6350">
            <a:solidFill>
              <a:srgbClr val="DAD6CB"/>
            </a:solidFill>
            <a:prstDash val="solid"/>
          </a:ln>
        </p:spPr>
        <p:txBody>
          <a:bodyPr wrap="square" lIns="120909" tIns="70109" rIns="45055" bIns="44709" rtlCol="0" anchor="t">
            <a:normAutofit/>
          </a:bodyPr>
          <a:lstStyle/>
          <a:p>
            <a:pPr marL="0" indent="0" algn="l">
              <a:lnSpc>
                <a:spcPts val="1690"/>
              </a:lnSpc>
              <a:buNone/>
            </a:pPr>
            <a:r>
              <a:rPr lang="en-US" sz="1300" dirty="0">
                <a:solidFill>
                  <a:srgbClr val="14171C"/>
                </a:solidFill>
                <a:latin typeface="IBM Plex Sans" pitchFamily="34" charset="0"/>
                <a:ea typeface="IBM Plex Sans" pitchFamily="34" charset="-122"/>
                <a:cs typeface="IBM Plex Sans" pitchFamily="34" charset="-120"/>
              </a:rPr>
              <a:t>Sprint, changes, integrations</a:t>
            </a:r>
            <a:endParaRPr lang="en-US" sz="1300" dirty="0"/>
          </a:p>
        </p:txBody>
      </p:sp>
      <p:sp>
        <p:nvSpPr>
          <p:cNvPr id="13" name="Text 11"/>
          <p:cNvSpPr/>
          <p:nvPr/>
        </p:nvSpPr>
        <p:spPr>
          <a:xfrm>
            <a:off x="3711521" y="3724777"/>
            <a:ext cx="2813086" cy="397470"/>
          </a:xfrm>
          <a:prstGeom prst="roundRect">
            <a:avLst>
              <a:gd name="adj" fmla="val 18372"/>
            </a:avLst>
          </a:prstGeom>
          <a:solidFill>
            <a:srgbClr val="FBFAF6"/>
          </a:solidFill>
          <a:ln w="6350">
            <a:solidFill>
              <a:srgbClr val="DAD6CB"/>
            </a:solidFill>
            <a:prstDash val="solid"/>
          </a:ln>
        </p:spPr>
        <p:txBody>
          <a:bodyPr wrap="square" lIns="120909" tIns="70109" rIns="45055" bIns="44709" rtlCol="0" anchor="t">
            <a:normAutofit/>
          </a:bodyPr>
          <a:lstStyle/>
          <a:p>
            <a:pPr marL="0" indent="0" algn="l">
              <a:lnSpc>
                <a:spcPts val="1690"/>
              </a:lnSpc>
              <a:buNone/>
            </a:pPr>
            <a:r>
              <a:rPr lang="en-US" sz="1300" dirty="0">
                <a:solidFill>
                  <a:srgbClr val="14171C"/>
                </a:solidFill>
                <a:latin typeface="IBM Plex Sans" pitchFamily="34" charset="0"/>
                <a:ea typeface="IBM Plex Sans" pitchFamily="34" charset="-122"/>
                <a:cs typeface="IBM Plex Sans" pitchFamily="34" charset="-120"/>
              </a:rPr>
              <a:t>Next session checklist</a:t>
            </a:r>
            <a:endParaRPr lang="en-US" sz="1300" dirty="0"/>
          </a:p>
        </p:txBody>
      </p:sp>
      <p:sp>
        <p:nvSpPr>
          <p:cNvPr id="14" name="Shape 12"/>
          <p:cNvSpPr/>
          <p:nvPr/>
        </p:nvSpPr>
        <p:spPr>
          <a:xfrm>
            <a:off x="6730909" y="1813353"/>
            <a:ext cx="4648308" cy="1046217"/>
          </a:xfrm>
          <a:prstGeom prst="roundRect">
            <a:avLst>
              <a:gd name="adj" fmla="val 9711"/>
            </a:avLst>
          </a:prstGeom>
          <a:solidFill>
            <a:srgbClr val="14171C"/>
          </a:solidFill>
          <a:ln/>
        </p:spPr>
        <p:txBody>
          <a:bodyPr/>
          <a:lstStyle/>
          <a:p>
            <a:endParaRPr lang="LID4096"/>
          </a:p>
        </p:txBody>
      </p:sp>
      <p:sp>
        <p:nvSpPr>
          <p:cNvPr id="15" name="Text 13"/>
          <p:cNvSpPr/>
          <p:nvPr/>
        </p:nvSpPr>
        <p:spPr>
          <a:xfrm>
            <a:off x="6908691" y="1965703"/>
            <a:ext cx="4421527"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3DD6B0"/>
                </a:solidFill>
                <a:latin typeface="IBM Plex Sans" pitchFamily="34" charset="0"/>
                <a:ea typeface="IBM Plex Sans" pitchFamily="34" charset="-122"/>
                <a:cs typeface="IBM Plex Sans" pitchFamily="34" charset="-120"/>
              </a:rPr>
              <a:t>Blocked paths</a:t>
            </a:r>
            <a:endParaRPr lang="en-US" sz="1500" dirty="0"/>
          </a:p>
        </p:txBody>
      </p:sp>
      <p:sp>
        <p:nvSpPr>
          <p:cNvPr id="16" name="Text 14"/>
          <p:cNvSpPr/>
          <p:nvPr/>
        </p:nvSpPr>
        <p:spPr>
          <a:xfrm>
            <a:off x="6908691" y="2245047"/>
            <a:ext cx="4421527" cy="48757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0CA"/>
                </a:solidFill>
                <a:latin typeface="IBM Plex Sans" pitchFamily="34" charset="0"/>
                <a:ea typeface="IBM Plex Sans" pitchFamily="34" charset="-122"/>
                <a:cs typeface="IBM Plex Sans" pitchFamily="34" charset="-120"/>
              </a:rPr>
              <a:t>Approaches that failed, marked do not retry, with the correct alternative.</a:t>
            </a:r>
            <a:endParaRPr lang="en-US" sz="1300" dirty="0"/>
          </a:p>
        </p:txBody>
      </p:sp>
      <p:sp>
        <p:nvSpPr>
          <p:cNvPr id="17" name="Shape 15"/>
          <p:cNvSpPr/>
          <p:nvPr/>
        </p:nvSpPr>
        <p:spPr>
          <a:xfrm>
            <a:off x="6730909" y="2961134"/>
            <a:ext cx="4648308" cy="815127"/>
          </a:xfrm>
          <a:prstGeom prst="roundRect">
            <a:avLst>
              <a:gd name="adj" fmla="val 12464"/>
            </a:avLst>
          </a:prstGeom>
          <a:solidFill>
            <a:srgbClr val="14171C"/>
          </a:solidFill>
          <a:ln/>
        </p:spPr>
        <p:txBody>
          <a:bodyPr/>
          <a:lstStyle/>
          <a:p>
            <a:endParaRPr lang="LID4096"/>
          </a:p>
        </p:txBody>
      </p:sp>
      <p:sp>
        <p:nvSpPr>
          <p:cNvPr id="18" name="Text 16"/>
          <p:cNvSpPr/>
          <p:nvPr/>
        </p:nvSpPr>
        <p:spPr>
          <a:xfrm>
            <a:off x="6908691" y="3113484"/>
            <a:ext cx="4421527"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3DD6B0"/>
                </a:solidFill>
                <a:latin typeface="IBM Plex Sans" pitchFamily="34" charset="0"/>
                <a:ea typeface="IBM Plex Sans" pitchFamily="34" charset="-122"/>
                <a:cs typeface="IBM Plex Sans" pitchFamily="34" charset="-120"/>
              </a:rPr>
              <a:t>Decisions made</a:t>
            </a:r>
            <a:endParaRPr lang="en-US" sz="1500" dirty="0"/>
          </a:p>
        </p:txBody>
      </p:sp>
      <p:sp>
        <p:nvSpPr>
          <p:cNvPr id="19" name="Text 17"/>
          <p:cNvSpPr/>
          <p:nvPr/>
        </p:nvSpPr>
        <p:spPr>
          <a:xfrm>
            <a:off x="6908691" y="3392829"/>
            <a:ext cx="4421527" cy="25648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0CA"/>
                </a:solidFill>
                <a:latin typeface="IBM Plex Sans" pitchFamily="34" charset="0"/>
                <a:ea typeface="IBM Plex Sans" pitchFamily="34" charset="-122"/>
                <a:cs typeface="IBM Plex Sans" pitchFamily="34" charset="-120"/>
              </a:rPr>
              <a:t>Dated, with context, options, rationale and impact.</a:t>
            </a:r>
            <a:endParaRPr lang="en-US" sz="1300" dirty="0"/>
          </a:p>
        </p:txBody>
      </p:sp>
      <p:sp>
        <p:nvSpPr>
          <p:cNvPr id="20" name="Text 18"/>
          <p:cNvSpPr/>
          <p:nvPr/>
        </p:nvSpPr>
        <p:spPr>
          <a:xfrm>
            <a:off x="812782" y="4353985"/>
            <a:ext cx="10883429" cy="52311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It does not train the model or carry memory across projects. It is written knowledge that the next session reads. In the template repository itself it stays a placeholder.</a:t>
            </a:r>
            <a:endParaRPr lang="en-US" sz="1400" dirty="0"/>
          </a:p>
        </p:txBody>
      </p:sp>
      <p:sp>
        <p:nvSpPr>
          <p:cNvPr id="21" name="Text 19"/>
          <p:cNvSpPr/>
          <p:nvPr/>
        </p:nvSpPr>
        <p:spPr>
          <a:xfrm>
            <a:off x="812782" y="6238242"/>
            <a:ext cx="6540500"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I-Synergy/AI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71C"/>
        </a:solidFill>
        <a:effectLst/>
      </p:bgPr>
    </p:bg>
    <p:spTree>
      <p:nvGrpSpPr>
        <p:cNvPr id="1" name=""/>
        <p:cNvGrpSpPr/>
        <p:nvPr/>
      </p:nvGrpSpPr>
      <p:grpSpPr>
        <a:xfrm>
          <a:off x="0" y="0"/>
          <a:ext cx="0" cy="0"/>
          <a:chOff x="0" y="0"/>
          <a:chExt cx="0" cy="0"/>
        </a:xfrm>
      </p:grpSpPr>
      <p:sp>
        <p:nvSpPr>
          <p:cNvPr id="2" name="Text 0"/>
          <p:cNvSpPr/>
          <p:nvPr/>
        </p:nvSpPr>
        <p:spPr>
          <a:xfrm>
            <a:off x="812782" y="812781"/>
            <a:ext cx="10883429" cy="274259"/>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3DD6B0"/>
                </a:solidFill>
                <a:latin typeface="IBM Plex Sans" pitchFamily="34" charset="0"/>
                <a:ea typeface="IBM Plex Sans" pitchFamily="34" charset="-122"/>
                <a:cs typeface="IBM Plex Sans" pitchFamily="34" charset="-120"/>
              </a:rPr>
              <a:t>CRITICAL RULES</a:t>
            </a:r>
            <a:endParaRPr lang="en-US" sz="1400" dirty="0"/>
          </a:p>
        </p:txBody>
      </p:sp>
      <p:sp>
        <p:nvSpPr>
          <p:cNvPr id="3" name="Text 1"/>
          <p:cNvSpPr>
            <a:spLocks noGrp="1"/>
          </p:cNvSpPr>
          <p:nvPr>
            <p:ph type="title"/>
          </p:nvPr>
        </p:nvSpPr>
        <p:spPr>
          <a:xfrm>
            <a:off x="812782" y="1137766"/>
            <a:ext cx="10883429" cy="472426"/>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4F2EC"/>
                </a:solidFill>
                <a:latin typeface="IBM Plex Sans" pitchFamily="34" charset="0"/>
                <a:ea typeface="IBM Plex Sans" pitchFamily="34" charset="-122"/>
                <a:cs typeface="IBM Plex Sans" pitchFamily="34" charset="-120"/>
              </a:rPr>
              <a:t>Thirteen non-negotiables, stated as code</a:t>
            </a:r>
            <a:endParaRPr lang="en-US" sz="3200" dirty="0"/>
          </a:p>
        </p:txBody>
      </p:sp>
      <p:sp>
        <p:nvSpPr>
          <p:cNvPr id="4" name="Shape 2"/>
          <p:cNvSpPr/>
          <p:nvPr/>
        </p:nvSpPr>
        <p:spPr>
          <a:xfrm>
            <a:off x="812782" y="1838790"/>
            <a:ext cx="5181654" cy="1302742"/>
          </a:xfrm>
          <a:prstGeom prst="roundRect">
            <a:avLst>
              <a:gd name="adj" fmla="val 7799"/>
            </a:avLst>
          </a:prstGeom>
          <a:solidFill>
            <a:srgbClr val="1B2A26"/>
          </a:solidFill>
          <a:ln/>
        </p:spPr>
        <p:txBody>
          <a:bodyPr/>
          <a:lstStyle/>
          <a:p>
            <a:endParaRPr lang="LID4096"/>
          </a:p>
        </p:txBody>
      </p:sp>
      <p:sp>
        <p:nvSpPr>
          <p:cNvPr id="5" name="Shape 3"/>
          <p:cNvSpPr/>
          <p:nvPr/>
        </p:nvSpPr>
        <p:spPr>
          <a:xfrm>
            <a:off x="812782" y="1838790"/>
            <a:ext cx="5181654" cy="1302742"/>
          </a:xfrm>
          <a:custGeom>
            <a:avLst/>
            <a:gdLst/>
            <a:ahLst/>
            <a:cxnLst/>
            <a:rect l="l" t="t" r="r" b="b"/>
            <a:pathLst>
              <a:path w="5181654" h="1302742">
                <a:moveTo>
                  <a:pt x="101600" y="1302742"/>
                </a:moveTo>
                <a:lnTo>
                  <a:pt x="101600" y="1302742"/>
                </a:lnTo>
                <a:arcTo wR="101600" hR="101600" stAng="5400000" swAng="5400000"/>
                <a:lnTo>
                  <a:pt x="0" y="101600"/>
                </a:lnTo>
                <a:arcTo wR="101600" hR="101600" stAng="10800000" swAng="5400000"/>
                <a:lnTo>
                  <a:pt x="101600" y="0"/>
                </a:lnTo>
                <a:arcTo wR="50800" hR="101600" stAng="16200000" swAng="-5400000"/>
                <a:lnTo>
                  <a:pt x="50800" y="1201142"/>
                </a:lnTo>
                <a:arcTo wR="50800" hR="101600" stAng="10800000" swAng="-5400000"/>
                <a:close/>
              </a:path>
            </a:pathLst>
          </a:custGeom>
          <a:solidFill>
            <a:srgbClr val="3DD6B0"/>
          </a:solidFill>
          <a:ln/>
        </p:spPr>
        <p:txBody>
          <a:bodyPr/>
          <a:lstStyle/>
          <a:p>
            <a:endParaRPr lang="LID4096"/>
          </a:p>
        </p:txBody>
      </p:sp>
      <p:sp>
        <p:nvSpPr>
          <p:cNvPr id="6" name="Text 4"/>
          <p:cNvSpPr/>
          <p:nvPr/>
        </p:nvSpPr>
        <p:spPr>
          <a:xfrm>
            <a:off x="1087528" y="2067353"/>
            <a:ext cx="4818695" cy="274259"/>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DD6B0"/>
                </a:solidFill>
                <a:latin typeface="IBM Plex Sans" pitchFamily="34" charset="0"/>
                <a:ea typeface="IBM Plex Sans" pitchFamily="34" charset="-122"/>
                <a:cs typeface="IBM Plex Sans" pitchFamily="34" charset="-120"/>
              </a:rPr>
              <a:t>Correct</a:t>
            </a:r>
            <a:endParaRPr lang="en-US" sz="1400" dirty="0"/>
          </a:p>
        </p:txBody>
      </p:sp>
      <p:sp>
        <p:nvSpPr>
          <p:cNvPr id="7" name="Text 5"/>
          <p:cNvSpPr/>
          <p:nvPr/>
        </p:nvSpPr>
        <p:spPr>
          <a:xfrm>
            <a:off x="1087528" y="2417781"/>
            <a:ext cx="4818695" cy="520592"/>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F4F2EC"/>
                </a:solidFill>
                <a:latin typeface="JetBrains Mono" pitchFamily="49" charset="0"/>
                <a:ea typeface="JetBrains Mono" pitchFamily="49" charset="-122"/>
                <a:cs typeface="JetBrains Mono" pitchFamily="49" charset="-120"/>
              </a:rPr>
              <a:t>public sealed record CreateDebtCommand(Guid BudgetId, string Description, decimal Amount)</a:t>
            </a:r>
            <a:endParaRPr lang="en-US" sz="1300" dirty="0"/>
          </a:p>
        </p:txBody>
      </p:sp>
      <p:sp>
        <p:nvSpPr>
          <p:cNvPr id="8" name="Shape 6"/>
          <p:cNvSpPr/>
          <p:nvPr/>
        </p:nvSpPr>
        <p:spPr>
          <a:xfrm>
            <a:off x="6197564" y="1838790"/>
            <a:ext cx="5181654" cy="1302742"/>
          </a:xfrm>
          <a:prstGeom prst="roundRect">
            <a:avLst>
              <a:gd name="adj" fmla="val 7799"/>
            </a:avLst>
          </a:prstGeom>
          <a:solidFill>
            <a:srgbClr val="2C2224"/>
          </a:solidFill>
          <a:ln/>
        </p:spPr>
        <p:txBody>
          <a:bodyPr/>
          <a:lstStyle/>
          <a:p>
            <a:endParaRPr lang="LID4096"/>
          </a:p>
        </p:txBody>
      </p:sp>
      <p:sp>
        <p:nvSpPr>
          <p:cNvPr id="9" name="Shape 7"/>
          <p:cNvSpPr/>
          <p:nvPr/>
        </p:nvSpPr>
        <p:spPr>
          <a:xfrm>
            <a:off x="6197564" y="1838790"/>
            <a:ext cx="5181654" cy="1302742"/>
          </a:xfrm>
          <a:custGeom>
            <a:avLst/>
            <a:gdLst/>
            <a:ahLst/>
            <a:cxnLst/>
            <a:rect l="l" t="t" r="r" b="b"/>
            <a:pathLst>
              <a:path w="5181654" h="1302742">
                <a:moveTo>
                  <a:pt x="101600" y="1302742"/>
                </a:moveTo>
                <a:lnTo>
                  <a:pt x="101600" y="1302742"/>
                </a:lnTo>
                <a:arcTo wR="101600" hR="101600" stAng="5400000" swAng="5400000"/>
                <a:lnTo>
                  <a:pt x="0" y="101600"/>
                </a:lnTo>
                <a:arcTo wR="101600" hR="101600" stAng="10800000" swAng="5400000"/>
                <a:lnTo>
                  <a:pt x="101600" y="0"/>
                </a:lnTo>
                <a:arcTo wR="50800" hR="101600" stAng="16200000" swAng="-5400000"/>
                <a:lnTo>
                  <a:pt x="50800" y="1201142"/>
                </a:lnTo>
                <a:arcTo wR="50800" hR="101600" stAng="10800000" swAng="-5400000"/>
                <a:close/>
              </a:path>
            </a:pathLst>
          </a:custGeom>
          <a:solidFill>
            <a:srgbClr val="F2B84B"/>
          </a:solidFill>
          <a:ln/>
        </p:spPr>
        <p:txBody>
          <a:bodyPr/>
          <a:lstStyle/>
          <a:p>
            <a:endParaRPr lang="LID4096"/>
          </a:p>
        </p:txBody>
      </p:sp>
      <p:sp>
        <p:nvSpPr>
          <p:cNvPr id="10" name="Text 8"/>
          <p:cNvSpPr/>
          <p:nvPr/>
        </p:nvSpPr>
        <p:spPr>
          <a:xfrm>
            <a:off x="6472310" y="2067353"/>
            <a:ext cx="4818695" cy="274259"/>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2B84B"/>
                </a:solidFill>
                <a:latin typeface="IBM Plex Sans" pitchFamily="34" charset="0"/>
                <a:ea typeface="IBM Plex Sans" pitchFamily="34" charset="-122"/>
                <a:cs typeface="IBM Plex Sans" pitchFamily="34" charset="-120"/>
              </a:rPr>
              <a:t>Wrong</a:t>
            </a:r>
            <a:endParaRPr lang="en-US" sz="1400" dirty="0"/>
          </a:p>
        </p:txBody>
      </p:sp>
      <p:sp>
        <p:nvSpPr>
          <p:cNvPr id="11" name="Text 9"/>
          <p:cNvSpPr/>
          <p:nvPr/>
        </p:nvSpPr>
        <p:spPr>
          <a:xfrm>
            <a:off x="6472310" y="2417781"/>
            <a:ext cx="4818695" cy="520592"/>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F4F2EC"/>
                </a:solidFill>
                <a:latin typeface="JetBrains Mono" pitchFamily="49" charset="0"/>
                <a:ea typeface="JetBrains Mono" pitchFamily="49" charset="-122"/>
                <a:cs typeface="JetBrains Mono" pitchFamily="49" charset="-120"/>
              </a:rPr>
              <a:t>public sealed record CreateDebtCommand(Debt Debt)</a:t>
            </a:r>
            <a:endParaRPr lang="en-US" sz="1300" dirty="0"/>
          </a:p>
        </p:txBody>
      </p:sp>
      <p:sp>
        <p:nvSpPr>
          <p:cNvPr id="12" name="Text 10"/>
          <p:cNvSpPr/>
          <p:nvPr/>
        </p:nvSpPr>
        <p:spPr>
          <a:xfrm>
            <a:off x="812782" y="3395532"/>
            <a:ext cx="10883429" cy="292028"/>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9C0CA"/>
                </a:solidFill>
                <a:latin typeface="IBM Plex Sans" pitchFamily="34" charset="0"/>
                <a:ea typeface="IBM Plex Sans" pitchFamily="34" charset="-122"/>
                <a:cs typeface="IBM Plex Sans" pitchFamily="34" charset="-120"/>
              </a:rPr>
              <a:t>Commands take individual parameters, never model objects.</a:t>
            </a:r>
            <a:endParaRPr lang="en-US" sz="1500" dirty="0"/>
          </a:p>
        </p:txBody>
      </p:sp>
      <p:sp>
        <p:nvSpPr>
          <p:cNvPr id="13" name="Text 11"/>
          <p:cNvSpPr/>
          <p:nvPr/>
        </p:nvSpPr>
        <p:spPr>
          <a:xfrm>
            <a:off x="812782" y="3916164"/>
            <a:ext cx="3420521" cy="784550"/>
          </a:xfrm>
          <a:prstGeom prst="roundRect">
            <a:avLst>
              <a:gd name="adj" fmla="val 9713"/>
            </a:avLst>
          </a:prstGeom>
          <a:solidFill>
            <a:srgbClr val="232831"/>
          </a:solidFill>
          <a:ln/>
        </p:spPr>
        <p:txBody>
          <a:bodyPr wrap="square" lIns="155482" tIns="130082" rIns="63534" bIns="104682" rtlCol="0" anchor="t">
            <a:normAutofit/>
          </a:bodyPr>
          <a:lstStyle/>
          <a:p>
            <a:pPr marL="0" indent="0" algn="l">
              <a:lnSpc>
                <a:spcPts val="1890"/>
              </a:lnSpc>
              <a:buNone/>
            </a:pPr>
            <a:r>
              <a:rPr lang="en-US" sz="1400" dirty="0">
                <a:solidFill>
                  <a:srgbClr val="F4F2EC"/>
                </a:solidFill>
                <a:latin typeface="IBM Plex Sans" pitchFamily="34" charset="0"/>
                <a:ea typeface="IBM Plex Sans" pitchFamily="34" charset="-122"/>
                <a:cs typeface="IBM Plex Sans" pitchFamily="34" charset="-120"/>
              </a:rPr>
              <a:t>No repositories: use DbSet directly</a:t>
            </a:r>
            <a:endParaRPr lang="en-US" sz="1400" dirty="0"/>
          </a:p>
        </p:txBody>
      </p:sp>
      <p:sp>
        <p:nvSpPr>
          <p:cNvPr id="14" name="Text 12"/>
          <p:cNvSpPr/>
          <p:nvPr/>
        </p:nvSpPr>
        <p:spPr>
          <a:xfrm>
            <a:off x="4385649" y="3916164"/>
            <a:ext cx="3420611" cy="784550"/>
          </a:xfrm>
          <a:prstGeom prst="roundRect">
            <a:avLst>
              <a:gd name="adj" fmla="val 9713"/>
            </a:avLst>
          </a:prstGeom>
          <a:solidFill>
            <a:srgbClr val="232831"/>
          </a:solidFill>
          <a:ln/>
        </p:spPr>
        <p:txBody>
          <a:bodyPr wrap="square" lIns="155482" tIns="130082" rIns="63531" bIns="104682" rtlCol="0" anchor="t">
            <a:normAutofit/>
          </a:bodyPr>
          <a:lstStyle/>
          <a:p>
            <a:pPr marL="0" indent="0" algn="l">
              <a:lnSpc>
                <a:spcPts val="1890"/>
              </a:lnSpc>
              <a:buNone/>
            </a:pPr>
            <a:r>
              <a:rPr lang="en-US" sz="1400" dirty="0">
                <a:solidFill>
                  <a:srgbClr val="F4F2EC"/>
                </a:solidFill>
                <a:latin typeface="IBM Plex Sans" pitchFamily="34" charset="0"/>
                <a:ea typeface="IBM Plex Sans" pitchFamily="34" charset="-122"/>
                <a:cs typeface="IBM Plex Sans" pitchFamily="34" charset="-120"/>
              </a:rPr>
              <a:t>CancellationToken on every async method</a:t>
            </a:r>
            <a:endParaRPr lang="en-US" sz="1400" dirty="0"/>
          </a:p>
        </p:txBody>
      </p:sp>
      <p:sp>
        <p:nvSpPr>
          <p:cNvPr id="15" name="Text 13"/>
          <p:cNvSpPr/>
          <p:nvPr/>
        </p:nvSpPr>
        <p:spPr>
          <a:xfrm>
            <a:off x="7958606" y="3916164"/>
            <a:ext cx="3420611" cy="784550"/>
          </a:xfrm>
          <a:prstGeom prst="roundRect">
            <a:avLst>
              <a:gd name="adj" fmla="val 9713"/>
            </a:avLst>
          </a:prstGeom>
          <a:solidFill>
            <a:srgbClr val="232831"/>
          </a:solidFill>
          <a:ln/>
        </p:spPr>
        <p:txBody>
          <a:bodyPr wrap="square" lIns="155482" tIns="130082" rIns="63531" bIns="104682" rtlCol="0" anchor="t">
            <a:normAutofit/>
          </a:bodyPr>
          <a:lstStyle/>
          <a:p>
            <a:pPr marL="0" indent="0" algn="l">
              <a:lnSpc>
                <a:spcPts val="1890"/>
              </a:lnSpc>
              <a:buNone/>
            </a:pPr>
            <a:r>
              <a:rPr lang="en-US" sz="1400" dirty="0">
                <a:solidFill>
                  <a:srgbClr val="F4F2EC"/>
                </a:solidFill>
                <a:latin typeface="IBM Plex Sans" pitchFamily="34" charset="0"/>
                <a:ea typeface="IBM Plex Sans" pitchFamily="34" charset="-122"/>
                <a:cs typeface="IBM Plex Sans" pitchFamily="34" charset="-120"/>
              </a:rPr>
              <a:t>Never return domain entities</a:t>
            </a:r>
            <a:endParaRPr lang="en-US" sz="1400" dirty="0"/>
          </a:p>
        </p:txBody>
      </p:sp>
      <p:sp>
        <p:nvSpPr>
          <p:cNvPr id="16" name="Text 14"/>
          <p:cNvSpPr/>
          <p:nvPr/>
        </p:nvSpPr>
        <p:spPr>
          <a:xfrm>
            <a:off x="812782" y="6238242"/>
            <a:ext cx="6540500"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B94A1"/>
                </a:solidFill>
                <a:latin typeface="IBM Plex Sans" pitchFamily="34" charset="0"/>
                <a:ea typeface="IBM Plex Sans" pitchFamily="34" charset="-122"/>
                <a:cs typeface="IBM Plex Sans" pitchFamily="34" charset="-120"/>
              </a:rPr>
              <a:t>I-Synergy/AI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71C"/>
        </a:solidFill>
        <a:effectLst/>
      </p:bgPr>
    </p:bg>
    <p:spTree>
      <p:nvGrpSpPr>
        <p:cNvPr id="1" name=""/>
        <p:cNvGrpSpPr/>
        <p:nvPr/>
      </p:nvGrpSpPr>
      <p:grpSpPr>
        <a:xfrm>
          <a:off x="0" y="0"/>
          <a:ext cx="0" cy="0"/>
          <a:chOff x="0" y="0"/>
          <a:chExt cx="0" cy="0"/>
        </a:xfrm>
      </p:grpSpPr>
      <p:sp>
        <p:nvSpPr>
          <p:cNvPr id="2" name="Text 0"/>
          <p:cNvSpPr/>
          <p:nvPr/>
        </p:nvSpPr>
        <p:spPr>
          <a:xfrm>
            <a:off x="812782" y="812781"/>
            <a:ext cx="10883429" cy="274259"/>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3DD6B0"/>
                </a:solidFill>
                <a:latin typeface="IBM Plex Sans" pitchFamily="34" charset="0"/>
                <a:ea typeface="IBM Plex Sans" pitchFamily="34" charset="-122"/>
                <a:cs typeface="IBM Plex Sans" pitchFamily="34" charset="-120"/>
              </a:rPr>
              <a:t>DESIGN PIPELINE</a:t>
            </a:r>
            <a:endParaRPr lang="en-US" sz="1400" dirty="0"/>
          </a:p>
        </p:txBody>
      </p:sp>
      <p:sp>
        <p:nvSpPr>
          <p:cNvPr id="3" name="Text 1"/>
          <p:cNvSpPr>
            <a:spLocks noGrp="1"/>
          </p:cNvSpPr>
          <p:nvPr>
            <p:ph type="title"/>
          </p:nvPr>
        </p:nvSpPr>
        <p:spPr>
          <a:xfrm>
            <a:off x="812782" y="1137766"/>
            <a:ext cx="10883429" cy="472426"/>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4F2EC"/>
                </a:solidFill>
                <a:latin typeface="IBM Plex Sans" pitchFamily="34" charset="0"/>
                <a:ea typeface="IBM Plex Sans" pitchFamily="34" charset="-122"/>
                <a:cs typeface="IBM Plex Sans" pitchFamily="34" charset="-120"/>
              </a:rPr>
              <a:t>From raw requirements to vertical slices</a:t>
            </a:r>
            <a:endParaRPr lang="en-US" sz="3200" dirty="0"/>
          </a:p>
        </p:txBody>
      </p:sp>
      <p:sp>
        <p:nvSpPr>
          <p:cNvPr id="4" name="Shape 2"/>
          <p:cNvSpPr/>
          <p:nvPr/>
        </p:nvSpPr>
        <p:spPr>
          <a:xfrm>
            <a:off x="812782" y="1816528"/>
            <a:ext cx="10566436" cy="0"/>
          </a:xfrm>
          <a:prstGeom prst="line">
            <a:avLst/>
          </a:prstGeom>
          <a:noFill/>
          <a:ln w="6350">
            <a:solidFill>
              <a:srgbClr val="3A414D"/>
            </a:solidFill>
            <a:prstDash val="solid"/>
          </a:ln>
        </p:spPr>
        <p:txBody>
          <a:bodyPr/>
          <a:lstStyle/>
          <a:p>
            <a:endParaRPr lang="LID4096"/>
          </a:p>
        </p:txBody>
      </p:sp>
      <p:sp>
        <p:nvSpPr>
          <p:cNvPr id="5" name="Text 3"/>
          <p:cNvSpPr/>
          <p:nvPr/>
        </p:nvSpPr>
        <p:spPr>
          <a:xfrm>
            <a:off x="812782" y="1946126"/>
            <a:ext cx="3662680" cy="30988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3DD6B0"/>
                </a:solidFill>
                <a:latin typeface="JetBrains Mono" pitchFamily="49" charset="0"/>
                <a:ea typeface="JetBrains Mono" pitchFamily="49" charset="-122"/>
                <a:cs typeface="JetBrains Mono" pitchFamily="49" charset="-120"/>
              </a:rPr>
              <a:t>design-interrogation</a:t>
            </a:r>
            <a:endParaRPr lang="en-US" sz="1600" dirty="0"/>
          </a:p>
        </p:txBody>
      </p:sp>
      <p:sp>
        <p:nvSpPr>
          <p:cNvPr id="6" name="Text 4"/>
          <p:cNvSpPr/>
          <p:nvPr/>
        </p:nvSpPr>
        <p:spPr>
          <a:xfrm>
            <a:off x="4622782" y="1968407"/>
            <a:ext cx="6959129" cy="265329"/>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B9C0CA"/>
                </a:solidFill>
                <a:latin typeface="IBM Plex Sans" pitchFamily="34" charset="0"/>
                <a:ea typeface="IBM Plex Sans" pitchFamily="34" charset="-122"/>
                <a:cs typeface="IBM Plex Sans" pitchFamily="34" charset="-120"/>
              </a:rPr>
              <a:t>Intake, four strategic anchors, bounded-context interview</a:t>
            </a:r>
            <a:endParaRPr lang="en-US" sz="1400" dirty="0"/>
          </a:p>
        </p:txBody>
      </p:sp>
      <p:sp>
        <p:nvSpPr>
          <p:cNvPr id="7" name="Shape 5"/>
          <p:cNvSpPr/>
          <p:nvPr/>
        </p:nvSpPr>
        <p:spPr>
          <a:xfrm>
            <a:off x="812782" y="2360792"/>
            <a:ext cx="10566436" cy="0"/>
          </a:xfrm>
          <a:prstGeom prst="line">
            <a:avLst/>
          </a:prstGeom>
          <a:noFill/>
          <a:ln w="6350">
            <a:solidFill>
              <a:srgbClr val="3A414D"/>
            </a:solidFill>
            <a:prstDash val="solid"/>
          </a:ln>
        </p:spPr>
        <p:txBody>
          <a:bodyPr/>
          <a:lstStyle/>
          <a:p>
            <a:endParaRPr lang="LID4096"/>
          </a:p>
        </p:txBody>
      </p:sp>
      <p:sp>
        <p:nvSpPr>
          <p:cNvPr id="8" name="Text 6"/>
          <p:cNvSpPr/>
          <p:nvPr/>
        </p:nvSpPr>
        <p:spPr>
          <a:xfrm>
            <a:off x="812782" y="2490391"/>
            <a:ext cx="3662680" cy="30988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3DD6B0"/>
                </a:solidFill>
                <a:latin typeface="IBM Plex Sans" pitchFamily="34" charset="0"/>
                <a:ea typeface="IBM Plex Sans" pitchFamily="34" charset="-122"/>
                <a:cs typeface="IBM Plex Sans" pitchFamily="34" charset="-120"/>
              </a:rPr>
              <a:t>Domain artefacts</a:t>
            </a:r>
            <a:endParaRPr lang="en-US" sz="1600" dirty="0"/>
          </a:p>
        </p:txBody>
      </p:sp>
      <p:sp>
        <p:nvSpPr>
          <p:cNvPr id="9" name="Text 7"/>
          <p:cNvSpPr/>
          <p:nvPr/>
        </p:nvSpPr>
        <p:spPr>
          <a:xfrm>
            <a:off x="4622782" y="2512665"/>
            <a:ext cx="6959129" cy="265329"/>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B9C0CA"/>
                </a:solidFill>
                <a:latin typeface="IBM Plex Sans" pitchFamily="34" charset="0"/>
                <a:ea typeface="IBM Plex Sans" pitchFamily="34" charset="-122"/>
                <a:cs typeface="IBM Plex Sans" pitchFamily="34" charset="-120"/>
              </a:rPr>
              <a:t>Glossary, use cases with Gherkin, INVEST user stories</a:t>
            </a:r>
            <a:endParaRPr lang="en-US" sz="1400" dirty="0"/>
          </a:p>
        </p:txBody>
      </p:sp>
      <p:sp>
        <p:nvSpPr>
          <p:cNvPr id="10" name="Shape 8"/>
          <p:cNvSpPr/>
          <p:nvPr/>
        </p:nvSpPr>
        <p:spPr>
          <a:xfrm>
            <a:off x="812782" y="2905051"/>
            <a:ext cx="10566436" cy="0"/>
          </a:xfrm>
          <a:prstGeom prst="line">
            <a:avLst/>
          </a:prstGeom>
          <a:noFill/>
          <a:ln w="6350">
            <a:solidFill>
              <a:srgbClr val="3A414D"/>
            </a:solidFill>
            <a:prstDash val="solid"/>
          </a:ln>
        </p:spPr>
        <p:txBody>
          <a:bodyPr/>
          <a:lstStyle/>
          <a:p>
            <a:endParaRPr lang="LID4096"/>
          </a:p>
        </p:txBody>
      </p:sp>
      <p:sp>
        <p:nvSpPr>
          <p:cNvPr id="11" name="Text 9"/>
          <p:cNvSpPr/>
          <p:nvPr/>
        </p:nvSpPr>
        <p:spPr>
          <a:xfrm>
            <a:off x="812782" y="3034649"/>
            <a:ext cx="3662680" cy="30988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3DD6B0"/>
                </a:solidFill>
                <a:latin typeface="JetBrains Mono" pitchFamily="49" charset="0"/>
                <a:ea typeface="JetBrains Mono" pitchFamily="49" charset="-122"/>
                <a:cs typeface="JetBrains Mono" pitchFamily="49" charset="-120"/>
              </a:rPr>
              <a:t>solution-generator</a:t>
            </a:r>
            <a:endParaRPr lang="en-US" sz="1600" dirty="0"/>
          </a:p>
        </p:txBody>
      </p:sp>
      <p:sp>
        <p:nvSpPr>
          <p:cNvPr id="12" name="Text 10"/>
          <p:cNvSpPr/>
          <p:nvPr/>
        </p:nvSpPr>
        <p:spPr>
          <a:xfrm>
            <a:off x="4622782" y="3056930"/>
            <a:ext cx="6959129" cy="265329"/>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B9C0CA"/>
                </a:solidFill>
                <a:latin typeface="IBM Plex Sans" pitchFamily="34" charset="0"/>
                <a:ea typeface="IBM Plex Sans" pitchFamily="34" charset="-122"/>
                <a:cs typeface="IBM Plex Sans" pitchFamily="34" charset="-120"/>
              </a:rPr>
              <a:t>Scaffold the .NET solution from the architecture document</a:t>
            </a:r>
            <a:endParaRPr lang="en-US" sz="1400" dirty="0"/>
          </a:p>
        </p:txBody>
      </p:sp>
      <p:sp>
        <p:nvSpPr>
          <p:cNvPr id="13" name="Shape 11"/>
          <p:cNvSpPr/>
          <p:nvPr/>
        </p:nvSpPr>
        <p:spPr>
          <a:xfrm>
            <a:off x="812782" y="3449309"/>
            <a:ext cx="10566436" cy="0"/>
          </a:xfrm>
          <a:prstGeom prst="line">
            <a:avLst/>
          </a:prstGeom>
          <a:noFill/>
          <a:ln w="6350">
            <a:solidFill>
              <a:srgbClr val="3A414D"/>
            </a:solidFill>
            <a:prstDash val="solid"/>
          </a:ln>
        </p:spPr>
        <p:txBody>
          <a:bodyPr/>
          <a:lstStyle/>
          <a:p>
            <a:endParaRPr lang="LID4096"/>
          </a:p>
        </p:txBody>
      </p:sp>
      <p:sp>
        <p:nvSpPr>
          <p:cNvPr id="14" name="Text 12"/>
          <p:cNvSpPr/>
          <p:nvPr/>
        </p:nvSpPr>
        <p:spPr>
          <a:xfrm>
            <a:off x="812782" y="3578907"/>
            <a:ext cx="3662680" cy="30988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3DD6B0"/>
                </a:solidFill>
                <a:latin typeface="JetBrains Mono" pitchFamily="49" charset="0"/>
                <a:ea typeface="JetBrains Mono" pitchFamily="49" charset="-122"/>
                <a:cs typeface="JetBrains Mono" pitchFamily="49" charset="-120"/>
              </a:rPr>
              <a:t>vertical-slices</a:t>
            </a:r>
            <a:endParaRPr lang="en-US" sz="1600" dirty="0"/>
          </a:p>
        </p:txBody>
      </p:sp>
      <p:sp>
        <p:nvSpPr>
          <p:cNvPr id="15" name="Text 13"/>
          <p:cNvSpPr/>
          <p:nvPr/>
        </p:nvSpPr>
        <p:spPr>
          <a:xfrm>
            <a:off x="4622782" y="3601188"/>
            <a:ext cx="6959129" cy="265329"/>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B9C0CA"/>
                </a:solidFill>
                <a:latin typeface="IBM Plex Sans" pitchFamily="34" charset="0"/>
                <a:ea typeface="IBM Plex Sans" pitchFamily="34" charset="-122"/>
                <a:cs typeface="IBM Plex Sans" pitchFamily="34" charset="-120"/>
              </a:rPr>
              <a:t>Blueprint JSON per slice, traced to acceptance criteria</a:t>
            </a:r>
            <a:endParaRPr lang="en-US" sz="1400" dirty="0"/>
          </a:p>
        </p:txBody>
      </p:sp>
      <p:sp>
        <p:nvSpPr>
          <p:cNvPr id="16" name="Shape 14"/>
          <p:cNvSpPr/>
          <p:nvPr/>
        </p:nvSpPr>
        <p:spPr>
          <a:xfrm>
            <a:off x="812782" y="3993567"/>
            <a:ext cx="10566436" cy="0"/>
          </a:xfrm>
          <a:prstGeom prst="line">
            <a:avLst/>
          </a:prstGeom>
          <a:noFill/>
          <a:ln w="6350">
            <a:solidFill>
              <a:srgbClr val="3A414D"/>
            </a:solidFill>
            <a:prstDash val="solid"/>
          </a:ln>
        </p:spPr>
        <p:txBody>
          <a:bodyPr/>
          <a:lstStyle/>
          <a:p>
            <a:endParaRPr lang="LID4096"/>
          </a:p>
        </p:txBody>
      </p:sp>
      <p:sp>
        <p:nvSpPr>
          <p:cNvPr id="17" name="Text 15"/>
          <p:cNvSpPr/>
          <p:nvPr/>
        </p:nvSpPr>
        <p:spPr>
          <a:xfrm>
            <a:off x="812782" y="4123165"/>
            <a:ext cx="3662680" cy="30988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3DD6B0"/>
                </a:solidFill>
                <a:latin typeface="JetBrains Mono" pitchFamily="49" charset="0"/>
                <a:ea typeface="JetBrains Mono" pitchFamily="49" charset="-122"/>
                <a:cs typeface="JetBrains Mono" pitchFamily="49" charset="-120"/>
              </a:rPr>
              <a:t>gap-review</a:t>
            </a:r>
            <a:endParaRPr lang="en-US" sz="1600" dirty="0"/>
          </a:p>
        </p:txBody>
      </p:sp>
      <p:sp>
        <p:nvSpPr>
          <p:cNvPr id="18" name="Text 16"/>
          <p:cNvSpPr/>
          <p:nvPr/>
        </p:nvSpPr>
        <p:spPr>
          <a:xfrm>
            <a:off x="4622782" y="4145446"/>
            <a:ext cx="6959129" cy="265329"/>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B9C0CA"/>
                </a:solidFill>
                <a:latin typeface="IBM Plex Sans" pitchFamily="34" charset="0"/>
                <a:ea typeface="IBM Plex Sans" pitchFamily="34" charset="-122"/>
                <a:cs typeface="IBM Plex Sans" pitchFamily="34" charset="-120"/>
              </a:rPr>
              <a:t>Validate the generated solution against the design decisions</a:t>
            </a:r>
            <a:endParaRPr lang="en-US" sz="1400" dirty="0"/>
          </a:p>
        </p:txBody>
      </p:sp>
      <p:sp>
        <p:nvSpPr>
          <p:cNvPr id="19" name="Text 17"/>
          <p:cNvSpPr/>
          <p:nvPr/>
        </p:nvSpPr>
        <p:spPr>
          <a:xfrm>
            <a:off x="812782" y="4763219"/>
            <a:ext cx="10883429" cy="274259"/>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4F2EC"/>
                </a:solidFill>
                <a:latin typeface="IBM Plex Sans" pitchFamily="34" charset="0"/>
                <a:ea typeface="IBM Plex Sans" pitchFamily="34" charset="-122"/>
                <a:cs typeface="IBM Plex Sans" pitchFamily="34" charset="-120"/>
              </a:rPr>
              <a:t>Traceable IDs tie it together: stories and criteria (US-, AC-), use cases (UC-, AF-), scenario tags and tests.</a:t>
            </a:r>
            <a:endParaRPr lang="en-US" sz="1400" dirty="0"/>
          </a:p>
        </p:txBody>
      </p:sp>
      <p:sp>
        <p:nvSpPr>
          <p:cNvPr id="20" name="Text 18"/>
          <p:cNvSpPr/>
          <p:nvPr/>
        </p:nvSpPr>
        <p:spPr>
          <a:xfrm>
            <a:off x="812782" y="6238242"/>
            <a:ext cx="6540500"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B94A1"/>
                </a:solidFill>
                <a:latin typeface="IBM Plex Sans" pitchFamily="34" charset="0"/>
                <a:ea typeface="IBM Plex Sans" pitchFamily="34" charset="-122"/>
                <a:cs typeface="IBM Plex Sans" pitchFamily="34" charset="-120"/>
              </a:rPr>
              <a:t>I-Synergy/AI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DD6B0"/>
        </a:solidFill>
        <a:effectLst/>
      </p:bgPr>
    </p:bg>
    <p:spTree>
      <p:nvGrpSpPr>
        <p:cNvPr id="1" name=""/>
        <p:cNvGrpSpPr/>
        <p:nvPr/>
      </p:nvGrpSpPr>
      <p:grpSpPr>
        <a:xfrm>
          <a:off x="0" y="0"/>
          <a:ext cx="0" cy="0"/>
          <a:chOff x="0" y="0"/>
          <a:chExt cx="0" cy="0"/>
        </a:xfrm>
      </p:grpSpPr>
      <p:sp>
        <p:nvSpPr>
          <p:cNvPr id="2" name="Text 0"/>
          <p:cNvSpPr/>
          <p:nvPr/>
        </p:nvSpPr>
        <p:spPr>
          <a:xfrm>
            <a:off x="812782" y="1497478"/>
            <a:ext cx="10883429" cy="274259"/>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0E3B2E"/>
                </a:solidFill>
                <a:latin typeface="IBM Plex Sans" pitchFamily="34" charset="0"/>
                <a:ea typeface="IBM Plex Sans" pitchFamily="34" charset="-122"/>
                <a:cs typeface="IBM Plex Sans" pitchFamily="34" charset="-120"/>
              </a:rPr>
              <a:t>THE COUNCIL</a:t>
            </a:r>
            <a:endParaRPr lang="en-US" sz="1400" dirty="0"/>
          </a:p>
        </p:txBody>
      </p:sp>
      <p:sp>
        <p:nvSpPr>
          <p:cNvPr id="3" name="Text 1"/>
          <p:cNvSpPr>
            <a:spLocks noGrp="1"/>
          </p:cNvSpPr>
          <p:nvPr>
            <p:ph type="title"/>
          </p:nvPr>
        </p:nvSpPr>
        <p:spPr>
          <a:xfrm>
            <a:off x="812782" y="2000337"/>
            <a:ext cx="9810750" cy="1785631"/>
          </a:xfrm>
          <a:prstGeom prst="rect">
            <a:avLst/>
          </a:prstGeom>
          <a:noFill/>
          <a:ln/>
        </p:spPr>
        <p:txBody>
          <a:bodyPr wrap="square" lIns="0" tIns="0" rIns="0" bIns="0" rtlCol="0" anchor="t">
            <a:normAutofit/>
          </a:bodyPr>
          <a:lstStyle/>
          <a:p>
            <a:pPr marL="0" indent="0" algn="l">
              <a:lnSpc>
                <a:spcPts val="4620"/>
              </a:lnSpc>
              <a:buNone/>
            </a:pPr>
            <a:r>
              <a:rPr lang="en-US" sz="4200" b="1" i="0" dirty="0">
                <a:solidFill>
                  <a:srgbClr val="0E1A17"/>
                </a:solidFill>
                <a:latin typeface="IBM Plex Sans" pitchFamily="34" charset="0"/>
                <a:ea typeface="IBM Plex Sans" pitchFamily="34" charset="-122"/>
                <a:cs typeface="IBM Plex Sans" pitchFamily="34" charset="-120"/>
              </a:rPr>
              <a:t>Decisions that are expensive to reverse never rest on one agent’s judgment</a:t>
            </a:r>
            <a:endParaRPr lang="en-US" sz="4200" dirty="0"/>
          </a:p>
        </p:txBody>
      </p:sp>
      <p:sp>
        <p:nvSpPr>
          <p:cNvPr id="4" name="Text 2"/>
          <p:cNvSpPr/>
          <p:nvPr/>
        </p:nvSpPr>
        <p:spPr>
          <a:xfrm>
            <a:off x="812782" y="4014570"/>
            <a:ext cx="9156700" cy="665271"/>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0E3B2E"/>
                </a:solidFill>
                <a:latin typeface="IBM Plex Sans" pitchFamily="34" charset="0"/>
                <a:ea typeface="IBM Plex Sans" pitchFamily="34" charset="-122"/>
                <a:cs typeface="IBM Plex Sans" pitchFamily="34" charset="-120"/>
              </a:rPr>
              <a:t>Three to five seats form positions independently. A chair synthesises. Dissent is quoted verbatim, never averaged away, and unresolved dissent goes to you.</a:t>
            </a:r>
            <a:endParaRPr lang="en-US" sz="1800" dirty="0"/>
          </a:p>
        </p:txBody>
      </p:sp>
      <p:sp>
        <p:nvSpPr>
          <p:cNvPr id="5" name="Text 3"/>
          <p:cNvSpPr/>
          <p:nvPr/>
        </p:nvSpPr>
        <p:spPr>
          <a:xfrm>
            <a:off x="812782" y="4908438"/>
            <a:ext cx="11379218" cy="274259"/>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E3B2E"/>
                </a:solidFill>
                <a:latin typeface="IBM Plex Sans" pitchFamily="34" charset="0"/>
                <a:ea typeface="IBM Plex Sans" pitchFamily="34" charset="-122"/>
                <a:cs typeface="IBM Plex Sans" pitchFamily="34" charset="-120"/>
              </a:rPr>
              <a:t>Triggers: architecture change, broken public contract, destructive migration, new security posture, irreversible flag, conflicting rules.</a:t>
            </a:r>
            <a:endParaRPr lang="en-US" sz="1400" dirty="0"/>
          </a:p>
        </p:txBody>
      </p:sp>
      <p:sp>
        <p:nvSpPr>
          <p:cNvPr id="6" name="Text 4"/>
          <p:cNvSpPr/>
          <p:nvPr/>
        </p:nvSpPr>
        <p:spPr>
          <a:xfrm>
            <a:off x="812782" y="6238242"/>
            <a:ext cx="6540500"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3B2E"/>
                </a:solidFill>
                <a:latin typeface="IBM Plex Sans" pitchFamily="34" charset="0"/>
                <a:ea typeface="IBM Plex Sans" pitchFamily="34" charset="-122"/>
                <a:cs typeface="IBM Plex Sans" pitchFamily="34" charset="-120"/>
              </a:rPr>
              <a:t>I-Synergy/AI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782" y="812781"/>
            <a:ext cx="10883429" cy="274259"/>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0B7A62"/>
                </a:solidFill>
                <a:latin typeface="IBM Plex Sans" pitchFamily="34" charset="0"/>
                <a:ea typeface="IBM Plex Sans" pitchFamily="34" charset="-122"/>
                <a:cs typeface="IBM Plex Sans" pitchFamily="34" charset="-120"/>
              </a:rPr>
              <a:t>WHY A MANAGER</a:t>
            </a:r>
            <a:endParaRPr lang="en-US" sz="1400" dirty="0"/>
          </a:p>
        </p:txBody>
      </p:sp>
      <p:sp>
        <p:nvSpPr>
          <p:cNvPr id="3" name="Text 1"/>
          <p:cNvSpPr>
            <a:spLocks noGrp="1"/>
          </p:cNvSpPr>
          <p:nvPr>
            <p:ph type="title"/>
          </p:nvPr>
        </p:nvSpPr>
        <p:spPr>
          <a:xfrm>
            <a:off x="812782" y="1137766"/>
            <a:ext cx="10883429" cy="472426"/>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71C"/>
                </a:solidFill>
                <a:latin typeface="IBM Plex Sans" pitchFamily="34" charset="0"/>
                <a:ea typeface="IBM Plex Sans" pitchFamily="34" charset="-122"/>
                <a:cs typeface="IBM Plex Sans" pitchFamily="34" charset="-120"/>
              </a:rPr>
              <a:t>Cloning the whole template is all-or-nothing</a:t>
            </a:r>
            <a:endParaRPr lang="en-US" sz="3200" dirty="0"/>
          </a:p>
        </p:txBody>
      </p:sp>
      <p:sp>
        <p:nvSpPr>
          <p:cNvPr id="4" name="Shape 2"/>
          <p:cNvSpPr/>
          <p:nvPr/>
        </p:nvSpPr>
        <p:spPr>
          <a:xfrm>
            <a:off x="815957" y="1892746"/>
            <a:ext cx="3414171" cy="1244347"/>
          </a:xfrm>
          <a:prstGeom prst="roundRect">
            <a:avLst>
              <a:gd name="adj" fmla="val 7910"/>
            </a:avLst>
          </a:prstGeom>
          <a:solidFill>
            <a:srgbClr val="FBFAF6"/>
          </a:solidFill>
          <a:ln w="6350">
            <a:solidFill>
              <a:srgbClr val="DAD6CB"/>
            </a:solidFill>
            <a:prstDash val="solid"/>
          </a:ln>
        </p:spPr>
        <p:txBody>
          <a:bodyPr/>
          <a:lstStyle/>
          <a:p>
            <a:endParaRPr lang="LID4096"/>
          </a:p>
        </p:txBody>
      </p:sp>
      <p:sp>
        <p:nvSpPr>
          <p:cNvPr id="5" name="Text 3"/>
          <p:cNvSpPr/>
          <p:nvPr/>
        </p:nvSpPr>
        <p:spPr>
          <a:xfrm>
            <a:off x="1021683" y="2098477"/>
            <a:ext cx="3092802" cy="284451"/>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171C"/>
                </a:solidFill>
                <a:latin typeface="IBM Plex Sans" pitchFamily="34" charset="0"/>
                <a:ea typeface="IBM Plex Sans" pitchFamily="34" charset="-122"/>
                <a:cs typeface="IBM Plex Sans" pitchFamily="34" charset="-120"/>
              </a:rPr>
              <a:t>All or nothing</a:t>
            </a:r>
            <a:endParaRPr lang="en-US" sz="1700" dirty="0"/>
          </a:p>
        </p:txBody>
      </p:sp>
      <p:sp>
        <p:nvSpPr>
          <p:cNvPr id="6" name="Text 4"/>
          <p:cNvSpPr/>
          <p:nvPr/>
        </p:nvSpPr>
        <p:spPr>
          <a:xfrm>
            <a:off x="1021683" y="2433650"/>
            <a:ext cx="3092802" cy="52311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Every skill and agent arrives, with no per-repository choice.</a:t>
            </a:r>
            <a:endParaRPr lang="en-US" sz="1400" dirty="0"/>
          </a:p>
        </p:txBody>
      </p:sp>
      <p:sp>
        <p:nvSpPr>
          <p:cNvPr id="7" name="Shape 5"/>
          <p:cNvSpPr/>
          <p:nvPr/>
        </p:nvSpPr>
        <p:spPr>
          <a:xfrm>
            <a:off x="4388824" y="1892746"/>
            <a:ext cx="3414261" cy="1244347"/>
          </a:xfrm>
          <a:prstGeom prst="roundRect">
            <a:avLst>
              <a:gd name="adj" fmla="val 7910"/>
            </a:avLst>
          </a:prstGeom>
          <a:solidFill>
            <a:srgbClr val="FBFAF6"/>
          </a:solidFill>
          <a:ln w="6350">
            <a:solidFill>
              <a:srgbClr val="DAD6CB"/>
            </a:solidFill>
            <a:prstDash val="solid"/>
          </a:ln>
        </p:spPr>
        <p:txBody>
          <a:bodyPr/>
          <a:lstStyle/>
          <a:p>
            <a:endParaRPr lang="LID4096"/>
          </a:p>
        </p:txBody>
      </p:sp>
      <p:sp>
        <p:nvSpPr>
          <p:cNvPr id="8" name="Text 6"/>
          <p:cNvSpPr/>
          <p:nvPr/>
        </p:nvSpPr>
        <p:spPr>
          <a:xfrm>
            <a:off x="4594549" y="2098477"/>
            <a:ext cx="3092895" cy="284451"/>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171C"/>
                </a:solidFill>
                <a:latin typeface="IBM Plex Sans" pitchFamily="34" charset="0"/>
                <a:ea typeface="IBM Plex Sans" pitchFamily="34" charset="-122"/>
                <a:cs typeface="IBM Plex Sans" pitchFamily="34" charset="-120"/>
              </a:rPr>
              <a:t>Silent drift</a:t>
            </a:r>
            <a:endParaRPr lang="en-US" sz="1700" dirty="0"/>
          </a:p>
        </p:txBody>
      </p:sp>
      <p:sp>
        <p:nvSpPr>
          <p:cNvPr id="9" name="Text 7"/>
          <p:cNvSpPr/>
          <p:nvPr/>
        </p:nvSpPr>
        <p:spPr>
          <a:xfrm>
            <a:off x="4594549" y="2433650"/>
            <a:ext cx="3092895" cy="52311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Local edits can be overwritten, and it is unclear who owns which file.</a:t>
            </a:r>
            <a:endParaRPr lang="en-US" sz="1400" dirty="0"/>
          </a:p>
        </p:txBody>
      </p:sp>
      <p:sp>
        <p:nvSpPr>
          <p:cNvPr id="10" name="Shape 8"/>
          <p:cNvSpPr/>
          <p:nvPr/>
        </p:nvSpPr>
        <p:spPr>
          <a:xfrm>
            <a:off x="7961781" y="1892746"/>
            <a:ext cx="3414261" cy="1244347"/>
          </a:xfrm>
          <a:prstGeom prst="roundRect">
            <a:avLst>
              <a:gd name="adj" fmla="val 7910"/>
            </a:avLst>
          </a:prstGeom>
          <a:solidFill>
            <a:srgbClr val="FBFAF6"/>
          </a:solidFill>
          <a:ln w="6350">
            <a:solidFill>
              <a:srgbClr val="DAD6CB"/>
            </a:solidFill>
            <a:prstDash val="solid"/>
          </a:ln>
        </p:spPr>
        <p:txBody>
          <a:bodyPr/>
          <a:lstStyle/>
          <a:p>
            <a:endParaRPr lang="LID4096"/>
          </a:p>
        </p:txBody>
      </p:sp>
      <p:sp>
        <p:nvSpPr>
          <p:cNvPr id="11" name="Text 9"/>
          <p:cNvSpPr/>
          <p:nvPr/>
        </p:nvSpPr>
        <p:spPr>
          <a:xfrm>
            <a:off x="8167507" y="2098477"/>
            <a:ext cx="3092895" cy="284451"/>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171C"/>
                </a:solidFill>
                <a:latin typeface="IBM Plex Sans" pitchFamily="34" charset="0"/>
                <a:ea typeface="IBM Plex Sans" pitchFamily="34" charset="-122"/>
                <a:cs typeface="IBM Plex Sans" pitchFamily="34" charset="-120"/>
              </a:rPr>
              <a:t>No provenance</a:t>
            </a:r>
            <a:endParaRPr lang="en-US" sz="1700" dirty="0"/>
          </a:p>
        </p:txBody>
      </p:sp>
      <p:sp>
        <p:nvSpPr>
          <p:cNvPr id="12" name="Text 10"/>
          <p:cNvSpPr/>
          <p:nvPr/>
        </p:nvSpPr>
        <p:spPr>
          <a:xfrm>
            <a:off x="8167507" y="2433650"/>
            <a:ext cx="3092895" cy="52311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Hard to see where an item came from, its revision or its license.</a:t>
            </a:r>
            <a:endParaRPr lang="en-US" sz="1400" dirty="0"/>
          </a:p>
        </p:txBody>
      </p:sp>
      <p:sp>
        <p:nvSpPr>
          <p:cNvPr id="13" name="Shape 11"/>
          <p:cNvSpPr/>
          <p:nvPr/>
        </p:nvSpPr>
        <p:spPr>
          <a:xfrm>
            <a:off x="815957" y="3295793"/>
            <a:ext cx="3414171" cy="1244347"/>
          </a:xfrm>
          <a:prstGeom prst="roundRect">
            <a:avLst>
              <a:gd name="adj" fmla="val 7910"/>
            </a:avLst>
          </a:prstGeom>
          <a:solidFill>
            <a:srgbClr val="FBFAF6"/>
          </a:solidFill>
          <a:ln w="6350">
            <a:solidFill>
              <a:srgbClr val="DAD6CB"/>
            </a:solidFill>
            <a:prstDash val="solid"/>
          </a:ln>
        </p:spPr>
        <p:txBody>
          <a:bodyPr/>
          <a:lstStyle/>
          <a:p>
            <a:endParaRPr lang="LID4096"/>
          </a:p>
        </p:txBody>
      </p:sp>
      <p:sp>
        <p:nvSpPr>
          <p:cNvPr id="14" name="Text 12"/>
          <p:cNvSpPr/>
          <p:nvPr/>
        </p:nvSpPr>
        <p:spPr>
          <a:xfrm>
            <a:off x="1021683" y="3501517"/>
            <a:ext cx="3092802" cy="284451"/>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171C"/>
                </a:solidFill>
                <a:latin typeface="IBM Plex Sans" pitchFamily="34" charset="0"/>
                <a:ea typeface="IBM Plex Sans" pitchFamily="34" charset="-122"/>
                <a:cs typeface="IBM Plex Sans" pitchFamily="34" charset="-120"/>
              </a:rPr>
              <a:t>Source overlap</a:t>
            </a:r>
            <a:endParaRPr lang="en-US" sz="1700" dirty="0"/>
          </a:p>
        </p:txBody>
      </p:sp>
      <p:sp>
        <p:nvSpPr>
          <p:cNvPr id="15" name="Text 13"/>
          <p:cNvSpPr/>
          <p:nvPr/>
        </p:nvSpPr>
        <p:spPr>
          <a:xfrm>
            <a:off x="1021683" y="3836696"/>
            <a:ext cx="3092802" cy="52311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Duplicates and name clashes show up only after installing.</a:t>
            </a:r>
            <a:endParaRPr lang="en-US" sz="1400" dirty="0"/>
          </a:p>
        </p:txBody>
      </p:sp>
      <p:sp>
        <p:nvSpPr>
          <p:cNvPr id="16" name="Shape 14"/>
          <p:cNvSpPr/>
          <p:nvPr/>
        </p:nvSpPr>
        <p:spPr>
          <a:xfrm>
            <a:off x="4388824" y="3295793"/>
            <a:ext cx="3414261" cy="1244347"/>
          </a:xfrm>
          <a:prstGeom prst="roundRect">
            <a:avLst>
              <a:gd name="adj" fmla="val 7910"/>
            </a:avLst>
          </a:prstGeom>
          <a:solidFill>
            <a:srgbClr val="FBFAF6"/>
          </a:solidFill>
          <a:ln w="6350">
            <a:solidFill>
              <a:srgbClr val="DAD6CB"/>
            </a:solidFill>
            <a:prstDash val="solid"/>
          </a:ln>
        </p:spPr>
        <p:txBody>
          <a:bodyPr/>
          <a:lstStyle/>
          <a:p>
            <a:endParaRPr lang="LID4096"/>
          </a:p>
        </p:txBody>
      </p:sp>
      <p:sp>
        <p:nvSpPr>
          <p:cNvPr id="17" name="Text 15"/>
          <p:cNvSpPr/>
          <p:nvPr/>
        </p:nvSpPr>
        <p:spPr>
          <a:xfrm>
            <a:off x="4594549" y="3501517"/>
            <a:ext cx="3092895" cy="284451"/>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171C"/>
                </a:solidFill>
                <a:latin typeface="IBM Plex Sans" pitchFamily="34" charset="0"/>
                <a:ea typeface="IBM Plex Sans" pitchFamily="34" charset="-122"/>
                <a:cs typeface="IBM Plex Sans" pitchFamily="34" charset="-120"/>
              </a:rPr>
              <a:t>Manual setup</a:t>
            </a:r>
            <a:endParaRPr lang="en-US" sz="1700" dirty="0"/>
          </a:p>
        </p:txBody>
      </p:sp>
      <p:sp>
        <p:nvSpPr>
          <p:cNvPr id="18" name="Text 16"/>
          <p:cNvSpPr/>
          <p:nvPr/>
        </p:nvSpPr>
        <p:spPr>
          <a:xfrm>
            <a:off x="4594549" y="3836696"/>
            <a:ext cx="3092895" cy="52311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Every new repository needs scripts and config files by hand.</a:t>
            </a:r>
            <a:endParaRPr lang="en-US" sz="1400" dirty="0"/>
          </a:p>
        </p:txBody>
      </p:sp>
      <p:sp>
        <p:nvSpPr>
          <p:cNvPr id="19" name="Shape 17"/>
          <p:cNvSpPr/>
          <p:nvPr/>
        </p:nvSpPr>
        <p:spPr>
          <a:xfrm>
            <a:off x="7961781" y="3295793"/>
            <a:ext cx="3414261" cy="1244347"/>
          </a:xfrm>
          <a:prstGeom prst="roundRect">
            <a:avLst>
              <a:gd name="adj" fmla="val 7910"/>
            </a:avLst>
          </a:prstGeom>
          <a:solidFill>
            <a:srgbClr val="FBFAF6"/>
          </a:solidFill>
          <a:ln w="6350">
            <a:solidFill>
              <a:srgbClr val="DAD6CB"/>
            </a:solidFill>
            <a:prstDash val="solid"/>
          </a:ln>
        </p:spPr>
        <p:txBody>
          <a:bodyPr/>
          <a:lstStyle/>
          <a:p>
            <a:endParaRPr lang="LID4096"/>
          </a:p>
        </p:txBody>
      </p:sp>
      <p:sp>
        <p:nvSpPr>
          <p:cNvPr id="20" name="Text 18"/>
          <p:cNvSpPr/>
          <p:nvPr/>
        </p:nvSpPr>
        <p:spPr>
          <a:xfrm>
            <a:off x="8167507" y="3501517"/>
            <a:ext cx="3092895" cy="284451"/>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171C"/>
                </a:solidFill>
                <a:latin typeface="IBM Plex Sans" pitchFamily="34" charset="0"/>
                <a:ea typeface="IBM Plex Sans" pitchFamily="34" charset="-122"/>
                <a:cs typeface="IBM Plex Sans" pitchFamily="34" charset="-120"/>
              </a:rPr>
              <a:t>Risky updates</a:t>
            </a:r>
            <a:endParaRPr lang="en-US" sz="1700" dirty="0"/>
          </a:p>
        </p:txBody>
      </p:sp>
      <p:sp>
        <p:nvSpPr>
          <p:cNvPr id="21" name="Text 19"/>
          <p:cNvSpPr/>
          <p:nvPr/>
        </p:nvSpPr>
        <p:spPr>
          <a:xfrm>
            <a:off x="8167507" y="3836696"/>
            <a:ext cx="3092895" cy="52311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Updating means re-cloning, which can delete local changes.</a:t>
            </a:r>
            <a:endParaRPr lang="en-US" sz="1400" dirty="0"/>
          </a:p>
        </p:txBody>
      </p:sp>
      <p:sp>
        <p:nvSpPr>
          <p:cNvPr id="22" name="Text 20"/>
          <p:cNvSpPr/>
          <p:nvPr/>
        </p:nvSpPr>
        <p:spPr>
          <a:xfrm>
            <a:off x="812782" y="4848095"/>
            <a:ext cx="10883429" cy="316833"/>
          </a:xfrm>
          <a:prstGeom prst="rect">
            <a:avLst/>
          </a:prstGeom>
          <a:noFill/>
          <a:ln/>
        </p:spPr>
        <p:txBody>
          <a:bodyPr wrap="square" lIns="0" tIns="0" rIns="0" bIns="0" rtlCol="0" anchor="t">
            <a:normAutofit/>
          </a:bodyPr>
          <a:lstStyle/>
          <a:p>
            <a:pPr marL="0" indent="0" algn="l">
              <a:lnSpc>
                <a:spcPts val="2295"/>
              </a:lnSpc>
              <a:buNone/>
            </a:pPr>
            <a:r>
              <a:rPr lang="en-US" sz="1700" b="1" dirty="0">
                <a:solidFill>
                  <a:srgbClr val="0B7A62"/>
                </a:solidFill>
                <a:latin typeface="IBM Plex Sans" pitchFamily="34" charset="0"/>
                <a:ea typeface="IBM Plex Sans" pitchFamily="34" charset="-122"/>
                <a:cs typeface="IBM Plex Sans" pitchFamily="34" charset="-120"/>
              </a:rPr>
              <a:t>AI Workspace Manager exists to remove these six problems.</a:t>
            </a:r>
            <a:endParaRPr lang="en-US" sz="1700" dirty="0"/>
          </a:p>
        </p:txBody>
      </p:sp>
      <p:sp>
        <p:nvSpPr>
          <p:cNvPr id="23" name="Text 21"/>
          <p:cNvSpPr/>
          <p:nvPr/>
        </p:nvSpPr>
        <p:spPr>
          <a:xfrm>
            <a:off x="812782" y="6238242"/>
            <a:ext cx="6540500"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I-Synergy/AI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782" y="812788"/>
            <a:ext cx="10883429" cy="274259"/>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0B7A62"/>
                </a:solidFill>
                <a:latin typeface="IBM Plex Sans" pitchFamily="34" charset="0"/>
                <a:ea typeface="IBM Plex Sans" pitchFamily="34" charset="-122"/>
                <a:cs typeface="IBM Plex Sans" pitchFamily="34" charset="-120"/>
              </a:rPr>
              <a:t>AI WORKSPACE MANAGER</a:t>
            </a:r>
            <a:endParaRPr lang="en-US" sz="1400" dirty="0"/>
          </a:p>
        </p:txBody>
      </p:sp>
      <p:sp>
        <p:nvSpPr>
          <p:cNvPr id="3" name="Text 1"/>
          <p:cNvSpPr>
            <a:spLocks noGrp="1"/>
          </p:cNvSpPr>
          <p:nvPr>
            <p:ph type="title"/>
          </p:nvPr>
        </p:nvSpPr>
        <p:spPr>
          <a:xfrm>
            <a:off x="812782" y="1137772"/>
            <a:ext cx="10883429" cy="472426"/>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71C"/>
                </a:solidFill>
                <a:latin typeface="IBM Plex Sans" pitchFamily="34" charset="0"/>
                <a:ea typeface="IBM Plex Sans" pitchFamily="34" charset="-122"/>
                <a:cs typeface="IBM Plex Sans" pitchFamily="34" charset="-120"/>
              </a:rPr>
              <a:t>A VS Code extension that manages it for you</a:t>
            </a:r>
            <a:endParaRPr lang="en-US" sz="3200" dirty="0"/>
          </a:p>
        </p:txBody>
      </p:sp>
      <p:sp>
        <p:nvSpPr>
          <p:cNvPr id="4" name="Shape 2"/>
          <p:cNvSpPr/>
          <p:nvPr/>
        </p:nvSpPr>
        <p:spPr>
          <a:xfrm>
            <a:off x="815957" y="1892753"/>
            <a:ext cx="3380347" cy="1722041"/>
          </a:xfrm>
          <a:prstGeom prst="roundRect">
            <a:avLst>
              <a:gd name="adj" fmla="val 5716"/>
            </a:avLst>
          </a:prstGeom>
          <a:solidFill>
            <a:srgbClr val="FBFAF6"/>
          </a:solidFill>
          <a:ln w="6350">
            <a:solidFill>
              <a:srgbClr val="DAD6CB"/>
            </a:solidFill>
            <a:prstDash val="solid"/>
          </a:ln>
        </p:spPr>
        <p:txBody>
          <a:bodyPr/>
          <a:lstStyle/>
          <a:p>
            <a:endParaRPr lang="LID4096"/>
          </a:p>
        </p:txBody>
      </p:sp>
      <p:sp>
        <p:nvSpPr>
          <p:cNvPr id="5" name="Text 3"/>
          <p:cNvSpPr/>
          <p:nvPr/>
        </p:nvSpPr>
        <p:spPr>
          <a:xfrm>
            <a:off x="1072555" y="2149351"/>
            <a:ext cx="2953166" cy="634964"/>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B7A62"/>
                </a:solidFill>
                <a:latin typeface="IBM Plex Sans" pitchFamily="34" charset="0"/>
                <a:ea typeface="IBM Plex Sans" pitchFamily="34" charset="-122"/>
                <a:cs typeface="IBM Plex Sans" pitchFamily="34" charset="-120"/>
              </a:rPr>
              <a:t>Install only what you need</a:t>
            </a:r>
            <a:endParaRPr lang="en-US" sz="2000" dirty="0"/>
          </a:p>
        </p:txBody>
      </p:sp>
      <p:sp>
        <p:nvSpPr>
          <p:cNvPr id="6" name="Text 4"/>
          <p:cNvSpPr/>
          <p:nvPr/>
        </p:nvSpPr>
        <p:spPr>
          <a:xfrm>
            <a:off x="1072555" y="2860477"/>
            <a:ext cx="2953166" cy="52311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Pick a preset or single skills instead of copying all 80.</a:t>
            </a:r>
            <a:endParaRPr lang="en-US" sz="1400" dirty="0"/>
          </a:p>
        </p:txBody>
      </p:sp>
      <p:sp>
        <p:nvSpPr>
          <p:cNvPr id="7" name="Shape 5"/>
          <p:cNvSpPr/>
          <p:nvPr/>
        </p:nvSpPr>
        <p:spPr>
          <a:xfrm>
            <a:off x="4405781" y="1892753"/>
            <a:ext cx="3380437" cy="1722041"/>
          </a:xfrm>
          <a:prstGeom prst="roundRect">
            <a:avLst>
              <a:gd name="adj" fmla="val 5716"/>
            </a:avLst>
          </a:prstGeom>
          <a:solidFill>
            <a:srgbClr val="FBFAF6"/>
          </a:solidFill>
          <a:ln w="6350">
            <a:solidFill>
              <a:srgbClr val="DAD6CB"/>
            </a:solidFill>
            <a:prstDash val="solid"/>
          </a:ln>
        </p:spPr>
        <p:txBody>
          <a:bodyPr/>
          <a:lstStyle/>
          <a:p>
            <a:endParaRPr lang="LID4096"/>
          </a:p>
        </p:txBody>
      </p:sp>
      <p:sp>
        <p:nvSpPr>
          <p:cNvPr id="8" name="Text 6"/>
          <p:cNvSpPr/>
          <p:nvPr/>
        </p:nvSpPr>
        <p:spPr>
          <a:xfrm>
            <a:off x="4662379" y="2149351"/>
            <a:ext cx="2953259" cy="330182"/>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B7A62"/>
                </a:solidFill>
                <a:latin typeface="IBM Plex Sans" pitchFamily="34" charset="0"/>
                <a:ea typeface="IBM Plex Sans" pitchFamily="34" charset="-122"/>
                <a:cs typeface="IBM Plex Sans" pitchFamily="34" charset="-120"/>
              </a:rPr>
              <a:t>Safe updates</a:t>
            </a:r>
            <a:endParaRPr lang="en-US" sz="2000" dirty="0"/>
          </a:p>
        </p:txBody>
      </p:sp>
      <p:sp>
        <p:nvSpPr>
          <p:cNvPr id="9" name="Text 7"/>
          <p:cNvSpPr/>
          <p:nvPr/>
        </p:nvSpPr>
        <p:spPr>
          <a:xfrm>
            <a:off x="4662379" y="2555695"/>
            <a:ext cx="2953259" cy="52311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See what changed upstream, and never lose your local edits.</a:t>
            </a:r>
            <a:endParaRPr lang="en-US" sz="1400" dirty="0"/>
          </a:p>
        </p:txBody>
      </p:sp>
      <p:sp>
        <p:nvSpPr>
          <p:cNvPr id="10" name="Shape 8"/>
          <p:cNvSpPr/>
          <p:nvPr/>
        </p:nvSpPr>
        <p:spPr>
          <a:xfrm>
            <a:off x="7995696" y="1892753"/>
            <a:ext cx="3380347" cy="1722041"/>
          </a:xfrm>
          <a:prstGeom prst="roundRect">
            <a:avLst>
              <a:gd name="adj" fmla="val 5716"/>
            </a:avLst>
          </a:prstGeom>
          <a:solidFill>
            <a:srgbClr val="FBFAF6"/>
          </a:solidFill>
          <a:ln w="6350">
            <a:solidFill>
              <a:srgbClr val="DAD6CB"/>
            </a:solidFill>
            <a:prstDash val="solid"/>
          </a:ln>
        </p:spPr>
        <p:txBody>
          <a:bodyPr/>
          <a:lstStyle/>
          <a:p>
            <a:endParaRPr lang="LID4096"/>
          </a:p>
        </p:txBody>
      </p:sp>
      <p:sp>
        <p:nvSpPr>
          <p:cNvPr id="11" name="Text 9"/>
          <p:cNvSpPr/>
          <p:nvPr/>
        </p:nvSpPr>
        <p:spPr>
          <a:xfrm>
            <a:off x="8252294" y="2149351"/>
            <a:ext cx="2953166" cy="330182"/>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B7A62"/>
                </a:solidFill>
                <a:latin typeface="IBM Plex Sans" pitchFamily="34" charset="0"/>
                <a:ea typeface="IBM Plex Sans" pitchFamily="34" charset="-122"/>
                <a:cs typeface="IBM Plex Sans" pitchFamily="34" charset="-120"/>
              </a:rPr>
              <a:t>One setup, every tool</a:t>
            </a:r>
            <a:endParaRPr lang="en-US" sz="2000" dirty="0"/>
          </a:p>
        </p:txBody>
      </p:sp>
      <p:sp>
        <p:nvSpPr>
          <p:cNvPr id="12" name="Text 10"/>
          <p:cNvSpPr/>
          <p:nvPr/>
        </p:nvSpPr>
        <p:spPr>
          <a:xfrm>
            <a:off x="8252294" y="2555695"/>
            <a:ext cx="2953166" cy="52311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Claude Code, Copilot and Reasonix stay in sync from one source.</a:t>
            </a:r>
            <a:endParaRPr lang="en-US" sz="1400" dirty="0"/>
          </a:p>
        </p:txBody>
      </p:sp>
      <p:sp>
        <p:nvSpPr>
          <p:cNvPr id="13" name="Shape 11"/>
          <p:cNvSpPr/>
          <p:nvPr/>
        </p:nvSpPr>
        <p:spPr>
          <a:xfrm>
            <a:off x="812782" y="3922750"/>
            <a:ext cx="10566436" cy="985242"/>
          </a:xfrm>
          <a:prstGeom prst="roundRect">
            <a:avLst>
              <a:gd name="adj" fmla="val 10312"/>
            </a:avLst>
          </a:prstGeom>
          <a:solidFill>
            <a:srgbClr val="14171C"/>
          </a:solidFill>
          <a:ln/>
        </p:spPr>
        <p:txBody>
          <a:bodyPr/>
          <a:lstStyle/>
          <a:p>
            <a:endParaRPr lang="LID4096"/>
          </a:p>
        </p:txBody>
      </p:sp>
      <p:sp>
        <p:nvSpPr>
          <p:cNvPr id="14" name="Text 12"/>
          <p:cNvSpPr/>
          <p:nvPr/>
        </p:nvSpPr>
        <p:spPr>
          <a:xfrm>
            <a:off x="1092128" y="4125881"/>
            <a:ext cx="10307977" cy="292028"/>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DD6B0"/>
                </a:solidFill>
                <a:latin typeface="IBM Plex Sans" pitchFamily="34" charset="0"/>
                <a:ea typeface="IBM Plex Sans" pitchFamily="34" charset="-122"/>
                <a:cs typeface="IBM Plex Sans" pitchFamily="34" charset="-120"/>
              </a:rPr>
              <a:t>Free and open source</a:t>
            </a:r>
            <a:endParaRPr lang="en-US" sz="1500" dirty="0"/>
          </a:p>
        </p:txBody>
      </p:sp>
      <p:sp>
        <p:nvSpPr>
          <p:cNvPr id="15" name="Text 13"/>
          <p:cNvSpPr/>
          <p:nvPr/>
        </p:nvSpPr>
        <p:spPr>
          <a:xfrm>
            <a:off x="1092128" y="4456007"/>
            <a:ext cx="10307977" cy="274259"/>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9C0CA"/>
                </a:solidFill>
                <a:latin typeface="IBM Plex Sans" pitchFamily="34" charset="0"/>
                <a:ea typeface="IBM Plex Sans" pitchFamily="34" charset="-122"/>
                <a:cs typeface="IBM Plex Sans" pitchFamily="34" charset="-120"/>
              </a:rPr>
              <a:t>Install it from the VS Code Marketplace. MIT licensed.</a:t>
            </a:r>
            <a:endParaRPr lang="en-US" sz="1400" dirty="0"/>
          </a:p>
        </p:txBody>
      </p:sp>
      <p:sp>
        <p:nvSpPr>
          <p:cNvPr id="16" name="Text 14"/>
          <p:cNvSpPr/>
          <p:nvPr/>
        </p:nvSpPr>
        <p:spPr>
          <a:xfrm>
            <a:off x="812782" y="6238249"/>
            <a:ext cx="6540500"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I-Synergy/AI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71C"/>
        </a:solidFill>
        <a:effectLst/>
      </p:bgPr>
    </p:bg>
    <p:spTree>
      <p:nvGrpSpPr>
        <p:cNvPr id="1" name=""/>
        <p:cNvGrpSpPr/>
        <p:nvPr/>
      </p:nvGrpSpPr>
      <p:grpSpPr>
        <a:xfrm>
          <a:off x="0" y="0"/>
          <a:ext cx="0" cy="0"/>
          <a:chOff x="0" y="0"/>
          <a:chExt cx="0" cy="0"/>
        </a:xfrm>
      </p:grpSpPr>
      <p:sp>
        <p:nvSpPr>
          <p:cNvPr id="2" name="Text 0"/>
          <p:cNvSpPr/>
          <p:nvPr/>
        </p:nvSpPr>
        <p:spPr>
          <a:xfrm>
            <a:off x="812782" y="812788"/>
            <a:ext cx="10883429" cy="274259"/>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3DD6B0"/>
                </a:solidFill>
                <a:latin typeface="IBM Plex Sans" pitchFamily="34" charset="0"/>
                <a:ea typeface="IBM Plex Sans" pitchFamily="34" charset="-122"/>
                <a:cs typeface="IBM Plex Sans" pitchFamily="34" charset="-120"/>
              </a:rPr>
              <a:t>GETTING STARTED</a:t>
            </a:r>
            <a:endParaRPr lang="en-US" sz="1400" dirty="0"/>
          </a:p>
        </p:txBody>
      </p:sp>
      <p:sp>
        <p:nvSpPr>
          <p:cNvPr id="3" name="Text 1"/>
          <p:cNvSpPr>
            <a:spLocks noGrp="1"/>
          </p:cNvSpPr>
          <p:nvPr>
            <p:ph type="title"/>
          </p:nvPr>
        </p:nvSpPr>
        <p:spPr>
          <a:xfrm>
            <a:off x="812782" y="1137772"/>
            <a:ext cx="10883429" cy="472426"/>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4F2EC"/>
                </a:solidFill>
                <a:latin typeface="IBM Plex Sans" pitchFamily="34" charset="0"/>
                <a:ea typeface="IBM Plex Sans" pitchFamily="34" charset="-122"/>
                <a:cs typeface="IBM Plex Sans" pitchFamily="34" charset="-120"/>
              </a:rPr>
              <a:t>Two ways to adopt it</a:t>
            </a:r>
            <a:endParaRPr lang="en-US" sz="3200" dirty="0"/>
          </a:p>
        </p:txBody>
      </p:sp>
      <p:sp>
        <p:nvSpPr>
          <p:cNvPr id="4" name="Shape 2"/>
          <p:cNvSpPr/>
          <p:nvPr/>
        </p:nvSpPr>
        <p:spPr>
          <a:xfrm>
            <a:off x="812782" y="1813359"/>
            <a:ext cx="5181654" cy="2481190"/>
          </a:xfrm>
          <a:prstGeom prst="roundRect">
            <a:avLst>
              <a:gd name="adj" fmla="val 4095"/>
            </a:avLst>
          </a:prstGeom>
          <a:solidFill>
            <a:srgbClr val="1F242C"/>
          </a:solidFill>
          <a:ln/>
        </p:spPr>
        <p:txBody>
          <a:bodyPr/>
          <a:lstStyle/>
          <a:p>
            <a:endParaRPr lang="LID4096"/>
          </a:p>
        </p:txBody>
      </p:sp>
      <p:sp>
        <p:nvSpPr>
          <p:cNvPr id="5" name="Shape 3"/>
          <p:cNvSpPr/>
          <p:nvPr/>
        </p:nvSpPr>
        <p:spPr>
          <a:xfrm>
            <a:off x="812782" y="1813359"/>
            <a:ext cx="5181654" cy="2481190"/>
          </a:xfrm>
          <a:custGeom>
            <a:avLst/>
            <a:gdLst/>
            <a:ahLst/>
            <a:cxnLst/>
            <a:rect l="l" t="t" r="r" b="b"/>
            <a:pathLst>
              <a:path w="5181654" h="2481190">
                <a:moveTo>
                  <a:pt x="0" y="101600"/>
                </a:moveTo>
                <a:lnTo>
                  <a:pt x="0" y="101600"/>
                </a:lnTo>
                <a:arcTo wR="101600" hR="101600" stAng="10800000" swAng="5400000"/>
                <a:lnTo>
                  <a:pt x="5080054" y="0"/>
                </a:lnTo>
                <a:arcTo wR="101600" hR="101600" stAng="16200000" swAng="5400000"/>
                <a:lnTo>
                  <a:pt x="5181654" y="101600"/>
                </a:lnTo>
                <a:arcTo wR="101600" hR="63500" stAng="0" swAng="-5400000"/>
                <a:lnTo>
                  <a:pt x="101600" y="38100"/>
                </a:lnTo>
                <a:arcTo wR="101600" hR="63500" stAng="16200000" swAng="-5400000"/>
                <a:close/>
              </a:path>
            </a:pathLst>
          </a:custGeom>
          <a:solidFill>
            <a:srgbClr val="3DD6B0"/>
          </a:solidFill>
          <a:ln/>
        </p:spPr>
        <p:txBody>
          <a:bodyPr/>
          <a:lstStyle/>
          <a:p>
            <a:endParaRPr lang="LID4096"/>
          </a:p>
        </p:txBody>
      </p:sp>
      <p:sp>
        <p:nvSpPr>
          <p:cNvPr id="6" name="Text 4"/>
          <p:cNvSpPr/>
          <p:nvPr/>
        </p:nvSpPr>
        <p:spPr>
          <a:xfrm>
            <a:off x="1041346" y="2076562"/>
            <a:ext cx="4866262" cy="330182"/>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4F2EC"/>
                </a:solidFill>
                <a:latin typeface="IBM Plex Sans" pitchFamily="34" charset="0"/>
                <a:ea typeface="IBM Plex Sans" pitchFamily="34" charset="-122"/>
                <a:cs typeface="IBM Plex Sans" pitchFamily="34" charset="-120"/>
              </a:rPr>
              <a:t>With the extension</a:t>
            </a:r>
            <a:endParaRPr lang="en-US" sz="2000" dirty="0"/>
          </a:p>
        </p:txBody>
      </p:sp>
      <p:sp>
        <p:nvSpPr>
          <p:cNvPr id="7" name="Text 5"/>
          <p:cNvSpPr/>
          <p:nvPr/>
        </p:nvSpPr>
        <p:spPr>
          <a:xfrm>
            <a:off x="1041346" y="2419406"/>
            <a:ext cx="4866262" cy="25648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3DD6B0"/>
                </a:solidFill>
                <a:latin typeface="IBM Plex Sans" pitchFamily="34" charset="0"/>
                <a:ea typeface="IBM Plex Sans" pitchFamily="34" charset="-122"/>
                <a:cs typeface="IBM Plex Sans" pitchFamily="34" charset="-120"/>
              </a:rPr>
              <a:t>Recommended</a:t>
            </a:r>
            <a:endParaRPr lang="en-US" sz="1300" dirty="0"/>
          </a:p>
        </p:txBody>
      </p:sp>
      <p:sp>
        <p:nvSpPr>
          <p:cNvPr id="8" name="Text 6"/>
          <p:cNvSpPr/>
          <p:nvPr/>
        </p:nvSpPr>
        <p:spPr>
          <a:xfrm>
            <a:off x="1098261" y="2777499"/>
            <a:ext cx="4801726" cy="1313891"/>
          </a:xfrm>
          <a:prstGeom prst="rect">
            <a:avLst/>
          </a:prstGeom>
          <a:noFill/>
          <a:ln/>
        </p:spPr>
        <p:txBody>
          <a:bodyPr wrap="square" lIns="0" tIns="0" rIns="0" bIns="0" rtlCol="0" anchor="t">
            <a:normAutofit/>
          </a:bodyPr>
          <a:lstStyle/>
          <a:p>
            <a:pPr marL="197085" indent="-197085" algn="l">
              <a:lnSpc>
                <a:spcPts val="2030"/>
              </a:lnSpc>
              <a:buSzPct val="100000"/>
              <a:buFontTx/>
              <a:buAutoNum type="arabicPeriod"/>
            </a:pPr>
            <a:r>
              <a:rPr lang="en-US" sz="1400" dirty="0">
                <a:solidFill>
                  <a:srgbClr val="F4F2EC"/>
                </a:solidFill>
                <a:latin typeface="IBM Plex Sans" pitchFamily="34" charset="0"/>
                <a:ea typeface="IBM Plex Sans" pitchFamily="34" charset="-122"/>
                <a:cs typeface="IBM Plex Sans" pitchFamily="34" charset="-120"/>
              </a:rPr>
              <a:t>Install it from the Marketplace</a:t>
            </a:r>
            <a:endParaRPr lang="en-US" sz="1400" dirty="0"/>
          </a:p>
          <a:p>
            <a:pPr marL="197085" indent="-197085" algn="l">
              <a:lnSpc>
                <a:spcPts val="2030"/>
              </a:lnSpc>
              <a:buSzPct val="100000"/>
              <a:buFontTx/>
              <a:buAutoNum type="arabicPeriod"/>
            </a:pPr>
            <a:r>
              <a:rPr lang="en-US" sz="1400" dirty="0">
                <a:solidFill>
                  <a:srgbClr val="F4F2EC"/>
                </a:solidFill>
                <a:latin typeface="IBM Plex Sans" pitchFamily="34" charset="0"/>
                <a:ea typeface="IBM Plex Sans" pitchFamily="34" charset="-122"/>
                <a:cs typeface="IBM Plex Sans" pitchFamily="34" charset="-120"/>
              </a:rPr>
              <a:t>Open your repository: first activation sets up .ai and the agent config</a:t>
            </a:r>
            <a:endParaRPr lang="en-US" sz="1400" dirty="0"/>
          </a:p>
          <a:p>
            <a:pPr marL="197085" indent="-197085" algn="l">
              <a:lnSpc>
                <a:spcPts val="2030"/>
              </a:lnSpc>
              <a:buSzPct val="100000"/>
              <a:buFontTx/>
              <a:buAutoNum type="arabicPeriod"/>
            </a:pPr>
            <a:r>
              <a:rPr lang="en-US" sz="1400" dirty="0">
                <a:solidFill>
                  <a:srgbClr val="F4F2EC"/>
                </a:solidFill>
                <a:latin typeface="IBM Plex Sans" pitchFamily="34" charset="0"/>
                <a:ea typeface="IBM Plex Sans" pitchFamily="34" charset="-122"/>
                <a:cs typeface="IBM Plex Sans" pitchFamily="34" charset="-120"/>
              </a:rPr>
              <a:t>Pick a preset or single skills, fill in the project form, then Sync</a:t>
            </a:r>
            <a:endParaRPr lang="en-US" sz="1400" dirty="0"/>
          </a:p>
        </p:txBody>
      </p:sp>
      <p:sp>
        <p:nvSpPr>
          <p:cNvPr id="9" name="Shape 7"/>
          <p:cNvSpPr/>
          <p:nvPr/>
        </p:nvSpPr>
        <p:spPr>
          <a:xfrm>
            <a:off x="6197564" y="1813359"/>
            <a:ext cx="5181654" cy="2481190"/>
          </a:xfrm>
          <a:prstGeom prst="roundRect">
            <a:avLst>
              <a:gd name="adj" fmla="val 4095"/>
            </a:avLst>
          </a:prstGeom>
          <a:solidFill>
            <a:srgbClr val="1F242C"/>
          </a:solidFill>
          <a:ln/>
        </p:spPr>
        <p:txBody>
          <a:bodyPr/>
          <a:lstStyle/>
          <a:p>
            <a:endParaRPr lang="LID4096"/>
          </a:p>
        </p:txBody>
      </p:sp>
      <p:sp>
        <p:nvSpPr>
          <p:cNvPr id="10" name="Shape 8"/>
          <p:cNvSpPr/>
          <p:nvPr/>
        </p:nvSpPr>
        <p:spPr>
          <a:xfrm>
            <a:off x="6197564" y="1813359"/>
            <a:ext cx="5181654" cy="2481190"/>
          </a:xfrm>
          <a:custGeom>
            <a:avLst/>
            <a:gdLst/>
            <a:ahLst/>
            <a:cxnLst/>
            <a:rect l="l" t="t" r="r" b="b"/>
            <a:pathLst>
              <a:path w="5181654" h="2481190">
                <a:moveTo>
                  <a:pt x="0" y="101600"/>
                </a:moveTo>
                <a:lnTo>
                  <a:pt x="0" y="101600"/>
                </a:lnTo>
                <a:arcTo wR="101600" hR="101600" stAng="10800000" swAng="5400000"/>
                <a:lnTo>
                  <a:pt x="5080054" y="0"/>
                </a:lnTo>
                <a:arcTo wR="101600" hR="101600" stAng="16200000" swAng="5400000"/>
                <a:lnTo>
                  <a:pt x="5181654" y="101600"/>
                </a:lnTo>
                <a:arcTo wR="101600" hR="63500" stAng="0" swAng="-5400000"/>
                <a:lnTo>
                  <a:pt x="101600" y="38100"/>
                </a:lnTo>
                <a:arcTo wR="101600" hR="63500" stAng="16200000" swAng="-5400000"/>
                <a:close/>
              </a:path>
            </a:pathLst>
          </a:custGeom>
          <a:solidFill>
            <a:srgbClr val="F2B84B"/>
          </a:solidFill>
          <a:ln/>
        </p:spPr>
        <p:txBody>
          <a:bodyPr/>
          <a:lstStyle/>
          <a:p>
            <a:endParaRPr lang="LID4096"/>
          </a:p>
        </p:txBody>
      </p:sp>
      <p:sp>
        <p:nvSpPr>
          <p:cNvPr id="11" name="Text 9"/>
          <p:cNvSpPr/>
          <p:nvPr/>
        </p:nvSpPr>
        <p:spPr>
          <a:xfrm>
            <a:off x="6426128" y="2076562"/>
            <a:ext cx="4866262" cy="330182"/>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4F2EC"/>
                </a:solidFill>
                <a:latin typeface="IBM Plex Sans" pitchFamily="34" charset="0"/>
                <a:ea typeface="IBM Plex Sans" pitchFamily="34" charset="-122"/>
                <a:cs typeface="IBM Plex Sans" pitchFamily="34" charset="-120"/>
              </a:rPr>
              <a:t>Manual copy</a:t>
            </a:r>
            <a:endParaRPr lang="en-US" sz="2000" dirty="0"/>
          </a:p>
        </p:txBody>
      </p:sp>
      <p:sp>
        <p:nvSpPr>
          <p:cNvPr id="12" name="Text 10"/>
          <p:cNvSpPr/>
          <p:nvPr/>
        </p:nvSpPr>
        <p:spPr>
          <a:xfrm>
            <a:off x="6426128" y="2419406"/>
            <a:ext cx="4866262" cy="25648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2B84B"/>
                </a:solidFill>
                <a:latin typeface="IBM Plex Sans" pitchFamily="34" charset="0"/>
                <a:ea typeface="IBM Plex Sans" pitchFamily="34" charset="-122"/>
                <a:cs typeface="IBM Plex Sans" pitchFamily="34" charset="-120"/>
              </a:rPr>
              <a:t>Full control, everything included</a:t>
            </a:r>
            <a:endParaRPr lang="en-US" sz="1300" dirty="0"/>
          </a:p>
        </p:txBody>
      </p:sp>
      <p:sp>
        <p:nvSpPr>
          <p:cNvPr id="13" name="Text 11"/>
          <p:cNvSpPr/>
          <p:nvPr/>
        </p:nvSpPr>
        <p:spPr>
          <a:xfrm>
            <a:off x="6483043" y="2777499"/>
            <a:ext cx="4801726" cy="798494"/>
          </a:xfrm>
          <a:prstGeom prst="rect">
            <a:avLst/>
          </a:prstGeom>
          <a:noFill/>
          <a:ln/>
        </p:spPr>
        <p:txBody>
          <a:bodyPr wrap="square" lIns="0" tIns="0" rIns="0" bIns="0" rtlCol="0" anchor="t">
            <a:normAutofit/>
          </a:bodyPr>
          <a:lstStyle/>
          <a:p>
            <a:pPr marL="197085" indent="-197085" algn="l">
              <a:lnSpc>
                <a:spcPts val="2030"/>
              </a:lnSpc>
              <a:buSzPct val="100000"/>
              <a:buFontTx/>
              <a:buAutoNum type="arabicPeriod"/>
            </a:pPr>
            <a:r>
              <a:rPr lang="en-US" sz="1400" dirty="0">
                <a:solidFill>
                  <a:srgbClr val="F4F2EC"/>
                </a:solidFill>
                <a:latin typeface="IBM Plex Sans" pitchFamily="34" charset="0"/>
                <a:ea typeface="IBM Plex Sans" pitchFamily="34" charset="-122"/>
                <a:cs typeface="IBM Plex Sans" pitchFamily="34" charset="-120"/>
              </a:rPr>
              <a:t>Copy the .ai folder and AGENTS.md into your project</a:t>
            </a:r>
            <a:endParaRPr lang="en-US" sz="1400" dirty="0"/>
          </a:p>
          <a:p>
            <a:pPr marL="197085" indent="-197085" algn="l">
              <a:lnSpc>
                <a:spcPts val="2030"/>
              </a:lnSpc>
              <a:buSzPct val="100000"/>
              <a:buFontTx/>
              <a:buAutoNum type="arabicPeriod"/>
            </a:pPr>
            <a:r>
              <a:rPr lang="en-US" sz="1400" dirty="0">
                <a:solidFill>
                  <a:srgbClr val="F4F2EC"/>
                </a:solidFill>
                <a:latin typeface="IBM Plex Sans" pitchFamily="34" charset="0"/>
                <a:ea typeface="IBM Plex Sans" pitchFamily="34" charset="-122"/>
                <a:cs typeface="IBM Plex Sans" pitchFamily="34" charset="-120"/>
              </a:rPr>
              <a:t>Run sync-skills.py to create the tool junctions</a:t>
            </a:r>
            <a:endParaRPr lang="en-US" sz="1400" dirty="0"/>
          </a:p>
          <a:p>
            <a:pPr marL="197085" indent="-197085" algn="l">
              <a:lnSpc>
                <a:spcPts val="2030"/>
              </a:lnSpc>
              <a:buSzPct val="100000"/>
              <a:buFontTx/>
              <a:buAutoNum type="arabicPeriod"/>
            </a:pPr>
            <a:r>
              <a:rPr lang="en-US" sz="1400" dirty="0">
                <a:solidFill>
                  <a:srgbClr val="F4F2EC"/>
                </a:solidFill>
                <a:latin typeface="IBM Plex Sans" pitchFamily="34" charset="0"/>
                <a:ea typeface="IBM Plex Sans" pitchFamily="34" charset="-122"/>
                <a:cs typeface="IBM Plex Sans" pitchFamily="34" charset="-120"/>
              </a:rPr>
              <a:t>Run run-all-tests.sh to verify the setup</a:t>
            </a:r>
            <a:endParaRPr lang="en-US" sz="1400" dirty="0"/>
          </a:p>
        </p:txBody>
      </p:sp>
      <p:sp>
        <p:nvSpPr>
          <p:cNvPr id="14" name="Text 12"/>
          <p:cNvSpPr/>
          <p:nvPr/>
        </p:nvSpPr>
        <p:spPr>
          <a:xfrm>
            <a:off x="812782" y="4523116"/>
            <a:ext cx="10883429" cy="274259"/>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9C0CA"/>
                </a:solidFill>
                <a:latin typeface="IBM Plex Sans" pitchFamily="34" charset="0"/>
                <a:ea typeface="IBM Plex Sans" pitchFamily="34" charset="-122"/>
                <a:cs typeface="IBM Plex Sans" pitchFamily="34" charset="-120"/>
              </a:rPr>
              <a:t>Either way, then work in plain language or with slash commands such as /api-endpoints or /council.</a:t>
            </a:r>
            <a:endParaRPr lang="en-US" sz="1400" dirty="0"/>
          </a:p>
        </p:txBody>
      </p:sp>
      <p:sp>
        <p:nvSpPr>
          <p:cNvPr id="15" name="Text 13"/>
          <p:cNvSpPr/>
          <p:nvPr/>
        </p:nvSpPr>
        <p:spPr>
          <a:xfrm>
            <a:off x="812782" y="6238249"/>
            <a:ext cx="6540500"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B94A1"/>
                </a:solidFill>
                <a:latin typeface="IBM Plex Sans" pitchFamily="34" charset="0"/>
                <a:ea typeface="IBM Plex Sans" pitchFamily="34" charset="-122"/>
                <a:cs typeface="IBM Plex Sans" pitchFamily="34" charset="-120"/>
              </a:rPr>
              <a:t>I-Synergy/AI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782" y="812781"/>
            <a:ext cx="10883429" cy="274259"/>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0B7A62"/>
                </a:solidFill>
                <a:latin typeface="IBM Plex Sans" pitchFamily="34" charset="0"/>
                <a:ea typeface="IBM Plex Sans" pitchFamily="34" charset="-122"/>
                <a:cs typeface="IBM Plex Sans" pitchFamily="34" charset="-120"/>
              </a:rPr>
              <a:t>KEEPING IT CURRENT</a:t>
            </a:r>
            <a:endParaRPr lang="en-US" sz="1400" dirty="0"/>
          </a:p>
        </p:txBody>
      </p:sp>
      <p:sp>
        <p:nvSpPr>
          <p:cNvPr id="3" name="Text 1"/>
          <p:cNvSpPr>
            <a:spLocks noGrp="1"/>
          </p:cNvSpPr>
          <p:nvPr>
            <p:ph type="title"/>
          </p:nvPr>
        </p:nvSpPr>
        <p:spPr>
          <a:xfrm>
            <a:off x="812782" y="1137772"/>
            <a:ext cx="10883429" cy="472426"/>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71C"/>
                </a:solidFill>
                <a:latin typeface="IBM Plex Sans" pitchFamily="34" charset="0"/>
                <a:ea typeface="IBM Plex Sans" pitchFamily="34" charset="-122"/>
                <a:cs typeface="IBM Plex Sans" pitchFamily="34" charset="-120"/>
              </a:rPr>
              <a:t>Stay current, stay in control</a:t>
            </a:r>
            <a:endParaRPr lang="en-US" sz="3200" dirty="0"/>
          </a:p>
        </p:txBody>
      </p:sp>
      <p:sp>
        <p:nvSpPr>
          <p:cNvPr id="4" name="Shape 2"/>
          <p:cNvSpPr/>
          <p:nvPr/>
        </p:nvSpPr>
        <p:spPr>
          <a:xfrm>
            <a:off x="815957" y="1892753"/>
            <a:ext cx="5175304" cy="1914976"/>
          </a:xfrm>
          <a:prstGeom prst="roundRect">
            <a:avLst>
              <a:gd name="adj" fmla="val 5140"/>
            </a:avLst>
          </a:prstGeom>
          <a:solidFill>
            <a:srgbClr val="FBFAF6"/>
          </a:solidFill>
          <a:ln w="6350">
            <a:solidFill>
              <a:srgbClr val="DAD6CB"/>
            </a:solidFill>
            <a:prstDash val="solid"/>
          </a:ln>
        </p:spPr>
        <p:txBody>
          <a:bodyPr/>
          <a:lstStyle/>
          <a:p>
            <a:endParaRPr lang="LID4096"/>
          </a:p>
        </p:txBody>
      </p:sp>
      <p:sp>
        <p:nvSpPr>
          <p:cNvPr id="5" name="Text 3"/>
          <p:cNvSpPr/>
          <p:nvPr/>
        </p:nvSpPr>
        <p:spPr>
          <a:xfrm>
            <a:off x="1072555" y="2149357"/>
            <a:ext cx="4801972" cy="330182"/>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B7A62"/>
                </a:solidFill>
                <a:latin typeface="IBM Plex Sans" pitchFamily="34" charset="0"/>
                <a:ea typeface="IBM Plex Sans" pitchFamily="34" charset="-122"/>
                <a:cs typeface="IBM Plex Sans" pitchFamily="34" charset="-120"/>
              </a:rPr>
              <a:t>Updates</a:t>
            </a:r>
            <a:endParaRPr lang="en-US" sz="2000" dirty="0"/>
          </a:p>
        </p:txBody>
      </p:sp>
      <p:sp>
        <p:nvSpPr>
          <p:cNvPr id="6" name="Text 4"/>
          <p:cNvSpPr/>
          <p:nvPr/>
        </p:nvSpPr>
        <p:spPr>
          <a:xfrm>
            <a:off x="1072555" y="2555695"/>
            <a:ext cx="4801972" cy="102083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With the extension, the Updates view compares your pins with newer releases. For a manual copy, upgrade-template.py refreshes template-owned files and never touches yours.</a:t>
            </a:r>
            <a:endParaRPr lang="en-US" sz="1400" dirty="0"/>
          </a:p>
        </p:txBody>
      </p:sp>
      <p:sp>
        <p:nvSpPr>
          <p:cNvPr id="7" name="Shape 5"/>
          <p:cNvSpPr/>
          <p:nvPr/>
        </p:nvSpPr>
        <p:spPr>
          <a:xfrm>
            <a:off x="6200739" y="1892753"/>
            <a:ext cx="5175304" cy="1914976"/>
          </a:xfrm>
          <a:prstGeom prst="roundRect">
            <a:avLst>
              <a:gd name="adj" fmla="val 5140"/>
            </a:avLst>
          </a:prstGeom>
          <a:solidFill>
            <a:srgbClr val="FBFAF6"/>
          </a:solidFill>
          <a:ln w="6350">
            <a:solidFill>
              <a:srgbClr val="DAD6CB"/>
            </a:solidFill>
            <a:prstDash val="solid"/>
          </a:ln>
        </p:spPr>
        <p:txBody>
          <a:bodyPr/>
          <a:lstStyle/>
          <a:p>
            <a:endParaRPr lang="LID4096"/>
          </a:p>
        </p:txBody>
      </p:sp>
      <p:sp>
        <p:nvSpPr>
          <p:cNvPr id="8" name="Text 6"/>
          <p:cNvSpPr/>
          <p:nvPr/>
        </p:nvSpPr>
        <p:spPr>
          <a:xfrm>
            <a:off x="6457336" y="2149357"/>
            <a:ext cx="4801972" cy="330182"/>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B7A62"/>
                </a:solidFill>
                <a:latin typeface="IBM Plex Sans" pitchFamily="34" charset="0"/>
                <a:ea typeface="IBM Plex Sans" pitchFamily="34" charset="-122"/>
                <a:cs typeface="IBM Plex Sans" pitchFamily="34" charset="-120"/>
              </a:rPr>
              <a:t>Mirroring</a:t>
            </a:r>
            <a:endParaRPr lang="en-US" sz="2000" dirty="0"/>
          </a:p>
        </p:txBody>
      </p:sp>
      <p:sp>
        <p:nvSpPr>
          <p:cNvPr id="9" name="Text 7"/>
          <p:cNvSpPr/>
          <p:nvPr/>
        </p:nvSpPr>
        <p:spPr>
          <a:xfrm>
            <a:off x="6457336" y="2555695"/>
            <a:ext cx="4801972" cy="52311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GitHub is the source of truth. A workflow mirrors every push to main to Azure DevOps, which is a read-only copy.</a:t>
            </a:r>
            <a:endParaRPr lang="en-US" sz="1400" dirty="0"/>
          </a:p>
        </p:txBody>
      </p:sp>
      <p:sp>
        <p:nvSpPr>
          <p:cNvPr id="10" name="Shape 8"/>
          <p:cNvSpPr/>
          <p:nvPr/>
        </p:nvSpPr>
        <p:spPr>
          <a:xfrm>
            <a:off x="812782" y="4115687"/>
            <a:ext cx="10566436" cy="1419640"/>
          </a:xfrm>
          <a:prstGeom prst="roundRect">
            <a:avLst>
              <a:gd name="adj" fmla="val 7157"/>
            </a:avLst>
          </a:prstGeom>
          <a:solidFill>
            <a:srgbClr val="14171C"/>
          </a:solidFill>
          <a:ln/>
        </p:spPr>
        <p:txBody>
          <a:bodyPr/>
          <a:lstStyle/>
          <a:p>
            <a:endParaRPr lang="LID4096"/>
          </a:p>
        </p:txBody>
      </p:sp>
      <p:sp>
        <p:nvSpPr>
          <p:cNvPr id="11" name="Text 9"/>
          <p:cNvSpPr/>
          <p:nvPr/>
        </p:nvSpPr>
        <p:spPr>
          <a:xfrm>
            <a:off x="1117564" y="4344250"/>
            <a:ext cx="10255578" cy="327656"/>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3DD6B0"/>
                </a:solidFill>
                <a:latin typeface="IBM Plex Sans" pitchFamily="34" charset="0"/>
                <a:ea typeface="IBM Plex Sans" pitchFamily="34" charset="-122"/>
                <a:cs typeface="IBM Plex Sans" pitchFamily="34" charset="-120"/>
              </a:rPr>
              <a:t>Take it for a spin</a:t>
            </a:r>
            <a:endParaRPr lang="en-US" sz="1700" dirty="0"/>
          </a:p>
        </p:txBody>
      </p:sp>
      <p:sp>
        <p:nvSpPr>
          <p:cNvPr id="12" name="Text 10"/>
          <p:cNvSpPr/>
          <p:nvPr/>
        </p:nvSpPr>
        <p:spPr>
          <a:xfrm>
            <a:off x="1117564" y="4710007"/>
            <a:ext cx="10255578" cy="292028"/>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4F2EC"/>
                </a:solidFill>
                <a:latin typeface="JetBrains Mono" pitchFamily="49" charset="0"/>
                <a:ea typeface="JetBrains Mono" pitchFamily="49" charset="-122"/>
                <a:cs typeface="JetBrains Mono" pitchFamily="49" charset="-120"/>
              </a:rPr>
              <a:t>github.com/I-Synergy/AI</a:t>
            </a:r>
            <a:endParaRPr lang="en-US" sz="1500" dirty="0"/>
          </a:p>
        </p:txBody>
      </p:sp>
      <p:sp>
        <p:nvSpPr>
          <p:cNvPr id="13" name="Text 11"/>
          <p:cNvSpPr/>
          <p:nvPr/>
        </p:nvSpPr>
        <p:spPr>
          <a:xfrm>
            <a:off x="1117564" y="5040133"/>
            <a:ext cx="10255578" cy="292028"/>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4F2EC"/>
                </a:solidFill>
                <a:latin typeface="JetBrains Mono" pitchFamily="49" charset="0"/>
                <a:ea typeface="JetBrains Mono" pitchFamily="49" charset="-122"/>
                <a:cs typeface="JetBrains Mono" pitchFamily="49" charset="-120"/>
              </a:rPr>
              <a:t>github.com/I-Synergy/AIWorkspaceManager</a:t>
            </a:r>
            <a:endParaRPr lang="en-US" sz="1500" dirty="0"/>
          </a:p>
        </p:txBody>
      </p:sp>
      <p:sp>
        <p:nvSpPr>
          <p:cNvPr id="14" name="Text 12"/>
          <p:cNvSpPr/>
          <p:nvPr/>
        </p:nvSpPr>
        <p:spPr>
          <a:xfrm>
            <a:off x="812782" y="6238249"/>
            <a:ext cx="6540500"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I-Synergy/AI · 16</a:t>
            </a:r>
            <a:endParaRPr lang="en-US" sz="1200" dirty="0"/>
          </a:p>
        </p:txBody>
      </p:sp>
    </p:spTree>
  </p:cSld>
  <p:clrMapOvr>
    <a:masterClrMapping/>
  </p:clrMapOvr>
</p:sld>
</file>

<file path=ppt/theme/theme1.xml><?xml version="1.0" encoding="utf-8"?>
<a:theme xmlns:a="http://schemas.openxmlformats.org/drawingml/2006/main" name="I-Synergy AI Template">
  <a:themeElements>
    <a:clrScheme name="I-Synergy AI Template">
      <a:dk1>
        <a:srgbClr val="14171C"/>
      </a:dk1>
      <a:lt1>
        <a:srgbClr val="F4F2EC"/>
      </a:lt1>
      <a:dk2>
        <a:srgbClr val="4C4E50"/>
      </a:dk2>
      <a:lt2>
        <a:srgbClr val="DEDCD7"/>
      </a:lt2>
      <a:accent1>
        <a:srgbClr val="3DD6B0"/>
      </a:accent1>
      <a:accent2>
        <a:srgbClr val="0B7A62"/>
      </a:accent2>
      <a:accent3>
        <a:srgbClr val="0E3B2E"/>
      </a:accent3>
      <a:accent4>
        <a:srgbClr val="F2B84B"/>
      </a:accent4>
      <a:accent5>
        <a:srgbClr val="B9C0CA"/>
      </a:accent5>
      <a:accent6>
        <a:srgbClr val="4A5260"/>
      </a:accent6>
      <a:hlink>
        <a:srgbClr val="0563C1"/>
      </a:hlink>
      <a:folHlink>
        <a:srgbClr val="954F72"/>
      </a:folHlink>
    </a:clrScheme>
    <a:fontScheme name="I-Synergy AI Template">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TotalTime>
  <Words>3794</Words>
  <Application>Microsoft Office PowerPoint</Application>
  <PresentationFormat>Widescreen</PresentationFormat>
  <Paragraphs>414</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JetBrains Mono</vt:lpstr>
      <vt:lpstr>IBM Plex Sans</vt:lpstr>
      <vt:lpstr>Aptos</vt:lpstr>
      <vt:lpstr>Arial</vt:lpstr>
      <vt:lpstr>I-Synergy AI Template</vt:lpstr>
      <vt:lpstr>A .NET development template for AI agents</vt:lpstr>
      <vt:lpstr>One folder of AI context, read by every tool</vt:lpstr>
      <vt:lpstr>Three building blocks plus the guard rails</vt:lpstr>
      <vt:lpstr>One file that every AI tool loads automatically</vt:lpstr>
      <vt:lpstr>The main conversation orchestrates; nine agents do the work</vt:lpstr>
      <vt:lpstr>Every non-trivial task follows five steps</vt:lpstr>
      <vt:lpstr>Every task leaves a checklist anyone can resume</vt:lpstr>
      <vt:lpstr>Each session ends with a written handoff</vt:lpstr>
      <vt:lpstr>session-context.md is the project’s shared memory</vt:lpstr>
      <vt:lpstr>Thirteen non-negotiables, stated as code</vt:lpstr>
      <vt:lpstr>From raw requirements to vertical slices</vt:lpstr>
      <vt:lpstr>Decisions that are expensive to reverse never rest on one agent’s judgment</vt:lpstr>
      <vt:lpstr>Cloning the whole template is all-or-nothing</vt:lpstr>
      <vt:lpstr>A VS Code extension that manages it for you</vt:lpstr>
      <vt:lpstr>Two ways to adopt it</vt:lpstr>
      <vt:lpstr>Stay current, stay in control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I-Synergy AI Template</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Ismail Hassani</cp:lastModifiedBy>
  <cp:revision>3</cp:revision>
  <dcterms:created xsi:type="dcterms:W3CDTF">2026-10-28T18:43:54Z</dcterms:created>
  <dcterms:modified xsi:type="dcterms:W3CDTF">2026-10-28T20:38:42Z</dcterms:modified>
</cp:coreProperties>
</file>